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LoRA</c:v>
                </c:pt>
              </c:strCache>
            </c:strRef>
          </c:tx>
          <c:spPr>
            <a:solidFill>
              <a:srgbClr val="2563EB"/>
            </a:solidFill>
            <a:ln w="31750" cap="flat">
              <a:solidFill>
                <a:srgbClr val="2563E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563EB"/>
              </a:solidFill>
              <a:ln w="9525" cap="flat">
                <a:solidFill>
                  <a:srgbClr val="2563EB"/>
                </a:solidFill>
                <a:prstDash val="solid"/>
                <a:round/>
              </a:ln>
              <a:effectLst/>
            </c:spPr>
          </c:marker>
          <c:cat>
            <c:multiLvlStrRef>
              <c:f>Sheet1!$A$2:$A$17</c:f>
              <c:multiLvlStrCache>
                <c:ptCount val="16"/>
                <c:lvl>
                  <c:pt idx="0">
                    <c:v>5</c:v>
                  </c:pt>
                  <c:pt idx="1">
                    <c:v>10</c:v>
                  </c:pt>
                  <c:pt idx="2">
                    <c:v>15</c:v>
                  </c:pt>
                  <c:pt idx="3">
                    <c:v>20</c:v>
                  </c:pt>
                  <c:pt idx="4">
                    <c:v>25</c:v>
                  </c:pt>
                  <c:pt idx="5">
                    <c:v>30</c:v>
                  </c:pt>
                  <c:pt idx="6">
                    <c:v>35</c:v>
                  </c:pt>
                  <c:pt idx="7">
                    <c:v>40</c:v>
                  </c:pt>
                  <c:pt idx="8">
                    <c:v>45</c:v>
                  </c:pt>
                  <c:pt idx="9">
                    <c:v>50</c:v>
                  </c:pt>
                  <c:pt idx="10">
                    <c:v>55</c:v>
                  </c:pt>
                  <c:pt idx="11">
                    <c:v>60</c:v>
                  </c:pt>
                  <c:pt idx="12">
                    <c:v>65</c:v>
                  </c:pt>
                  <c:pt idx="13">
                    <c:v>70</c:v>
                  </c:pt>
                  <c:pt idx="14">
                    <c:v>75</c:v>
                  </c:pt>
                  <c:pt idx="15">
                    <c:v>80</c:v>
                  </c:pt>
                </c:lvl>
              </c:multiLvlStrCache>
            </c:multiLvlStrRef>
          </c:cat>
          <c:val>
            <c:numRef>
              <c:f>Sheet1!$B$2:$B$17</c:f>
              <c:numCache>
                <c:formatCode>General</c:formatCode>
                <c:ptCount val="16"/>
                <c:pt idx="0">
                  <c:v>3.188163</c:v>
                </c:pt>
                <c:pt idx="1">
                  <c:v>1.907162</c:v>
                </c:pt>
                <c:pt idx="2">
                  <c:v>1.525132</c:v>
                </c:pt>
                <c:pt idx="3">
                  <c:v>1.215851</c:v>
                </c:pt>
                <c:pt idx="4">
                  <c:v>0.883151</c:v>
                </c:pt>
                <c:pt idx="5">
                  <c:v>0.599743</c:v>
                </c:pt>
                <c:pt idx="6">
                  <c:v>0.303691</c:v>
                </c:pt>
                <c:pt idx="7">
                  <c:v>0.148221</c:v>
                </c:pt>
                <c:pt idx="8">
                  <c:v>0.053041</c:v>
                </c:pt>
                <c:pt idx="9">
                  <c:v>0.022164</c:v>
                </c:pt>
                <c:pt idx="10">
                  <c:v>0.014449</c:v>
                </c:pt>
                <c:pt idx="11">
                  <c:v>0.011392</c:v>
                </c:pt>
                <c:pt idx="12">
                  <c:v>0.009696</c:v>
                </c:pt>
                <c:pt idx="13">
                  <c:v>0.008693</c:v>
                </c:pt>
                <c:pt idx="14">
                  <c:v>0.008606</c:v>
                </c:pt>
                <c:pt idx="15">
                  <c:v>0.008409</c:v>
                </c:pt>
              </c:numCache>
            </c:numRef>
          </c:val>
          <c:smooth val="0"/>
        </c:ser>
        <c:ser>
          <c:idx val="1"/>
          <c:order val="1"/>
          <c:tx>
            <c:strRef>
              <c:f>Sheet1!$C$1</c:f>
              <c:strCache>
                <c:ptCount val="1"/>
                <c:pt idx="0">
                  <c:v>QLoRA</c:v>
                </c:pt>
              </c:strCache>
            </c:strRef>
          </c:tx>
          <c:spPr>
            <a:solidFill>
              <a:srgbClr val="C2690B"/>
            </a:solidFill>
            <a:ln w="31750" cap="flat">
              <a:solidFill>
                <a:srgbClr val="C2690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2690B"/>
              </a:solidFill>
              <a:ln w="9525" cap="flat">
                <a:solidFill>
                  <a:srgbClr val="C2690B"/>
                </a:solidFill>
                <a:prstDash val="solid"/>
                <a:round/>
              </a:ln>
              <a:effectLst/>
            </c:spPr>
          </c:marker>
          <c:cat>
            <c:multiLvlStrRef>
              <c:f>Sheet1!$A$2:$A$17</c:f>
              <c:multiLvlStrCache>
                <c:ptCount val="16"/>
                <c:lvl>
                  <c:pt idx="0">
                    <c:v>5</c:v>
                  </c:pt>
                  <c:pt idx="1">
                    <c:v>10</c:v>
                  </c:pt>
                  <c:pt idx="2">
                    <c:v>15</c:v>
                  </c:pt>
                  <c:pt idx="3">
                    <c:v>20</c:v>
                  </c:pt>
                  <c:pt idx="4">
                    <c:v>25</c:v>
                  </c:pt>
                  <c:pt idx="5">
                    <c:v>30</c:v>
                  </c:pt>
                  <c:pt idx="6">
                    <c:v>35</c:v>
                  </c:pt>
                  <c:pt idx="7">
                    <c:v>40</c:v>
                  </c:pt>
                  <c:pt idx="8">
                    <c:v>45</c:v>
                  </c:pt>
                  <c:pt idx="9">
                    <c:v>50</c:v>
                  </c:pt>
                  <c:pt idx="10">
                    <c:v>55</c:v>
                  </c:pt>
                  <c:pt idx="11">
                    <c:v>60</c:v>
                  </c:pt>
                  <c:pt idx="12">
                    <c:v>65</c:v>
                  </c:pt>
                  <c:pt idx="13">
                    <c:v>70</c:v>
                  </c:pt>
                  <c:pt idx="14">
                    <c:v>75</c:v>
                  </c:pt>
                  <c:pt idx="15">
                    <c:v>80</c:v>
                  </c:pt>
                </c:lvl>
              </c:multiLvlStrCache>
            </c:multiLvlStrRef>
          </c:cat>
          <c:val>
            <c:numRef>
              <c:f>Sheet1!$C$2:$C$17</c:f>
              <c:numCache>
                <c:formatCode>General</c:formatCode>
                <c:ptCount val="16"/>
                <c:pt idx="0">
                  <c:v>2.927142</c:v>
                </c:pt>
                <c:pt idx="1">
                  <c:v>1.871469</c:v>
                </c:pt>
                <c:pt idx="2">
                  <c:v>1.500151</c:v>
                </c:pt>
                <c:pt idx="3">
                  <c:v>1.173878</c:v>
                </c:pt>
                <c:pt idx="4">
                  <c:v>0.800482</c:v>
                </c:pt>
                <c:pt idx="5">
                  <c:v>0.507955</c:v>
                </c:pt>
                <c:pt idx="6">
                  <c:v>0.240708</c:v>
                </c:pt>
                <c:pt idx="7">
                  <c:v>0.108909</c:v>
                </c:pt>
                <c:pt idx="8">
                  <c:v>0.039246</c:v>
                </c:pt>
                <c:pt idx="9">
                  <c:v>0.018918</c:v>
                </c:pt>
                <c:pt idx="10">
                  <c:v>0.011938</c:v>
                </c:pt>
                <c:pt idx="11">
                  <c:v>0.009556</c:v>
                </c:pt>
                <c:pt idx="12">
                  <c:v>0.008182</c:v>
                </c:pt>
                <c:pt idx="13">
                  <c:v>0.007518</c:v>
                </c:pt>
                <c:pt idx="14">
                  <c:v>0.007301</c:v>
                </c:pt>
                <c:pt idx="15">
                  <c:v>0.007277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64748B"/>
                    </a:solidFill>
                    <a:latin typeface="Malgun Gothic"/>
                  </a:defRPr>
                </a:pPr>
                <a:r>
                  <a:rPr sz="1000" b="0" i="0" u="none" strike="noStrike">
                    <a:solidFill>
                      <a:srgbClr val="64748B"/>
                    </a:solidFill>
                    <a:latin typeface="Malgun Gothic"/>
                  </a:rPr>
                  <a:t>optimizer step</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64748B"/>
                </a:solidFill>
                <a:latin typeface="Malgun Gothic"/>
              </a:defRPr>
            </a:pPr>
            <a:endParaRPr lang="en-US"/>
          </a:p>
        </c:txPr>
        <c:crossAx val="2094734552"/>
        <c:crosses val="autoZero"/>
        <c:auto val="1"/>
        <c:lblAlgn val="ctr"/>
        <c:noMultiLvlLbl val="1"/>
      </c:catAx>
      <c:valAx>
        <c:axId val="2094734552"/>
        <c:scaling>
          <c:orientation val="minMax"/>
          <c:max val="3.5"/>
          <c:min val="0"/>
        </c:scaling>
        <c:delete val="0"/>
        <c:axPos val="l"/>
        <c:majorGridlines>
          <c:spPr>
            <a:ln w="12700" cap="flat">
              <a:solidFill>
                <a:srgbClr val="E8EDF5"/>
              </a:solidFill>
              <a:prstDash val="solid"/>
              <a:round/>
            </a:ln>
          </c:spPr>
        </c:majorGridlines>
        <c:title>
          <c:tx>
            <c:rich>
              <a:bodyPr/>
              <a:lstStyle/>
              <a:p>
                <a:pPr>
                  <a:defRPr sz="1000" b="0" i="0" u="none" strike="noStrike">
                    <a:solidFill>
                      <a:srgbClr val="64748B"/>
                    </a:solidFill>
                    <a:latin typeface="Malgun Gothic"/>
                  </a:defRPr>
                </a:pPr>
                <a:r>
                  <a:rPr sz="1000" b="0" i="0" u="none" strike="noStrike">
                    <a:solidFill>
                      <a:srgbClr val="64748B"/>
                    </a:solidFill>
                    <a:latin typeface="Malgun Gothic"/>
                  </a:rPr>
                  <a:t>training loss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50" b="0" i="0" u="none" strike="noStrike">
                <a:solidFill>
                  <a:srgbClr val="64748B"/>
                </a:solidFill>
                <a:latin typeface="Malgun Gothic"/>
              </a:defRPr>
            </a:pPr>
            <a:endParaRPr lang="en-US"/>
          </a:p>
        </c:txPr>
        <c:crossAx val="2094734554"/>
        <c:crosses val="autoZero"/>
        <c:crossBetween val="between"/>
        <c:majorUnit val="0.5"/>
      </c:valAx>
      <c:spPr>
        <a:solidFill>
          <a:srgbClr val="FFFFFF"/>
        </a:solidFill>
        <a:ln w="12700" cap="flat">
          <a:solidFill>
            <a:srgbClr val="FFFFFF"/>
          </a:solidFill>
        </a:ln>
        <a:effectLst/>
      </c:spPr>
    </c:plotArea>
    <c:legend>
      <c:legendPos val="t"/>
      <c:overlay val="0"/>
      <c:txPr>
        <a:bodyPr/>
        <a:lstStyle/>
        <a:p>
          <a:pPr>
            <a:defRPr sz="1100">
              <a:solidFill>
                <a:srgbClr val="15203A"/>
              </a:solidFill>
              <a:latin typeface="Malgun Gothic"/>
              <a:cs typeface="Malgun Gothic"/>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LoRA</c:v>
                </c:pt>
              </c:strCache>
            </c:strRef>
          </c:tx>
          <c:spPr>
            <a:solidFill>
              <a:srgbClr val="2563EB"/>
            </a:solidFill>
            <a:effectLst/>
          </c:spPr>
          <c:invertIfNegative val="0"/>
          <c:dLbls>
            <c:numFmt formatCode="0.00" sourceLinked="0"/>
            <c:txPr>
              <a:bodyPr/>
              <a:lstStyle/>
              <a:p>
                <a:pPr>
                  <a:defRPr b="0" i="0" strike="noStrike" sz="950" u="none">
                    <a:solidFill>
                      <a:srgbClr val="35415C"/>
                    </a:solidFill>
                    <a:latin typeface="Courier New"/>
                  </a:defRPr>
                </a:pPr>
              </a:p>
            </c:txPr>
            <c:showLegendKey val="0"/>
            <c:showVal val="1"/>
            <c:showCatName val="0"/>
            <c:showSerName val="0"/>
            <c:showPercent val="0"/>
            <c:showBubbleSize val="0"/>
            <c:showLeaderLines val="0"/>
          </c:dLbls>
          <c:cat>
            <c:multiLvlStrRef>
              <c:f>Sheet1!$A$2:$A$5</c:f>
              <c:multiLvlStrCache>
                <c:ptCount val="4"/>
                <c:lvl>
                  <c:pt idx="0">
                    <c:v>Model Load</c:v>
                  </c:pt>
                  <c:pt idx="1">
                    <c:v>Training Start</c:v>
                  </c:pt>
                  <c:pt idx="2">
                    <c:v>Peak Allocated</c:v>
                  </c:pt>
                  <c:pt idx="3">
                    <c:v>Peak Reserved</c:v>
                  </c:pt>
                </c:lvl>
              </c:multiLvlStrCache>
            </c:multiLvlStrRef>
          </c:cat>
          <c:val>
            <c:numRef>
              <c:f>Sheet1!$B$2:$B$5</c:f>
              <c:numCache>
                <c:formatCode>General</c:formatCode>
                <c:ptCount val="4"/>
                <c:pt idx="0">
                  <c:v>3.2</c:v>
                </c:pt>
                <c:pt idx="1">
                  <c:v>3.28</c:v>
                </c:pt>
                <c:pt idx="2">
                  <c:v>3.83</c:v>
                </c:pt>
                <c:pt idx="3">
                  <c:v>4.03</c:v>
                </c:pt>
              </c:numCache>
            </c:numRef>
          </c:val>
        </c:ser>
        <c:ser>
          <c:idx val="1"/>
          <c:order val="1"/>
          <c:tx>
            <c:strRef>
              <c:f>Sheet1!$C$1</c:f>
              <c:strCache>
                <c:ptCount val="1"/>
                <c:pt idx="0">
                  <c:v>QLoRA</c:v>
                </c:pt>
              </c:strCache>
            </c:strRef>
          </c:tx>
          <c:spPr>
            <a:solidFill>
              <a:srgbClr val="C2690B"/>
            </a:solidFill>
            <a:effectLst/>
          </c:spPr>
          <c:invertIfNegative val="0"/>
          <c:dLbls>
            <c:numFmt formatCode="0.00" sourceLinked="0"/>
            <c:txPr>
              <a:bodyPr/>
              <a:lstStyle/>
              <a:p>
                <a:pPr>
                  <a:defRPr b="0" i="0" strike="noStrike" sz="950" u="none">
                    <a:solidFill>
                      <a:srgbClr val="35415C"/>
                    </a:solidFill>
                    <a:latin typeface="Courier New"/>
                  </a:defRPr>
                </a:pPr>
              </a:p>
            </c:txPr>
            <c:showLegendKey val="0"/>
            <c:showVal val="1"/>
            <c:showCatName val="0"/>
            <c:showSerName val="0"/>
            <c:showPercent val="0"/>
            <c:showBubbleSize val="0"/>
            <c:showLeaderLines val="0"/>
          </c:dLbls>
          <c:cat>
            <c:multiLvlStrRef>
              <c:f>Sheet1!$A$2:$A$5</c:f>
              <c:multiLvlStrCache>
                <c:ptCount val="4"/>
                <c:lvl>
                  <c:pt idx="0">
                    <c:v>Model Load</c:v>
                  </c:pt>
                  <c:pt idx="1">
                    <c:v>Training Start</c:v>
                  </c:pt>
                  <c:pt idx="2">
                    <c:v>Peak Allocated</c:v>
                  </c:pt>
                  <c:pt idx="3">
                    <c:v>Peak Reserved</c:v>
                  </c:pt>
                </c:lvl>
              </c:multiLvlStrCache>
            </c:multiLvlStrRef>
          </c:cat>
          <c:val>
            <c:numRef>
              <c:f>Sheet1!$C$2:$C$5</c:f>
              <c:numCache>
                <c:formatCode>General</c:formatCode>
                <c:ptCount val="4"/>
                <c:pt idx="0">
                  <c:v>1.26</c:v>
                </c:pt>
                <c:pt idx="1">
                  <c:v>1.33</c:v>
                </c:pt>
                <c:pt idx="2">
                  <c:v>1.91</c:v>
                </c:pt>
                <c:pt idx="3">
                  <c:v>2.07</c:v>
                </c:pt>
              </c:numCache>
            </c:numRef>
          </c:val>
        </c:ser>
        <c:dLbls>
          <c:numFmt formatCode="0.00" sourceLinked="0"/>
          <c:txPr>
            <a:bodyPr/>
            <a:lstStyle/>
            <a:p>
              <a:pPr>
                <a:defRPr b="0" i="0" strike="noStrike" sz="950" u="none">
                  <a:solidFill>
                    <a:srgbClr val="35415C"/>
                  </a:solidFill>
                  <a:latin typeface="Courier New"/>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Malgun Gothic"/>
              </a:defRPr>
            </a:pPr>
            <a:endParaRPr lang="en-US"/>
          </a:p>
        </c:txPr>
        <c:crossAx val="2094734552"/>
        <c:crosses val="autoZero"/>
        <c:auto val="1"/>
        <c:lblAlgn val="ctr"/>
        <c:noMultiLvlLbl val="1"/>
      </c:catAx>
      <c:valAx>
        <c:axId val="2094734552"/>
        <c:scaling>
          <c:orientation val="minMax"/>
          <c:max val="4.6"/>
          <c:min val="0"/>
        </c:scaling>
        <c:delete val="0"/>
        <c:axPos val="l"/>
        <c:majorGridlines>
          <c:spPr>
            <a:ln w="12700" cap="flat">
              <a:solidFill>
                <a:srgbClr val="E8EDF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4748B"/>
                </a:solidFill>
                <a:latin typeface="Malgun Gothic"/>
              </a:defRPr>
            </a:pPr>
            <a:endParaRPr lang="en-US"/>
          </a:p>
        </c:txPr>
        <c:crossAx val="2094734554"/>
        <c:crosses val="autoZero"/>
        <c:crossBetween val="between"/>
        <c:majorUnit val="1"/>
      </c:valAx>
      <c:spPr>
        <a:solidFill>
          <a:srgbClr val="FFFFFF"/>
        </a:solidFill>
        <a:ln w="12700" cap="flat">
          <a:solidFill>
            <a:srgbClr val="FFFFFF"/>
          </a:solidFill>
        </a:ln>
        <a:effectLst/>
      </c:spPr>
    </c:plotArea>
    <c:legend>
      <c:legendPos val="t"/>
      <c:overlay val="0"/>
      <c:txPr>
        <a:bodyPr/>
        <a:lstStyle/>
        <a:p>
          <a:pPr>
            <a:defRPr sz="1000">
              <a:solidFill>
                <a:srgbClr val="15203A"/>
              </a:solidFill>
              <a:latin typeface="Malgun Gothic"/>
              <a:cs typeface="Malgun Gothic"/>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LoRA</c:v>
                </c:pt>
              </c:strCache>
            </c:strRef>
          </c:tx>
          <c:spPr>
            <a:solidFill>
              <a:srgbClr val="2563EB"/>
            </a:solidFill>
            <a:effectLst/>
          </c:spPr>
          <c:invertIfNegative val="0"/>
          <c:dLbls>
            <c:numFmt formatCode="0.0" sourceLinked="0"/>
            <c:txPr>
              <a:bodyPr/>
              <a:lstStyle/>
              <a:p>
                <a:pPr>
                  <a:defRPr b="0" i="0" strike="noStrike" sz="950" u="none">
                    <a:solidFill>
                      <a:srgbClr val="35415C"/>
                    </a:solidFill>
                    <a:latin typeface="Courier New"/>
                  </a:defRPr>
                </a:pPr>
              </a:p>
            </c:txPr>
            <c:showLegendKey val="0"/>
            <c:showVal val="1"/>
            <c:showCatName val="0"/>
            <c:showSerName val="0"/>
            <c:showPercent val="0"/>
            <c:showBubbleSize val="0"/>
            <c:showLeaderLines val="0"/>
          </c:dLbls>
          <c:cat>
            <c:multiLvlStrRef>
              <c:f>Sheet1!$A$2:$A$3</c:f>
              <c:multiLvlStrCache>
                <c:ptCount val="2"/>
                <c:lvl>
                  <c:pt idx="0">
                    <c:v>실측 학습 시간</c:v>
                  </c:pt>
                  <c:pt idx="1">
                    <c:v>Trainer Runtime</c:v>
                  </c:pt>
                </c:lvl>
              </c:multiLvlStrCache>
            </c:multiLvlStrRef>
          </c:cat>
          <c:val>
            <c:numRef>
              <c:f>Sheet1!$B$2:$B$3</c:f>
              <c:numCache>
                <c:formatCode>General</c:formatCode>
                <c:ptCount val="2"/>
                <c:pt idx="0">
                  <c:v>242.62</c:v>
                </c:pt>
                <c:pt idx="1">
                  <c:v>229.27</c:v>
                </c:pt>
              </c:numCache>
            </c:numRef>
          </c:val>
        </c:ser>
        <c:ser>
          <c:idx val="1"/>
          <c:order val="1"/>
          <c:tx>
            <c:strRef>
              <c:f>Sheet1!$C$1</c:f>
              <c:strCache>
                <c:ptCount val="1"/>
                <c:pt idx="0">
                  <c:v>QLoRA</c:v>
                </c:pt>
              </c:strCache>
            </c:strRef>
          </c:tx>
          <c:spPr>
            <a:solidFill>
              <a:srgbClr val="C2690B"/>
            </a:solidFill>
            <a:effectLst/>
          </c:spPr>
          <c:invertIfNegative val="0"/>
          <c:dLbls>
            <c:numFmt formatCode="0.0" sourceLinked="0"/>
            <c:txPr>
              <a:bodyPr/>
              <a:lstStyle/>
              <a:p>
                <a:pPr>
                  <a:defRPr b="0" i="0" strike="noStrike" sz="950" u="none">
                    <a:solidFill>
                      <a:srgbClr val="35415C"/>
                    </a:solidFill>
                    <a:latin typeface="Courier New"/>
                  </a:defRPr>
                </a:pPr>
              </a:p>
            </c:txPr>
            <c:showLegendKey val="0"/>
            <c:showVal val="1"/>
            <c:showCatName val="0"/>
            <c:showSerName val="0"/>
            <c:showPercent val="0"/>
            <c:showBubbleSize val="0"/>
            <c:showLeaderLines val="0"/>
          </c:dLbls>
          <c:cat>
            <c:multiLvlStrRef>
              <c:f>Sheet1!$A$2:$A$3</c:f>
              <c:multiLvlStrCache>
                <c:ptCount val="2"/>
                <c:lvl>
                  <c:pt idx="0">
                    <c:v>실측 학습 시간</c:v>
                  </c:pt>
                  <c:pt idx="1">
                    <c:v>Trainer Runtime</c:v>
                  </c:pt>
                </c:lvl>
              </c:multiLvlStrCache>
            </c:multiLvlStrRef>
          </c:cat>
          <c:val>
            <c:numRef>
              <c:f>Sheet1!$C$2:$C$3</c:f>
              <c:numCache>
                <c:formatCode>General</c:formatCode>
                <c:ptCount val="2"/>
                <c:pt idx="0">
                  <c:v>325.63</c:v>
                </c:pt>
                <c:pt idx="1">
                  <c:v>306.89</c:v>
                </c:pt>
              </c:numCache>
            </c:numRef>
          </c:val>
        </c:ser>
        <c:dLbls>
          <c:numFmt formatCode="0.0" sourceLinked="0"/>
          <c:txPr>
            <a:bodyPr/>
            <a:lstStyle/>
            <a:p>
              <a:pPr>
                <a:defRPr b="0" i="0" strike="noStrike" sz="950" u="none">
                  <a:solidFill>
                    <a:srgbClr val="35415C"/>
                  </a:solidFill>
                  <a:latin typeface="Courier New"/>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Malgun Gothic"/>
              </a:defRPr>
            </a:pPr>
            <a:endParaRPr lang="en-US"/>
          </a:p>
        </c:txPr>
        <c:crossAx val="2094734552"/>
        <c:crosses val="autoZero"/>
        <c:auto val="1"/>
        <c:lblAlgn val="ctr"/>
        <c:noMultiLvlLbl val="1"/>
      </c:catAx>
      <c:valAx>
        <c:axId val="2094734552"/>
        <c:scaling>
          <c:orientation val="minMax"/>
          <c:max val="380"/>
          <c:min val="0"/>
        </c:scaling>
        <c:delete val="0"/>
        <c:axPos val="l"/>
        <c:majorGridlines>
          <c:spPr>
            <a:ln w="12700" cap="flat">
              <a:solidFill>
                <a:srgbClr val="E8EDF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4748B"/>
                </a:solidFill>
                <a:latin typeface="Malgun Gothic"/>
              </a:defRPr>
            </a:pPr>
            <a:endParaRPr lang="en-US"/>
          </a:p>
        </c:txPr>
        <c:crossAx val="2094734554"/>
        <c:crosses val="autoZero"/>
        <c:crossBetween val="between"/>
        <c:majorUnit val="100"/>
      </c:valAx>
      <c:spPr>
        <a:solidFill>
          <a:srgbClr val="FFFFFF"/>
        </a:solidFill>
        <a:ln w="12700" cap="flat">
          <a:solidFill>
            <a:srgbClr val="FFFFFF"/>
          </a:solid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이번 발표는 LoRA와 QLoRA의 이론 소개가 아니라, 동일한 데이터와 동일한 Base Model 위에서 두 방식을 각각 적용해 학습 결과와 GPU 자원 사용량을 직접 측정한 실습 프로젝트입니다. 문제 정의부터 개선 방향까지 하나의 문제 해결 흐름으로 설명하겠습니다.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 모델도 질문 자체는 만들어 냅니다. 문제는 품질입니다. 출력이 장황하고 언어가 섞이며 요구한 형식을 지키지 못합니다. 즉 지식이 없어서가 아니라 출력 형식과 관점이 정렬되지 않은 문제이고, 이것이 31개라는 적은 데이터로도 SFT가 효과를 낼 수 있는 이유입니다.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요구사항은 두 층으로 나눴습니다. 기능 요구사항은 무엇을 만들 것인가이고, 모델 요구사항은 어떻게 만들 수 있는가입니다. 특히 전체 모델 재학습 회피, 어댑터 분리 저장, 제한된 VRAM이라는 세 조건이 PEFT를 선택하게 만든 직접적인 요구사항입니다.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공정한 비교를 위해 rank, alpha, dropout, target modules, step 수, 배치, 학습률, 최대 길이, optimizer까지 전부 동일하게 맞췄습니다. 심지어 optimizer도 양쪽 모두 paged_adamw_8bit입니다. 따라서 남은 유일한 차이는 베이스 모델을 4bit로 로드했는가 하나뿐입니다.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Fine-Tuning은 1.7B개 파라미터 전부를 업데이트하므로 가중치뿐 아니라 optimizer 상태와 gradient까지 전체 크기로 필요합니다. LoRA는 기존 가중치 W를 고정한 채 저차원 행렬 A, B의 곱으로 표현되는 증분만 학습합니다. 이번 실험에서 실제로 학습된 파라미터는 17,432,576개, 전체의 약 1%입니다.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QLoRA는 LoRA를 대체하는 기법이 아니라 LoRA 위에 베이스 모델 양자화를 얹은 것입니다. 어댑터 구조, rank, 학습 대상은 완전히 동일합니다. 다만 고정된 베이스 가중치를 NF4 4bit로 저장해 모델이 상주하는 메모리를 줄입니다. 연산 시점에는 다시 BF16으로 복원되므로 4bit로 학습한다는 표현은 정확하지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파이프라인은 네 단계입니다. 데이터 변환, 베이스 모델 로드와 분기, 어댑터 학습, 그리고 검증입니다. 이 그림에서 LoRA와 QLoRA가 갈라지는 지점은 오직 베이스 모델 로드 한 곳뿐이며, 그 앞뒤는 모두 공유됩니다. 하단의 completion_only_loss 설정이 학습의 방향을 결정합니다.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전처리의 핵심은 하나의 레코드를 prompt와 completion으로 분리한 것입니다. 그리고 실제로 Loss가 completion에만 걸리는지 눈으로 확인했습니다. 154개 토큰 중 76개에만 Loss가 적용되었고, 디코딩해 보면 면접 질문 세 개와 종료 토큰만 남습니다. 설정이 의도대로 동작했다는 증거입니다.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표에서 음영 처리된 두 행이 실제 차이입니다. 나머지는 전부 동일합니다. 특히 강조하고 싶은 것은 LoRA 노트북도 8bit paged optimizer를 쓴다는 점입니다. optimizer가 8bit라는 사실과 QLoRA인지는 별개입니다. 판단 기준은 베이스 모델을 4bit로 로드했는가 하나입니다.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검증은 세 축으로 나눴습니다. 학습이 수렴했는가, 자원을 얼마나 썼는가, 그리고 출력이 실제로 좋아졌는가입니다. 이 셋은 서로 다른 질문이므로 하나의 점수로 합치지 않고 따로 해석합니다.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곡선은 거의 겹칩니다. 양자화가 학습 수렴 자체를 방해하지는 않았다는 뜻입니다. 다만 여기서 반드시 짚어야 할 것은, 이것이 학습 데이터에 대한 loss라는 점입니다. 31개를 20 에폭 돌렸고 토큰 정확도가 1.0에 도달했으므로, 이 수치는 수렴의 증거이지 일반화의 증거가 아닙니다.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슬라이드가 이번 실험의 가장 중요한 결과입니다. Peak Allocated VRAM이 3.83GB에서 1.91GB로 절반 수준이 됐습니다. 반대로 실측 학습 시간은 242초에서 325초로 약 34% 늘었습니다. 주목할 점은 학습 중 추가로 할당된 VRAM은 0.56GB와 0.58GB로 거의 같다는 것입니다. 즉 줄어든 것은 학습 과정의 메모리가 아니라 상주하는 베이스 가중치입니다.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형식은 확실히 개선됐습니다. 세 문장으로 끝나고 해설이 붙지 않으며 EOS로 정상 종료합니다. 그러나 완벽하지 않습니다. LoRA 쪽은 Weaviate를 Weaviata로 쓰고 세 번째 질문의 기술적 타당성이 모호합니다. QLoRA 쪽은 더 간결하지만 1, 2번이 일반적인 검색 질문에 가깝습니다. 데이터 엔지니어 케이스에서는 경험에 없던 Spark Streaming이 등장하기도 했습니다. 이런 차이는 단일 사례이므로 우열의 근거로 삼지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가장 큰 한계는 데이터 31개입니다. 그리고 검증셋이 없어 과적합 여부를 수치로 말할 수 없습니다. 품질 평가도 육안 비교에 머물렀습니다. 다음 단계는 검증셋을 분리하고, 질문 3개 생성률이나 경험 키워드 커버리지, 환각 기술 비율 같은 지표로 품질을 정량화하는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정리하면 세 가지입니다. PEFT로 전체의 1%만 학습해 목표한 출력 패턴을 얻었고, 양자화로 메모리를 절반으로 줄였으며, 대신 학습 시간이 34% 늘었습니다. 중요한 것은 이것이 8GB 노트북 GPU에서 1.7B 모델을 80 step 돌린 단일 조건의 결과라는 점입니다. 모델이 더 커지면 메모리 이득이 결정적이 되고, 여유가 있으면 LoRA가 더 단순하고 빠릅니다. 선택은 환경이 정합니다.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A33"/>
        </a:solidFill>
      </p:bgPr>
    </p:bg>
    <p:spTree>
      <p:nvGrpSpPr>
        <p:cNvPr id="1" name=""/>
        <p:cNvGrpSpPr/>
        <p:nvPr/>
      </p:nvGrpSpPr>
      <p:grpSpPr>
        <a:xfrm>
          <a:off x="0" y="0"/>
          <a:ext cx="0" cy="0"/>
          <a:chOff x="0" y="0"/>
          <a:chExt cx="0" cy="0"/>
        </a:xfrm>
      </p:grpSpPr>
      <p:sp>
        <p:nvSpPr>
          <p:cNvPr id="3" name="Shape 0"/>
          <p:cNvSpPr/>
          <p:nvPr/>
        </p:nvSpPr>
        <p:spPr>
          <a:xfrm>
            <a:off x="8732520" y="1456189"/>
            <a:ext cx="1965960" cy="2039915"/>
          </a:xfrm>
          <a:prstGeom prst="roundRect">
            <a:avLst>
              <a:gd name="adj" fmla="val 4651"/>
            </a:avLst>
          </a:prstGeom>
          <a:solidFill>
            <a:srgbClr val="2563EB">
              <a:alpha val="75000"/>
            </a:srgbClr>
          </a:solidFill>
          <a:ln w="12700">
            <a:solidFill>
              <a:srgbClr val="2563EB">
                <a:alpha val="75000"/>
              </a:srgbClr>
            </a:solidFill>
            <a:prstDash val="solid"/>
          </a:ln>
        </p:spPr>
      </p:sp>
      <p:sp>
        <p:nvSpPr>
          <p:cNvPr id="4" name="Shape 1"/>
          <p:cNvSpPr/>
          <p:nvPr/>
        </p:nvSpPr>
        <p:spPr>
          <a:xfrm>
            <a:off x="9555480" y="2310107"/>
            <a:ext cx="1965960" cy="2039915"/>
          </a:xfrm>
          <a:prstGeom prst="roundRect">
            <a:avLst>
              <a:gd name="adj" fmla="val 4651"/>
            </a:avLst>
          </a:prstGeom>
          <a:solidFill>
            <a:srgbClr val="C2690B">
              <a:alpha val="75000"/>
            </a:srgbClr>
          </a:solidFill>
          <a:ln w="12700">
            <a:solidFill>
              <a:srgbClr val="C2690B">
                <a:alpha val="75000"/>
              </a:srgbClr>
            </a:solidFill>
            <a:prstDash val="solid"/>
          </a:ln>
        </p:spPr>
      </p:sp>
      <p:sp>
        <p:nvSpPr>
          <p:cNvPr id="5" name="Text 2"/>
          <p:cNvSpPr txBox="1"/>
          <p:nvPr/>
        </p:nvSpPr>
        <p:spPr>
          <a:xfrm>
            <a:off x="8732520" y="1598509"/>
            <a:ext cx="1965960" cy="379519"/>
          </a:xfrm>
          <a:prstGeom prst="rect">
            <a:avLst/>
          </a:prstGeom>
          <a:noFill/>
          <a:ln/>
        </p:spPr>
        <p:txBody>
          <a:bodyPr wrap="square" lIns="0" tIns="0" rIns="0" bIns="0" rtlCol="0" anchor="ctr"/>
          <a:lstStyle/>
          <a:p>
            <a:pPr algn="ctr" indent="0" marL="0">
              <a:buNone/>
            </a:pPr>
            <a:r>
              <a:rPr lang="en-US" sz="1400" b="1" dirty="0">
                <a:solidFill>
                  <a:srgbClr val="CFE0FF"/>
                </a:solidFill>
                <a:latin typeface="Malgun Gothic" pitchFamily="34" charset="0"/>
                <a:ea typeface="Malgun Gothic" pitchFamily="34" charset="-122"/>
                <a:cs typeface="Malgun Gothic" pitchFamily="34" charset="-120"/>
              </a:rPr>
              <a:t>LoRA</a:t>
            </a:r>
            <a:endParaRPr lang="en-US" sz="1400" dirty="0"/>
          </a:p>
        </p:txBody>
      </p:sp>
      <p:sp>
        <p:nvSpPr>
          <p:cNvPr id="6" name="Text 3"/>
          <p:cNvSpPr txBox="1"/>
          <p:nvPr/>
        </p:nvSpPr>
        <p:spPr>
          <a:xfrm>
            <a:off x="9555480" y="3875623"/>
            <a:ext cx="1965960" cy="379519"/>
          </a:xfrm>
          <a:prstGeom prst="rect">
            <a:avLst/>
          </a:prstGeom>
          <a:noFill/>
          <a:ln/>
        </p:spPr>
        <p:txBody>
          <a:bodyPr wrap="square" lIns="0" tIns="0" rIns="0" bIns="0" rtlCol="0" anchor="ctr"/>
          <a:lstStyle/>
          <a:p>
            <a:pPr algn="ctr" indent="0" marL="0">
              <a:buNone/>
            </a:pPr>
            <a:r>
              <a:rPr lang="en-US" sz="1400" b="1" dirty="0">
                <a:solidFill>
                  <a:srgbClr val="F6DDB8"/>
                </a:solidFill>
                <a:latin typeface="Malgun Gothic" pitchFamily="34" charset="0"/>
                <a:ea typeface="Malgun Gothic" pitchFamily="34" charset="-122"/>
                <a:cs typeface="Malgun Gothic" pitchFamily="34" charset="-120"/>
              </a:rPr>
              <a:t>QLoRA</a:t>
            </a:r>
            <a:endParaRPr lang="en-US" sz="1400" dirty="0"/>
          </a:p>
        </p:txBody>
      </p:sp>
      <p:sp>
        <p:nvSpPr>
          <p:cNvPr id="7" name="Text 4"/>
          <p:cNvSpPr txBox="1"/>
          <p:nvPr/>
        </p:nvSpPr>
        <p:spPr>
          <a:xfrm>
            <a:off x="566928" y="1361309"/>
            <a:ext cx="7680960" cy="322591"/>
          </a:xfrm>
          <a:prstGeom prst="rect">
            <a:avLst/>
          </a:prstGeom>
          <a:noFill/>
          <a:ln/>
        </p:spPr>
        <p:txBody>
          <a:bodyPr wrap="square" lIns="0" tIns="0" rIns="0" bIns="0" rtlCol="0" anchor="ctr"/>
          <a:lstStyle/>
          <a:p>
            <a:pPr indent="0" marL="0">
              <a:buNone/>
            </a:pPr>
            <a:r>
              <a:rPr lang="en-US" sz="1300" b="1" spc="150" kern="0" dirty="0">
                <a:solidFill>
                  <a:srgbClr val="6FA8FF"/>
                </a:solidFill>
                <a:latin typeface="Malgun Gothic" pitchFamily="34" charset="0"/>
                <a:ea typeface="Malgun Gothic" pitchFamily="34" charset="-122"/>
                <a:cs typeface="Malgun Gothic" pitchFamily="34" charset="-120"/>
              </a:rPr>
              <a:t>Parameter-Efficient Fine-Tuning 실습 프로젝트</a:t>
            </a:r>
            <a:endParaRPr lang="en-US" sz="1300" dirty="0"/>
          </a:p>
        </p:txBody>
      </p:sp>
      <p:sp>
        <p:nvSpPr>
          <p:cNvPr id="8" name="Text 5"/>
          <p:cNvSpPr txBox="1"/>
          <p:nvPr/>
        </p:nvSpPr>
        <p:spPr>
          <a:xfrm>
            <a:off x="566928" y="1769292"/>
            <a:ext cx="7863840" cy="996237"/>
          </a:xfrm>
          <a:prstGeom prst="rect">
            <a:avLst/>
          </a:prstGeom>
          <a:noFill/>
          <a:ln/>
        </p:spPr>
        <p:txBody>
          <a:bodyPr wrap="square" lIns="0" tIns="0" rIns="0" bIns="0" rtlCol="0" anchor="ctr"/>
          <a:lstStyle/>
          <a:p>
            <a:pPr indent="0" marL="0">
              <a:buNone/>
            </a:pPr>
            <a:r>
              <a:rPr lang="en-US" sz="5200" b="1" dirty="0">
                <a:solidFill>
                  <a:srgbClr val="6FA8FF"/>
                </a:solidFill>
                <a:latin typeface="Malgun Gothic" pitchFamily="34" charset="0"/>
                <a:ea typeface="Malgun Gothic" pitchFamily="34" charset="-122"/>
                <a:cs typeface="Malgun Gothic" pitchFamily="34" charset="-120"/>
              </a:rPr>
              <a:t>LoRA</a:t>
            </a:r>
            <a:pPr indent="0" marL="0">
              <a:buNone/>
            </a:pPr>
            <a:r>
              <a:rPr lang="en-US" sz="3400" b="1" dirty="0">
                <a:solidFill>
                  <a:srgbClr val="8C9AB5"/>
                </a:solidFill>
                <a:latin typeface="Malgun Gothic" pitchFamily="34" charset="0"/>
                <a:ea typeface="Malgun Gothic" pitchFamily="34" charset="-122"/>
                <a:cs typeface="Malgun Gothic" pitchFamily="34" charset="-120"/>
              </a:rPr>
              <a:t>  vs  </a:t>
            </a:r>
            <a:pPr indent="0" marL="0">
              <a:buNone/>
            </a:pPr>
            <a:r>
              <a:rPr lang="en-US" sz="5200" b="1" dirty="0">
                <a:solidFill>
                  <a:srgbClr val="F0B96A"/>
                </a:solidFill>
                <a:latin typeface="Malgun Gothic" pitchFamily="34" charset="0"/>
                <a:ea typeface="Malgun Gothic" pitchFamily="34" charset="-122"/>
                <a:cs typeface="Malgun Gothic" pitchFamily="34" charset="-120"/>
              </a:rPr>
              <a:t>QLoRA</a:t>
            </a:r>
            <a:endParaRPr lang="en-US" sz="5200" dirty="0"/>
          </a:p>
        </p:txBody>
      </p:sp>
      <p:sp>
        <p:nvSpPr>
          <p:cNvPr id="9" name="Text 6"/>
          <p:cNvSpPr txBox="1"/>
          <p:nvPr/>
        </p:nvSpPr>
        <p:spPr>
          <a:xfrm>
            <a:off x="566928" y="2812970"/>
            <a:ext cx="7863840" cy="474399"/>
          </a:xfrm>
          <a:prstGeom prst="rect">
            <a:avLst/>
          </a:prstGeom>
          <a:noFill/>
          <a:ln/>
        </p:spPr>
        <p:txBody>
          <a:bodyPr wrap="square" lIns="0" tIns="0" rIns="0" bIns="0" rtlCol="0" anchor="ctr"/>
          <a:lstStyle/>
          <a:p>
            <a:pPr indent="0" marL="0">
              <a:buNone/>
            </a:pPr>
            <a:r>
              <a:rPr lang="en-US" sz="2100" dirty="0">
                <a:solidFill>
                  <a:srgbClr val="FFFFFF"/>
                </a:solidFill>
                <a:latin typeface="Malgun Gothic" pitchFamily="34" charset="0"/>
                <a:ea typeface="Malgun Gothic" pitchFamily="34" charset="-122"/>
                <a:cs typeface="Malgun Gothic" pitchFamily="34" charset="-120"/>
              </a:rPr>
              <a:t>AI 기술면접 질문 생성기 Fine-Tuning 비교 실험</a:t>
            </a:r>
            <a:endParaRPr lang="en-US" sz="2100" dirty="0"/>
          </a:p>
        </p:txBody>
      </p:sp>
      <p:sp>
        <p:nvSpPr>
          <p:cNvPr id="10" name="Shape 7"/>
          <p:cNvSpPr/>
          <p:nvPr/>
        </p:nvSpPr>
        <p:spPr>
          <a:xfrm>
            <a:off x="566928" y="3458152"/>
            <a:ext cx="4160520" cy="417471"/>
          </a:xfrm>
          <a:prstGeom prst="roundRect">
            <a:avLst>
              <a:gd name="adj" fmla="val 15332"/>
            </a:avLst>
          </a:prstGeom>
          <a:solidFill>
            <a:srgbClr val="1C2C4E"/>
          </a:solidFill>
          <a:ln w="12700">
            <a:solidFill>
              <a:srgbClr val="2E4270"/>
            </a:solidFill>
            <a:prstDash val="solid"/>
          </a:ln>
        </p:spPr>
      </p:sp>
      <p:sp>
        <p:nvSpPr>
          <p:cNvPr id="11" name="Text 8"/>
          <p:cNvSpPr txBox="1"/>
          <p:nvPr/>
        </p:nvSpPr>
        <p:spPr>
          <a:xfrm>
            <a:off x="566928" y="3458152"/>
            <a:ext cx="4160520" cy="417471"/>
          </a:xfrm>
          <a:prstGeom prst="rect">
            <a:avLst/>
          </a:prstGeom>
          <a:noFill/>
          <a:ln/>
        </p:spPr>
        <p:txBody>
          <a:bodyPr wrap="square" lIns="0" tIns="0" rIns="0" bIns="0" rtlCol="0" anchor="ctr"/>
          <a:lstStyle/>
          <a:p>
            <a:pPr algn="ctr" indent="0" marL="0">
              <a:buNone/>
            </a:pPr>
            <a:r>
              <a:rPr lang="en-US" sz="1300" dirty="0">
                <a:solidFill>
                  <a:srgbClr val="BBD0F5"/>
                </a:solidFill>
                <a:latin typeface="Courier New" pitchFamily="34" charset="0"/>
                <a:ea typeface="Courier New" pitchFamily="34" charset="-122"/>
                <a:cs typeface="Courier New" pitchFamily="34" charset="-120"/>
              </a:rPr>
              <a:t>Base Model  ·  Qwen/Qwen3-1.7B</a:t>
            </a:r>
            <a:endParaRPr lang="en-US" sz="1300" dirty="0"/>
          </a:p>
        </p:txBody>
      </p:sp>
      <p:sp>
        <p:nvSpPr>
          <p:cNvPr id="12" name="Text 9"/>
          <p:cNvSpPr txBox="1"/>
          <p:nvPr/>
        </p:nvSpPr>
        <p:spPr>
          <a:xfrm>
            <a:off x="566928" y="4065382"/>
            <a:ext cx="7498080" cy="759038"/>
          </a:xfrm>
          <a:prstGeom prst="rect">
            <a:avLst/>
          </a:prstGeom>
          <a:noFill/>
          <a:ln/>
        </p:spPr>
        <p:txBody>
          <a:bodyPr wrap="square" lIns="0" tIns="0" rIns="0" bIns="0" rtlCol="0" anchor="ctr"/>
          <a:lstStyle/>
          <a:p>
            <a:pPr indent="0" marL="0">
              <a:lnSpc>
                <a:spcPts val="2100"/>
              </a:lnSpc>
              <a:buNone/>
            </a:pPr>
            <a:r>
              <a:rPr lang="en-US" sz="1300" dirty="0">
                <a:solidFill>
                  <a:srgbClr val="A9B7D0"/>
                </a:solidFill>
                <a:latin typeface="Malgun Gothic" pitchFamily="34" charset="0"/>
                <a:ea typeface="Malgun Gothic" pitchFamily="34" charset="-122"/>
                <a:cs typeface="Malgun Gothic" pitchFamily="34" charset="-120"/>
              </a:rPr>
              <a:t>제한된 GPU 환경에서 동일 데이터 · 동일 Base Model로</a:t>
            </a:r>
            <a:endParaRPr lang="en-US" sz="1300" dirty="0"/>
          </a:p>
          <a:p>
            <a:pPr indent="0" marL="0">
              <a:lnSpc>
                <a:spcPts val="2100"/>
              </a:lnSpc>
              <a:buNone/>
            </a:pPr>
            <a:r>
              <a:rPr lang="en-US" sz="1300" dirty="0">
                <a:solidFill>
                  <a:srgbClr val="A9B7D0"/>
                </a:solidFill>
                <a:latin typeface="Malgun Gothic" pitchFamily="34" charset="0"/>
                <a:ea typeface="Malgun Gothic" pitchFamily="34" charset="-122"/>
                <a:cs typeface="Malgun Gothic" pitchFamily="34" charset="-120"/>
              </a:rPr>
              <a:t>LoRA와 QLoRA를 각각 파인튜닝하고 자원 사용량과 학습 결과를 비교한다.</a:t>
            </a:r>
            <a:endParaRPr lang="en-US" sz="1300" dirty="0"/>
          </a:p>
        </p:txBody>
      </p:sp>
      <p:sp>
        <p:nvSpPr>
          <p:cNvPr id="13" name="Text 10"/>
          <p:cNvSpPr txBox="1"/>
          <p:nvPr/>
        </p:nvSpPr>
        <p:spPr>
          <a:xfrm>
            <a:off x="566928" y="5317795"/>
            <a:ext cx="1481328" cy="303615"/>
          </a:xfrm>
          <a:prstGeom prst="rect">
            <a:avLst/>
          </a:prstGeom>
          <a:noFill/>
          <a:ln/>
        </p:spPr>
        <p:txBody>
          <a:bodyPr wrap="square" lIns="0" tIns="0" rIns="0" bIns="0" rtlCol="0" anchor="ctr"/>
          <a:lstStyle/>
          <a:p>
            <a:pPr algn="ctr" indent="0" marL="0">
              <a:buNone/>
            </a:pPr>
            <a:r>
              <a:rPr lang="en-US" sz="1050" b="1" dirty="0">
                <a:solidFill>
                  <a:srgbClr val="6FA8FF"/>
                </a:solidFill>
                <a:latin typeface="Malgun Gothic" pitchFamily="34" charset="0"/>
                <a:ea typeface="Malgun Gothic" pitchFamily="34" charset="-122"/>
                <a:cs typeface="Malgun Gothic" pitchFamily="34" charset="-120"/>
              </a:rPr>
              <a:t>Problem</a:t>
            </a:r>
            <a:endParaRPr lang="en-US" sz="1050" dirty="0"/>
          </a:p>
        </p:txBody>
      </p:sp>
      <p:sp>
        <p:nvSpPr>
          <p:cNvPr id="14" name="Text 11"/>
          <p:cNvSpPr txBox="1"/>
          <p:nvPr/>
        </p:nvSpPr>
        <p:spPr>
          <a:xfrm>
            <a:off x="2048256" y="5317795"/>
            <a:ext cx="274320" cy="303615"/>
          </a:xfrm>
          <a:prstGeom prst="rect">
            <a:avLst/>
          </a:prstGeom>
          <a:noFill/>
          <a:ln/>
        </p:spPr>
        <p:txBody>
          <a:bodyPr wrap="square" lIns="0" tIns="0" rIns="0" bIns="0" rtlCol="0" anchor="ctr"/>
          <a:lstStyle/>
          <a:p>
            <a:pPr algn="ctr" indent="0" marL="0">
              <a:buNone/>
            </a:pPr>
            <a:r>
              <a:rPr lang="en-US" sz="1100" dirty="0">
                <a:solidFill>
                  <a:srgbClr val="4C5D7D"/>
                </a:solidFill>
                <a:latin typeface="Malgun Gothic" pitchFamily="34" charset="0"/>
                <a:ea typeface="Malgun Gothic" pitchFamily="34" charset="-122"/>
                <a:cs typeface="Malgun Gothic" pitchFamily="34" charset="-120"/>
              </a:rPr>
              <a:t>→</a:t>
            </a:r>
            <a:endParaRPr lang="en-US" sz="1100" dirty="0"/>
          </a:p>
        </p:txBody>
      </p:sp>
      <p:sp>
        <p:nvSpPr>
          <p:cNvPr id="15" name="Text 12"/>
          <p:cNvSpPr txBox="1"/>
          <p:nvPr/>
        </p:nvSpPr>
        <p:spPr>
          <a:xfrm>
            <a:off x="2322576" y="5317795"/>
            <a:ext cx="1481328" cy="303615"/>
          </a:xfrm>
          <a:prstGeom prst="rect">
            <a:avLst/>
          </a:prstGeom>
          <a:noFill/>
          <a:ln/>
        </p:spPr>
        <p:txBody>
          <a:bodyPr wrap="square" lIns="0" tIns="0" rIns="0" bIns="0" rtlCol="0" anchor="ctr"/>
          <a:lstStyle/>
          <a:p>
            <a:pPr algn="ctr" indent="0" marL="0">
              <a:buNone/>
            </a:pPr>
            <a:r>
              <a:rPr lang="en-US" sz="1050" dirty="0">
                <a:solidFill>
                  <a:srgbClr val="7686A4"/>
                </a:solidFill>
                <a:latin typeface="Malgun Gothic" pitchFamily="34" charset="0"/>
                <a:ea typeface="Malgun Gothic" pitchFamily="34" charset="-122"/>
                <a:cs typeface="Malgun Gothic" pitchFamily="34" charset="-120"/>
              </a:rPr>
              <a:t>Requirements</a:t>
            </a:r>
            <a:endParaRPr lang="en-US" sz="1050" dirty="0"/>
          </a:p>
        </p:txBody>
      </p:sp>
      <p:sp>
        <p:nvSpPr>
          <p:cNvPr id="16" name="Text 13"/>
          <p:cNvSpPr txBox="1"/>
          <p:nvPr/>
        </p:nvSpPr>
        <p:spPr>
          <a:xfrm>
            <a:off x="3803904" y="5317795"/>
            <a:ext cx="274320" cy="303615"/>
          </a:xfrm>
          <a:prstGeom prst="rect">
            <a:avLst/>
          </a:prstGeom>
          <a:noFill/>
          <a:ln/>
        </p:spPr>
        <p:txBody>
          <a:bodyPr wrap="square" lIns="0" tIns="0" rIns="0" bIns="0" rtlCol="0" anchor="ctr"/>
          <a:lstStyle/>
          <a:p>
            <a:pPr algn="ctr" indent="0" marL="0">
              <a:buNone/>
            </a:pPr>
            <a:r>
              <a:rPr lang="en-US" sz="1100" dirty="0">
                <a:solidFill>
                  <a:srgbClr val="4C5D7D"/>
                </a:solidFill>
                <a:latin typeface="Malgun Gothic" pitchFamily="34" charset="0"/>
                <a:ea typeface="Malgun Gothic" pitchFamily="34" charset="-122"/>
                <a:cs typeface="Malgun Gothic" pitchFamily="34" charset="-120"/>
              </a:rPr>
              <a:t>→</a:t>
            </a:r>
            <a:endParaRPr lang="en-US" sz="1100" dirty="0"/>
          </a:p>
        </p:txBody>
      </p:sp>
      <p:sp>
        <p:nvSpPr>
          <p:cNvPr id="17" name="Text 14"/>
          <p:cNvSpPr txBox="1"/>
          <p:nvPr/>
        </p:nvSpPr>
        <p:spPr>
          <a:xfrm>
            <a:off x="4078224" y="5317795"/>
            <a:ext cx="1481328" cy="303615"/>
          </a:xfrm>
          <a:prstGeom prst="rect">
            <a:avLst/>
          </a:prstGeom>
          <a:noFill/>
          <a:ln/>
        </p:spPr>
        <p:txBody>
          <a:bodyPr wrap="square" lIns="0" tIns="0" rIns="0" bIns="0" rtlCol="0" anchor="ctr"/>
          <a:lstStyle/>
          <a:p>
            <a:pPr algn="ctr" indent="0" marL="0">
              <a:buNone/>
            </a:pPr>
            <a:r>
              <a:rPr lang="en-US" sz="1050" dirty="0">
                <a:solidFill>
                  <a:srgbClr val="7686A4"/>
                </a:solidFill>
                <a:latin typeface="Malgun Gothic" pitchFamily="34" charset="0"/>
                <a:ea typeface="Malgun Gothic" pitchFamily="34" charset="-122"/>
                <a:cs typeface="Malgun Gothic" pitchFamily="34" charset="-120"/>
              </a:rPr>
              <a:t>Design</a:t>
            </a:r>
            <a:endParaRPr lang="en-US" sz="1050" dirty="0"/>
          </a:p>
        </p:txBody>
      </p:sp>
      <p:sp>
        <p:nvSpPr>
          <p:cNvPr id="18" name="Text 15"/>
          <p:cNvSpPr txBox="1"/>
          <p:nvPr/>
        </p:nvSpPr>
        <p:spPr>
          <a:xfrm>
            <a:off x="5559552" y="5317795"/>
            <a:ext cx="274320" cy="303615"/>
          </a:xfrm>
          <a:prstGeom prst="rect">
            <a:avLst/>
          </a:prstGeom>
          <a:noFill/>
          <a:ln/>
        </p:spPr>
        <p:txBody>
          <a:bodyPr wrap="square" lIns="0" tIns="0" rIns="0" bIns="0" rtlCol="0" anchor="ctr"/>
          <a:lstStyle/>
          <a:p>
            <a:pPr algn="ctr" indent="0" marL="0">
              <a:buNone/>
            </a:pPr>
            <a:r>
              <a:rPr lang="en-US" sz="1100" dirty="0">
                <a:solidFill>
                  <a:srgbClr val="4C5D7D"/>
                </a:solidFill>
                <a:latin typeface="Malgun Gothic" pitchFamily="34" charset="0"/>
                <a:ea typeface="Malgun Gothic" pitchFamily="34" charset="-122"/>
                <a:cs typeface="Malgun Gothic" pitchFamily="34" charset="-120"/>
              </a:rPr>
              <a:t>→</a:t>
            </a:r>
            <a:endParaRPr lang="en-US" sz="1100" dirty="0"/>
          </a:p>
        </p:txBody>
      </p:sp>
      <p:sp>
        <p:nvSpPr>
          <p:cNvPr id="19" name="Text 16"/>
          <p:cNvSpPr txBox="1"/>
          <p:nvPr/>
        </p:nvSpPr>
        <p:spPr>
          <a:xfrm>
            <a:off x="5833872" y="5317795"/>
            <a:ext cx="1481328" cy="303615"/>
          </a:xfrm>
          <a:prstGeom prst="rect">
            <a:avLst/>
          </a:prstGeom>
          <a:noFill/>
          <a:ln/>
        </p:spPr>
        <p:txBody>
          <a:bodyPr wrap="square" lIns="0" tIns="0" rIns="0" bIns="0" rtlCol="0" anchor="ctr"/>
          <a:lstStyle/>
          <a:p>
            <a:pPr algn="ctr" indent="0" marL="0">
              <a:buNone/>
            </a:pPr>
            <a:r>
              <a:rPr lang="en-US" sz="1050" dirty="0">
                <a:solidFill>
                  <a:srgbClr val="7686A4"/>
                </a:solidFill>
                <a:latin typeface="Malgun Gothic" pitchFamily="34" charset="0"/>
                <a:ea typeface="Malgun Gothic" pitchFamily="34" charset="-122"/>
                <a:cs typeface="Malgun Gothic" pitchFamily="34" charset="-120"/>
              </a:rPr>
              <a:t>Implementation</a:t>
            </a:r>
            <a:endParaRPr lang="en-US" sz="1050" dirty="0"/>
          </a:p>
        </p:txBody>
      </p:sp>
      <p:sp>
        <p:nvSpPr>
          <p:cNvPr id="20" name="Text 17"/>
          <p:cNvSpPr txBox="1"/>
          <p:nvPr/>
        </p:nvSpPr>
        <p:spPr>
          <a:xfrm>
            <a:off x="7315200" y="5317795"/>
            <a:ext cx="274320" cy="303615"/>
          </a:xfrm>
          <a:prstGeom prst="rect">
            <a:avLst/>
          </a:prstGeom>
          <a:noFill/>
          <a:ln/>
        </p:spPr>
        <p:txBody>
          <a:bodyPr wrap="square" lIns="0" tIns="0" rIns="0" bIns="0" rtlCol="0" anchor="ctr"/>
          <a:lstStyle/>
          <a:p>
            <a:pPr algn="ctr" indent="0" marL="0">
              <a:buNone/>
            </a:pPr>
            <a:r>
              <a:rPr lang="en-US" sz="1100" dirty="0">
                <a:solidFill>
                  <a:srgbClr val="4C5D7D"/>
                </a:solidFill>
                <a:latin typeface="Malgun Gothic" pitchFamily="34" charset="0"/>
                <a:ea typeface="Malgun Gothic" pitchFamily="34" charset="-122"/>
                <a:cs typeface="Malgun Gothic" pitchFamily="34" charset="-120"/>
              </a:rPr>
              <a:t>→</a:t>
            </a:r>
            <a:endParaRPr lang="en-US" sz="1100" dirty="0"/>
          </a:p>
        </p:txBody>
      </p:sp>
      <p:sp>
        <p:nvSpPr>
          <p:cNvPr id="21" name="Text 18"/>
          <p:cNvSpPr txBox="1"/>
          <p:nvPr/>
        </p:nvSpPr>
        <p:spPr>
          <a:xfrm>
            <a:off x="7589520" y="5317795"/>
            <a:ext cx="1481328" cy="303615"/>
          </a:xfrm>
          <a:prstGeom prst="rect">
            <a:avLst/>
          </a:prstGeom>
          <a:noFill/>
          <a:ln/>
        </p:spPr>
        <p:txBody>
          <a:bodyPr wrap="square" lIns="0" tIns="0" rIns="0" bIns="0" rtlCol="0" anchor="ctr"/>
          <a:lstStyle/>
          <a:p>
            <a:pPr algn="ctr" indent="0" marL="0">
              <a:buNone/>
            </a:pPr>
            <a:r>
              <a:rPr lang="en-US" sz="1050" dirty="0">
                <a:solidFill>
                  <a:srgbClr val="7686A4"/>
                </a:solidFill>
                <a:latin typeface="Malgun Gothic" pitchFamily="34" charset="0"/>
                <a:ea typeface="Malgun Gothic" pitchFamily="34" charset="-122"/>
                <a:cs typeface="Malgun Gothic" pitchFamily="34" charset="-120"/>
              </a:rPr>
              <a:t>Validation</a:t>
            </a:r>
            <a:endParaRPr lang="en-US" sz="1050" dirty="0"/>
          </a:p>
        </p:txBody>
      </p:sp>
      <p:sp>
        <p:nvSpPr>
          <p:cNvPr id="22" name="Text 19"/>
          <p:cNvSpPr txBox="1"/>
          <p:nvPr/>
        </p:nvSpPr>
        <p:spPr>
          <a:xfrm>
            <a:off x="9070848" y="5317795"/>
            <a:ext cx="274320" cy="303615"/>
          </a:xfrm>
          <a:prstGeom prst="rect">
            <a:avLst/>
          </a:prstGeom>
          <a:noFill/>
          <a:ln/>
        </p:spPr>
        <p:txBody>
          <a:bodyPr wrap="square" lIns="0" tIns="0" rIns="0" bIns="0" rtlCol="0" anchor="ctr"/>
          <a:lstStyle/>
          <a:p>
            <a:pPr algn="ctr" indent="0" marL="0">
              <a:buNone/>
            </a:pPr>
            <a:r>
              <a:rPr lang="en-US" sz="1100" dirty="0">
                <a:solidFill>
                  <a:srgbClr val="4C5D7D"/>
                </a:solidFill>
                <a:latin typeface="Malgun Gothic" pitchFamily="34" charset="0"/>
                <a:ea typeface="Malgun Gothic" pitchFamily="34" charset="-122"/>
                <a:cs typeface="Malgun Gothic" pitchFamily="34" charset="-120"/>
              </a:rPr>
              <a:t>→</a:t>
            </a:r>
            <a:endParaRPr lang="en-US" sz="1100" dirty="0"/>
          </a:p>
        </p:txBody>
      </p:sp>
      <p:sp>
        <p:nvSpPr>
          <p:cNvPr id="23" name="Text 20"/>
          <p:cNvSpPr txBox="1"/>
          <p:nvPr/>
        </p:nvSpPr>
        <p:spPr>
          <a:xfrm>
            <a:off x="9345168" y="5317795"/>
            <a:ext cx="1481328" cy="303615"/>
          </a:xfrm>
          <a:prstGeom prst="rect">
            <a:avLst/>
          </a:prstGeom>
          <a:noFill/>
          <a:ln/>
        </p:spPr>
        <p:txBody>
          <a:bodyPr wrap="square" lIns="0" tIns="0" rIns="0" bIns="0" rtlCol="0" anchor="ctr"/>
          <a:lstStyle/>
          <a:p>
            <a:pPr algn="ctr" indent="0" marL="0">
              <a:buNone/>
            </a:pPr>
            <a:r>
              <a:rPr lang="en-US" sz="1050" dirty="0">
                <a:solidFill>
                  <a:srgbClr val="7686A4"/>
                </a:solidFill>
                <a:latin typeface="Malgun Gothic" pitchFamily="34" charset="0"/>
                <a:ea typeface="Malgun Gothic" pitchFamily="34" charset="-122"/>
                <a:cs typeface="Malgun Gothic" pitchFamily="34" charset="-120"/>
              </a:rPr>
              <a:t>Improvement</a:t>
            </a:r>
            <a:endParaRPr lang="en-US" sz="1050" dirty="0"/>
          </a:p>
        </p:txBody>
      </p:sp>
      <p:sp>
        <p:nvSpPr>
          <p:cNvPr id="24" name="Text 21"/>
          <p:cNvSpPr txBox="1"/>
          <p:nvPr/>
        </p:nvSpPr>
        <p:spPr>
          <a:xfrm>
            <a:off x="566928" y="6152737"/>
            <a:ext cx="10058400" cy="284639"/>
          </a:xfrm>
          <a:prstGeom prst="rect">
            <a:avLst/>
          </a:prstGeom>
          <a:noFill/>
          <a:ln/>
        </p:spPr>
        <p:txBody>
          <a:bodyPr wrap="square" lIns="0" tIns="0" rIns="0" bIns="0" rtlCol="0" anchor="ctr"/>
          <a:lstStyle/>
          <a:p>
            <a:pPr indent="0" marL="0">
              <a:buNone/>
            </a:pPr>
            <a:r>
              <a:rPr lang="en-US" sz="1000" dirty="0">
                <a:solidFill>
                  <a:srgbClr val="5E6E8C"/>
                </a:solidFill>
                <a:latin typeface="Malgun Gothic" pitchFamily="34" charset="0"/>
                <a:ea typeface="Malgun Gothic" pitchFamily="34" charset="-122"/>
                <a:cs typeface="Malgun Gothic" pitchFamily="34" charset="-120"/>
              </a:rPr>
              <a:t>Qwen3-1.7B  ·  31 SFT samples  ·  LoRA r=16  ·  80 steps  ·  NVIDIA RTX 4060 Laptop (8GB)</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66928" y="384048"/>
            <a:ext cx="1335024" cy="318211"/>
          </a:xfrm>
          <a:prstGeom prst="roundRect">
            <a:avLst>
              <a:gd name="adj" fmla="val 43103"/>
            </a:avLst>
          </a:prstGeom>
          <a:solidFill>
            <a:srgbClr val="FAEEDD"/>
          </a:solidFill>
          <a:ln w="12700">
            <a:solidFill>
              <a:srgbClr val="FAEEDD"/>
            </a:solidFill>
            <a:prstDash val="solid"/>
          </a:ln>
        </p:spPr>
      </p:sp>
      <p:sp>
        <p:nvSpPr>
          <p:cNvPr id="4" name="Text 1"/>
          <p:cNvSpPr txBox="1"/>
          <p:nvPr/>
        </p:nvSpPr>
        <p:spPr>
          <a:xfrm>
            <a:off x="566928" y="384048"/>
            <a:ext cx="1335024" cy="318211"/>
          </a:xfrm>
          <a:prstGeom prst="rect">
            <a:avLst/>
          </a:prstGeom>
          <a:noFill/>
          <a:ln/>
        </p:spPr>
        <p:txBody>
          <a:bodyPr wrap="square" lIns="0" tIns="0" rIns="0" bIns="0" rtlCol="0" anchor="ctr"/>
          <a:lstStyle/>
          <a:p>
            <a:pPr algn="ctr" indent="0" marL="0">
              <a:buNone/>
            </a:pPr>
            <a:r>
              <a:rPr lang="en-US" sz="1050" b="1" spc="60" kern="0" dirty="0">
                <a:solidFill>
                  <a:srgbClr val="8A3A12"/>
                </a:solidFill>
                <a:latin typeface="Malgun Gothic" pitchFamily="34" charset="0"/>
                <a:ea typeface="Malgun Gothic" pitchFamily="34" charset="-122"/>
                <a:cs typeface="Malgun Gothic" pitchFamily="34" charset="-120"/>
              </a:rPr>
              <a:t>01  PROBLEM</a:t>
            </a:r>
            <a:endParaRPr lang="en-US" sz="1050" dirty="0"/>
          </a:p>
        </p:txBody>
      </p:sp>
      <p:sp>
        <p:nvSpPr>
          <p:cNvPr id="5" name="Text 2"/>
          <p:cNvSpPr txBox="1"/>
          <p:nvPr/>
        </p:nvSpPr>
        <p:spPr>
          <a:xfrm>
            <a:off x="566928" y="765901"/>
            <a:ext cx="11057839" cy="593994"/>
          </a:xfrm>
          <a:prstGeom prst="rect">
            <a:avLst/>
          </a:prstGeom>
          <a:noFill/>
          <a:ln/>
        </p:spPr>
        <p:txBody>
          <a:bodyPr wrap="square" lIns="0" tIns="0" rIns="0" bIns="0" rtlCol="0" anchor="ctr"/>
          <a:lstStyle/>
          <a:p>
            <a:pPr indent="0" marL="0">
              <a:buNone/>
            </a:pPr>
            <a:r>
              <a:rPr lang="en-US" sz="3000" b="1" dirty="0">
                <a:solidFill>
                  <a:srgbClr val="15203A"/>
                </a:solidFill>
                <a:latin typeface="Malgun Gothic" pitchFamily="34" charset="0"/>
                <a:ea typeface="Malgun Gothic" pitchFamily="34" charset="-122"/>
                <a:cs typeface="Malgun Gothic" pitchFamily="34" charset="-120"/>
              </a:rPr>
              <a:t>왜 Fine-Tuning이 필요했는가</a:t>
            </a:r>
            <a:endParaRPr lang="en-US" sz="3000" dirty="0"/>
          </a:p>
        </p:txBody>
      </p:sp>
      <p:sp>
        <p:nvSpPr>
          <p:cNvPr id="6" name="Text 3"/>
          <p:cNvSpPr txBox="1"/>
          <p:nvPr/>
        </p:nvSpPr>
        <p:spPr>
          <a:xfrm>
            <a:off x="566928" y="1349289"/>
            <a:ext cx="11057839" cy="339425"/>
          </a:xfrm>
          <a:prstGeom prst="rect">
            <a:avLst/>
          </a:prstGeom>
          <a:noFill/>
          <a:ln/>
        </p:spPr>
        <p:txBody>
          <a:bodyPr wrap="square" lIns="0" tIns="0" rIns="0" bIns="0" rtlCol="0" anchor="t"/>
          <a:lstStyle/>
          <a:p>
            <a:pPr indent="0" marL="0">
              <a:buNone/>
            </a:pPr>
            <a:r>
              <a:rPr lang="en-US" sz="1300" dirty="0">
                <a:solidFill>
                  <a:srgbClr val="64748B"/>
                </a:solidFill>
                <a:latin typeface="Malgun Gothic" pitchFamily="34" charset="0"/>
                <a:ea typeface="Malgun Gothic" pitchFamily="34" charset="-122"/>
                <a:cs typeface="Malgun Gothic" pitchFamily="34" charset="-120"/>
              </a:rPr>
              <a:t>동일 입력에 대한 Base Model(Qwen3-1.7B)의 출력을 먼저 관찰했다</a:t>
            </a:r>
            <a:endParaRPr lang="en-US" sz="1300" dirty="0"/>
          </a:p>
        </p:txBody>
      </p:sp>
      <p:sp>
        <p:nvSpPr>
          <p:cNvPr id="7" name="Shape 4"/>
          <p:cNvSpPr/>
          <p:nvPr/>
        </p:nvSpPr>
        <p:spPr>
          <a:xfrm>
            <a:off x="566928" y="1869034"/>
            <a:ext cx="3886200" cy="1718340"/>
          </a:xfrm>
          <a:prstGeom prst="roundRect">
            <a:avLst>
              <a:gd name="adj" fmla="val 3193"/>
            </a:avLst>
          </a:prstGeom>
          <a:solidFill>
            <a:srgbClr val="F2F5FA"/>
          </a:solidFill>
          <a:ln w="12700">
            <a:solidFill>
              <a:srgbClr val="F2F5FA"/>
            </a:solidFill>
            <a:prstDash val="solid"/>
          </a:ln>
        </p:spPr>
      </p:sp>
      <p:sp>
        <p:nvSpPr>
          <p:cNvPr id="8" name="Text 5"/>
          <p:cNvSpPr txBox="1"/>
          <p:nvPr/>
        </p:nvSpPr>
        <p:spPr>
          <a:xfrm>
            <a:off x="768096" y="2006925"/>
            <a:ext cx="1828800" cy="254569"/>
          </a:xfrm>
          <a:prstGeom prst="rect">
            <a:avLst/>
          </a:prstGeom>
          <a:noFill/>
          <a:ln/>
        </p:spPr>
        <p:txBody>
          <a:bodyPr wrap="square" lIns="0" tIns="0" rIns="0" bIns="0" rtlCol="0" anchor="ctr"/>
          <a:lstStyle/>
          <a:p>
            <a:pPr indent="0" marL="0">
              <a:buNone/>
            </a:pPr>
            <a:r>
              <a:rPr lang="en-US" sz="950" b="1" spc="120" kern="0" dirty="0">
                <a:solidFill>
                  <a:srgbClr val="64748B"/>
                </a:solidFill>
                <a:latin typeface="Malgun Gothic" pitchFamily="34" charset="0"/>
                <a:ea typeface="Malgun Gothic" pitchFamily="34" charset="-122"/>
                <a:cs typeface="Malgun Gothic" pitchFamily="34" charset="-120"/>
              </a:rPr>
              <a:t>INPUT</a:t>
            </a:r>
            <a:endParaRPr lang="en-US" sz="950" dirty="0"/>
          </a:p>
        </p:txBody>
      </p:sp>
      <p:sp>
        <p:nvSpPr>
          <p:cNvPr id="9" name="Text 6"/>
          <p:cNvSpPr txBox="1"/>
          <p:nvPr/>
        </p:nvSpPr>
        <p:spPr>
          <a:xfrm>
            <a:off x="768096" y="2314529"/>
            <a:ext cx="3520440" cy="1113739"/>
          </a:xfrm>
          <a:prstGeom prst="rect">
            <a:avLst/>
          </a:prstGeom>
          <a:noFill/>
          <a:ln/>
        </p:spPr>
        <p:txBody>
          <a:bodyPr wrap="square" lIns="0" tIns="0" rIns="0" bIns="0" rtlCol="0" anchor="ctr"/>
          <a:lstStyle/>
          <a:p>
            <a:pPr indent="0" marL="0">
              <a:lnSpc>
                <a:spcPts val="1800"/>
              </a:lnSpc>
              <a:buNone/>
            </a:pPr>
            <a:r>
              <a:rPr lang="en-US" sz="1100" dirty="0">
                <a:solidFill>
                  <a:srgbClr val="64748B"/>
                </a:solidFill>
                <a:latin typeface="Malgun Gothic" pitchFamily="34" charset="0"/>
                <a:ea typeface="Malgun Gothic" pitchFamily="34" charset="-122"/>
                <a:cs typeface="Malgun Gothic" pitchFamily="34" charset="-120"/>
              </a:rPr>
              <a:t>직무  </a:t>
            </a:r>
            <a:pPr indent="0" marL="0">
              <a:lnSpc>
                <a:spcPts val="1800"/>
              </a:lnSpc>
              <a:buNone/>
            </a:pPr>
            <a:r>
              <a:rPr lang="en-US" sz="1300" b="1" dirty="0">
                <a:solidFill>
                  <a:srgbClr val="15203A"/>
                </a:solidFill>
                <a:latin typeface="Malgun Gothic" pitchFamily="34" charset="0"/>
                <a:ea typeface="Malgun Gothic" pitchFamily="34" charset="-122"/>
                <a:cs typeface="Malgun Gothic" pitchFamily="34" charset="-120"/>
              </a:rPr>
              <a:t>RAG 개발자</a:t>
            </a:r>
            <a:endParaRPr lang="en-US" sz="1100" dirty="0"/>
          </a:p>
          <a:p>
            <a:pPr indent="0" marL="0">
              <a:lnSpc>
                <a:spcPts val="1800"/>
              </a:lnSpc>
              <a:buNone/>
            </a:pPr>
            <a:r>
              <a:rPr lang="en-US" sz="1100" dirty="0">
                <a:solidFill>
                  <a:srgbClr val="64748B"/>
                </a:solidFill>
                <a:latin typeface="Malgun Gothic" pitchFamily="34" charset="0"/>
                <a:ea typeface="Malgun Gothic" pitchFamily="34" charset="-122"/>
                <a:cs typeface="Malgun Gothic" pitchFamily="34" charset="-120"/>
              </a:rPr>
              <a:t>경험  </a:t>
            </a:r>
            <a:pPr indent="0" marL="0">
              <a:lnSpc>
                <a:spcPts val="1800"/>
              </a:lnSpc>
              <a:buNone/>
            </a:pPr>
            <a:r>
              <a:rPr lang="en-US" sz="1200" dirty="0">
                <a:solidFill>
                  <a:srgbClr val="15203A"/>
                </a:solidFill>
                <a:latin typeface="Malgun Gothic" pitchFamily="34" charset="0"/>
                <a:ea typeface="Malgun Gothic" pitchFamily="34" charset="-122"/>
                <a:cs typeface="Malgun Gothic" pitchFamily="34" charset="-120"/>
              </a:rPr>
              <a:t>LlamaIndex와 Weaviate로 문서 검색 시스템을 구축하고 cross-encoder reranker를 적용했다.</a:t>
            </a:r>
            <a:endParaRPr lang="en-US" sz="1100" dirty="0"/>
          </a:p>
        </p:txBody>
      </p:sp>
      <p:sp>
        <p:nvSpPr>
          <p:cNvPr id="10" name="Text 7"/>
          <p:cNvSpPr txBox="1"/>
          <p:nvPr/>
        </p:nvSpPr>
        <p:spPr>
          <a:xfrm>
            <a:off x="566928" y="3820729"/>
            <a:ext cx="3931920" cy="318211"/>
          </a:xfrm>
          <a:prstGeom prst="rect">
            <a:avLst/>
          </a:prstGeom>
          <a:noFill/>
          <a:ln/>
        </p:spPr>
        <p:txBody>
          <a:bodyPr wrap="square" lIns="0" tIns="0" rIns="0" bIns="0" rtlCol="0" anchor="ctr"/>
          <a:lstStyle/>
          <a:p>
            <a:pPr indent="0" marL="0">
              <a:buNone/>
            </a:pPr>
            <a:r>
              <a:rPr lang="en-US" sz="1300" b="1" dirty="0">
                <a:solidFill>
                  <a:srgbClr val="15203A"/>
                </a:solidFill>
                <a:latin typeface="Malgun Gothic" pitchFamily="34" charset="0"/>
                <a:ea typeface="Malgun Gothic" pitchFamily="34" charset="-122"/>
                <a:cs typeface="Malgun Gothic" pitchFamily="34" charset="-120"/>
              </a:rPr>
              <a:t>Base Model 출력에서 관찰된 문제</a:t>
            </a:r>
            <a:endParaRPr lang="en-US" sz="1300" dirty="0"/>
          </a:p>
        </p:txBody>
      </p:sp>
      <p:sp>
        <p:nvSpPr>
          <p:cNvPr id="11" name="Shape 8"/>
          <p:cNvSpPr/>
          <p:nvPr/>
        </p:nvSpPr>
        <p:spPr>
          <a:xfrm>
            <a:off x="585216" y="4303349"/>
            <a:ext cx="118872" cy="137892"/>
          </a:xfrm>
          <a:prstGeom prst="ellipse">
            <a:avLst/>
          </a:prstGeom>
          <a:solidFill>
            <a:srgbClr val="C2690B"/>
          </a:solidFill>
          <a:ln w="12700">
            <a:solidFill>
              <a:srgbClr val="C2690B"/>
            </a:solidFill>
            <a:prstDash val="solid"/>
          </a:ln>
        </p:spPr>
      </p:sp>
      <p:sp>
        <p:nvSpPr>
          <p:cNvPr id="12" name="Text 9"/>
          <p:cNvSpPr txBox="1"/>
          <p:nvPr/>
        </p:nvSpPr>
        <p:spPr>
          <a:xfrm>
            <a:off x="804672" y="4245011"/>
            <a:ext cx="3657600" cy="275783"/>
          </a:xfrm>
          <a:prstGeom prst="rect">
            <a:avLst/>
          </a:prstGeom>
          <a:noFill/>
          <a:ln/>
        </p:spPr>
        <p:txBody>
          <a:bodyPr wrap="square" lIns="0" tIns="0" rIns="0" bIns="0" rtlCol="0" anchor="ctr"/>
          <a:lstStyle/>
          <a:p>
            <a:pPr indent="0" marL="0">
              <a:buNone/>
            </a:pPr>
            <a:r>
              <a:rPr lang="en-US" sz="1150" dirty="0">
                <a:solidFill>
                  <a:srgbClr val="35415C"/>
                </a:solidFill>
                <a:latin typeface="Malgun Gothic" pitchFamily="34" charset="0"/>
                <a:ea typeface="Malgun Gothic" pitchFamily="34" charset="-122"/>
                <a:cs typeface="Malgun Gothic" pitchFamily="34" charset="-120"/>
              </a:rPr>
              <a:t>답변이 지나치게 장황함</a:t>
            </a:r>
            <a:endParaRPr lang="en-US" sz="1150" dirty="0"/>
          </a:p>
        </p:txBody>
      </p:sp>
      <p:sp>
        <p:nvSpPr>
          <p:cNvPr id="13" name="Shape 10"/>
          <p:cNvSpPr/>
          <p:nvPr/>
        </p:nvSpPr>
        <p:spPr>
          <a:xfrm>
            <a:off x="585216" y="4653382"/>
            <a:ext cx="118872" cy="137892"/>
          </a:xfrm>
          <a:prstGeom prst="ellipse">
            <a:avLst/>
          </a:prstGeom>
          <a:solidFill>
            <a:srgbClr val="C2690B"/>
          </a:solidFill>
          <a:ln w="12700">
            <a:solidFill>
              <a:srgbClr val="C2690B"/>
            </a:solidFill>
            <a:prstDash val="solid"/>
          </a:ln>
        </p:spPr>
      </p:sp>
      <p:sp>
        <p:nvSpPr>
          <p:cNvPr id="14" name="Text 11"/>
          <p:cNvSpPr txBox="1"/>
          <p:nvPr/>
        </p:nvSpPr>
        <p:spPr>
          <a:xfrm>
            <a:off x="804672" y="4595043"/>
            <a:ext cx="3657600" cy="275783"/>
          </a:xfrm>
          <a:prstGeom prst="rect">
            <a:avLst/>
          </a:prstGeom>
          <a:noFill/>
          <a:ln/>
        </p:spPr>
        <p:txBody>
          <a:bodyPr wrap="square" lIns="0" tIns="0" rIns="0" bIns="0" rtlCol="0" anchor="ctr"/>
          <a:lstStyle/>
          <a:p>
            <a:pPr indent="0" marL="0">
              <a:buNone/>
            </a:pPr>
            <a:r>
              <a:rPr lang="en-US" sz="1150" dirty="0">
                <a:solidFill>
                  <a:srgbClr val="35415C"/>
                </a:solidFill>
                <a:latin typeface="Malgun Gothic" pitchFamily="34" charset="0"/>
                <a:ea typeface="Malgun Gothic" pitchFamily="34" charset="-122"/>
                <a:cs typeface="Malgun Gothic" pitchFamily="34" charset="-120"/>
              </a:rPr>
              <a:t>한글·영어·중국어 표현이 불규칙하게 혼용</a:t>
            </a:r>
            <a:endParaRPr lang="en-US" sz="1150" dirty="0"/>
          </a:p>
        </p:txBody>
      </p:sp>
      <p:sp>
        <p:nvSpPr>
          <p:cNvPr id="15" name="Shape 12"/>
          <p:cNvSpPr/>
          <p:nvPr/>
        </p:nvSpPr>
        <p:spPr>
          <a:xfrm>
            <a:off x="585216" y="5003414"/>
            <a:ext cx="118872" cy="137892"/>
          </a:xfrm>
          <a:prstGeom prst="ellipse">
            <a:avLst/>
          </a:prstGeom>
          <a:solidFill>
            <a:srgbClr val="C2690B"/>
          </a:solidFill>
          <a:ln w="12700">
            <a:solidFill>
              <a:srgbClr val="C2690B"/>
            </a:solidFill>
            <a:prstDash val="solid"/>
          </a:ln>
        </p:spPr>
      </p:sp>
      <p:sp>
        <p:nvSpPr>
          <p:cNvPr id="16" name="Text 13"/>
          <p:cNvSpPr txBox="1"/>
          <p:nvPr/>
        </p:nvSpPr>
        <p:spPr>
          <a:xfrm>
            <a:off x="804672" y="4945075"/>
            <a:ext cx="3657600" cy="275783"/>
          </a:xfrm>
          <a:prstGeom prst="rect">
            <a:avLst/>
          </a:prstGeom>
          <a:noFill/>
          <a:ln/>
        </p:spPr>
        <p:txBody>
          <a:bodyPr wrap="square" lIns="0" tIns="0" rIns="0" bIns="0" rtlCol="0" anchor="ctr"/>
          <a:lstStyle/>
          <a:p>
            <a:pPr indent="0" marL="0">
              <a:buNone/>
            </a:pPr>
            <a:r>
              <a:rPr lang="en-US" sz="1150" dirty="0">
                <a:solidFill>
                  <a:srgbClr val="35415C"/>
                </a:solidFill>
                <a:latin typeface="Malgun Gothic" pitchFamily="34" charset="0"/>
                <a:ea typeface="Malgun Gothic" pitchFamily="34" charset="-122"/>
                <a:cs typeface="Malgun Gothic" pitchFamily="34" charset="-120"/>
              </a:rPr>
              <a:t>경험과 직접 연결되지 않는 일반 질문 생성</a:t>
            </a:r>
            <a:endParaRPr lang="en-US" sz="1150" dirty="0"/>
          </a:p>
        </p:txBody>
      </p:sp>
      <p:sp>
        <p:nvSpPr>
          <p:cNvPr id="17" name="Shape 14"/>
          <p:cNvSpPr/>
          <p:nvPr/>
        </p:nvSpPr>
        <p:spPr>
          <a:xfrm>
            <a:off x="585216" y="5353446"/>
            <a:ext cx="118872" cy="137892"/>
          </a:xfrm>
          <a:prstGeom prst="ellipse">
            <a:avLst/>
          </a:prstGeom>
          <a:solidFill>
            <a:srgbClr val="C2690B"/>
          </a:solidFill>
          <a:ln w="12700">
            <a:solidFill>
              <a:srgbClr val="C2690B"/>
            </a:solidFill>
            <a:prstDash val="solid"/>
          </a:ln>
        </p:spPr>
      </p:sp>
      <p:sp>
        <p:nvSpPr>
          <p:cNvPr id="18" name="Text 15"/>
          <p:cNvSpPr txBox="1"/>
          <p:nvPr/>
        </p:nvSpPr>
        <p:spPr>
          <a:xfrm>
            <a:off x="804672" y="5295108"/>
            <a:ext cx="3657600" cy="275783"/>
          </a:xfrm>
          <a:prstGeom prst="rect">
            <a:avLst/>
          </a:prstGeom>
          <a:noFill/>
          <a:ln/>
        </p:spPr>
        <p:txBody>
          <a:bodyPr wrap="square" lIns="0" tIns="0" rIns="0" bIns="0" rtlCol="0" anchor="ctr"/>
          <a:lstStyle/>
          <a:p>
            <a:pPr indent="0" marL="0">
              <a:buNone/>
            </a:pPr>
            <a:r>
              <a:rPr lang="en-US" sz="1150" dirty="0">
                <a:solidFill>
                  <a:srgbClr val="35415C"/>
                </a:solidFill>
                <a:latin typeface="Malgun Gothic" pitchFamily="34" charset="0"/>
                <a:ea typeface="Malgun Gothic" pitchFamily="34" charset="-122"/>
                <a:cs typeface="Malgun Gothic" pitchFamily="34" charset="-120"/>
              </a:rPr>
              <a:t>질문 외 해설·예시답변 등 부가 문장 포함</a:t>
            </a:r>
            <a:endParaRPr lang="en-US" sz="1150" dirty="0"/>
          </a:p>
        </p:txBody>
      </p:sp>
      <p:sp>
        <p:nvSpPr>
          <p:cNvPr id="19" name="Shape 16"/>
          <p:cNvSpPr/>
          <p:nvPr/>
        </p:nvSpPr>
        <p:spPr>
          <a:xfrm>
            <a:off x="585216" y="5703479"/>
            <a:ext cx="118872" cy="137892"/>
          </a:xfrm>
          <a:prstGeom prst="ellipse">
            <a:avLst/>
          </a:prstGeom>
          <a:solidFill>
            <a:srgbClr val="C2690B"/>
          </a:solidFill>
          <a:ln w="12700">
            <a:solidFill>
              <a:srgbClr val="C2690B"/>
            </a:solidFill>
            <a:prstDash val="solid"/>
          </a:ln>
        </p:spPr>
      </p:sp>
      <p:sp>
        <p:nvSpPr>
          <p:cNvPr id="20" name="Text 17"/>
          <p:cNvSpPr txBox="1"/>
          <p:nvPr/>
        </p:nvSpPr>
        <p:spPr>
          <a:xfrm>
            <a:off x="804672" y="5645140"/>
            <a:ext cx="3657600" cy="275783"/>
          </a:xfrm>
          <a:prstGeom prst="rect">
            <a:avLst/>
          </a:prstGeom>
          <a:noFill/>
          <a:ln/>
        </p:spPr>
        <p:txBody>
          <a:bodyPr wrap="square" lIns="0" tIns="0" rIns="0" bIns="0" rtlCol="0" anchor="ctr"/>
          <a:lstStyle/>
          <a:p>
            <a:pPr indent="0" marL="0">
              <a:buNone/>
            </a:pPr>
            <a:r>
              <a:rPr lang="en-US" sz="1150" dirty="0">
                <a:solidFill>
                  <a:srgbClr val="35415C"/>
                </a:solidFill>
                <a:latin typeface="Malgun Gothic" pitchFamily="34" charset="0"/>
                <a:ea typeface="Malgun Gothic" pitchFamily="34" charset="-122"/>
                <a:cs typeface="Malgun Gothic" pitchFamily="34" charset="-120"/>
              </a:rPr>
              <a:t>‘질문 3개’ 형식을 안정적으로 지키지 못함</a:t>
            </a:r>
            <a:endParaRPr lang="en-US" sz="1150" dirty="0"/>
          </a:p>
        </p:txBody>
      </p:sp>
      <p:sp>
        <p:nvSpPr>
          <p:cNvPr id="21" name="Shape 18"/>
          <p:cNvSpPr/>
          <p:nvPr/>
        </p:nvSpPr>
        <p:spPr>
          <a:xfrm>
            <a:off x="4864608" y="1869034"/>
            <a:ext cx="3246120" cy="4221602"/>
          </a:xfrm>
          <a:prstGeom prst="roundRect">
            <a:avLst>
              <a:gd name="adj" fmla="val 1690"/>
            </a:avLst>
          </a:prstGeom>
          <a:solidFill>
            <a:srgbClr val="FAFBFD"/>
          </a:solidFill>
          <a:ln w="12700">
            <a:solidFill>
              <a:srgbClr val="D8E0EC"/>
            </a:solidFill>
            <a:prstDash val="solid"/>
          </a:ln>
        </p:spPr>
      </p:sp>
      <p:sp>
        <p:nvSpPr>
          <p:cNvPr id="22" name="Text 19"/>
          <p:cNvSpPr txBox="1"/>
          <p:nvPr/>
        </p:nvSpPr>
        <p:spPr>
          <a:xfrm>
            <a:off x="5065776" y="2017532"/>
            <a:ext cx="2926080" cy="254569"/>
          </a:xfrm>
          <a:prstGeom prst="rect">
            <a:avLst/>
          </a:prstGeom>
          <a:noFill/>
          <a:ln/>
        </p:spPr>
        <p:txBody>
          <a:bodyPr wrap="square" lIns="0" tIns="0" rIns="0" bIns="0" rtlCol="0" anchor="ctr"/>
          <a:lstStyle/>
          <a:p>
            <a:pPr indent="0" marL="0">
              <a:buNone/>
            </a:pPr>
            <a:r>
              <a:rPr lang="en-US" sz="950" b="1" spc="100" kern="0" dirty="0">
                <a:solidFill>
                  <a:srgbClr val="64748B"/>
                </a:solidFill>
                <a:latin typeface="Malgun Gothic" pitchFamily="34" charset="0"/>
                <a:ea typeface="Malgun Gothic" pitchFamily="34" charset="-122"/>
                <a:cs typeface="Malgun Gothic" pitchFamily="34" charset="-120"/>
              </a:rPr>
              <a:t>BEFORE  ·  실제 생성 결과 발췌</a:t>
            </a:r>
            <a:endParaRPr lang="en-US" sz="950" dirty="0"/>
          </a:p>
        </p:txBody>
      </p:sp>
      <p:sp>
        <p:nvSpPr>
          <p:cNvPr id="23" name="Text 20"/>
          <p:cNvSpPr txBox="1"/>
          <p:nvPr/>
        </p:nvSpPr>
        <p:spPr>
          <a:xfrm>
            <a:off x="5065776" y="2356957"/>
            <a:ext cx="2880360" cy="3627608"/>
          </a:xfrm>
          <a:prstGeom prst="rect">
            <a:avLst/>
          </a:prstGeom>
          <a:noFill/>
          <a:ln/>
        </p:spPr>
        <p:txBody>
          <a:bodyPr wrap="square" lIns="0" tIns="0" rIns="0" bIns="0" rtlCol="0" anchor="ctr"/>
          <a:lstStyle/>
          <a:p>
            <a:pPr indent="0" marL="0">
              <a:lnSpc>
                <a:spcPts val="1500"/>
              </a:lnSpc>
              <a:buNone/>
            </a:pPr>
            <a:r>
              <a:rPr lang="en-US" sz="1000" dirty="0">
                <a:solidFill>
                  <a:srgbClr val="4A5670"/>
                </a:solidFill>
                <a:latin typeface="Malgun Gothic" pitchFamily="34" charset="0"/>
                <a:ea typeface="Malgun Gothic" pitchFamily="34" charset="-122"/>
                <a:cs typeface="Malgun Gothic" pitchFamily="34" charset="-120"/>
              </a:rPr>
              <a:t>다음은 </a:t>
            </a:r>
            <a:pPr indent="0" marL="0">
              <a:lnSpc>
                <a:spcPts val="1500"/>
              </a:lnSpc>
              <a:buNone/>
            </a:pPr>
            <a:r>
              <a:rPr lang="en-US" sz="1000" b="1" dirty="0">
                <a:solidFill>
                  <a:srgbClr val="B4241A"/>
                </a:solidFill>
                <a:latin typeface="Malgun Gothic" pitchFamily="34" charset="0"/>
                <a:ea typeface="Malgun Gothic" pitchFamily="34" charset="-122"/>
                <a:cs typeface="Malgun Gothic" pitchFamily="34" charset="-120"/>
              </a:rPr>
              <a:t>RAG(Relevant Article Generation)</a:t>
            </a:r>
            <a:pPr indent="0" marL="0">
              <a:lnSpc>
                <a:spcPts val="1500"/>
              </a:lnSpc>
              <a:buNone/>
            </a:pPr>
            <a:r>
              <a:rPr lang="en-US" sz="1000" dirty="0">
                <a:solidFill>
                  <a:srgbClr val="4A5670"/>
                </a:solidFill>
                <a:latin typeface="Malgun Gothic" pitchFamily="34" charset="0"/>
                <a:ea typeface="Malgun Gothic" pitchFamily="34" charset="-122"/>
                <a:cs typeface="Malgun Gothic" pitchFamily="34" charset="-120"/>
              </a:rPr>
              <a:t> 개발자가 갖는 … 심층 기술</a:t>
            </a:r>
            <a:pPr indent="0" marL="0">
              <a:lnSpc>
                <a:spcPts val="1500"/>
              </a:lnSpc>
              <a:buNone/>
            </a:pPr>
            <a:r>
              <a:rPr lang="en-US" sz="1000" b="1" dirty="0">
                <a:solidFill>
                  <a:srgbClr val="B4241A"/>
                </a:solidFill>
                <a:latin typeface="Malgun Gothic" pitchFamily="34" charset="0"/>
                <a:ea typeface="Malgun Gothic" pitchFamily="34" charset="-122"/>
                <a:cs typeface="Malgun Gothic" pitchFamily="34" charset="-120"/>
              </a:rPr>
              <a:t>퀄리티</a:t>
            </a:r>
            <a:pPr indent="0" marL="0">
              <a:lnSpc>
                <a:spcPts val="1500"/>
              </a:lnSpc>
              <a:buNone/>
            </a:pPr>
            <a:r>
              <a:rPr lang="en-US" sz="1000" dirty="0">
                <a:solidFill>
                  <a:srgbClr val="4A5670"/>
                </a:solidFill>
                <a:latin typeface="Malgun Gothic" pitchFamily="34" charset="0"/>
                <a:ea typeface="Malgun Gothic" pitchFamily="34" charset="-122"/>
                <a:cs typeface="Malgun Gothic" pitchFamily="34" charset="-120"/>
              </a:rPr>
              <a:t> 면접 질문 3가지입니다.</a:t>
            </a:r>
            <a:endParaRPr lang="en-US" sz="1000" dirty="0"/>
          </a:p>
          <a:p>
            <a:pPr indent="0" marL="0">
              <a:lnSpc>
                <a:spcPts val="1500"/>
              </a:lnSpc>
              <a:buNone/>
            </a:pPr>
            <a:endParaRPr lang="en-US" sz="1000" dirty="0"/>
          </a:p>
          <a:p>
            <a:pPr indent="0" marL="0">
              <a:lnSpc>
                <a:spcPts val="1500"/>
              </a:lnSpc>
              <a:buNone/>
            </a:pPr>
            <a:r>
              <a:rPr lang="en-US" sz="1000" dirty="0">
                <a:solidFill>
                  <a:srgbClr val="4A5670"/>
                </a:solidFill>
                <a:latin typeface="Malgun Gothic" pitchFamily="34" charset="0"/>
                <a:ea typeface="Malgun Gothic" pitchFamily="34" charset="-122"/>
                <a:cs typeface="Malgun Gothic" pitchFamily="34" charset="-120"/>
              </a:rPr>
              <a:t>🧠 1. 문서 검색 및 레이어링 기술의 응용 사례</a:t>
            </a:r>
            <a:endParaRPr lang="en-US" sz="1000" dirty="0"/>
          </a:p>
          <a:p>
            <a:pPr indent="0" marL="0">
              <a:lnSpc>
                <a:spcPts val="1500"/>
              </a:lnSpc>
              <a:buNone/>
            </a:pPr>
            <a:r>
              <a:rPr lang="en-US" sz="1000" dirty="0">
                <a:solidFill>
                  <a:srgbClr val="4A5670"/>
                </a:solidFill>
                <a:latin typeface="Malgun Gothic" pitchFamily="34" charset="0"/>
                <a:ea typeface="Malgun Gothic" pitchFamily="34" charset="-122"/>
                <a:cs typeface="Malgun Gothic" pitchFamily="34" charset="-120"/>
              </a:rPr>
              <a:t>LlamaIndex를 사용하여 문서 검</a:t>
            </a:r>
            <a:pPr indent="0" marL="0">
              <a:lnSpc>
                <a:spcPts val="1500"/>
              </a:lnSpc>
              <a:buNone/>
            </a:pPr>
            <a:r>
              <a:rPr lang="en-US" sz="1000" b="1" dirty="0">
                <a:solidFill>
                  <a:srgbClr val="B4241A"/>
                </a:solidFill>
                <a:latin typeface="Malgun Gothic" pitchFamily="34" charset="0"/>
                <a:ea typeface="Malgun Gothic" pitchFamily="34" charset="-122"/>
                <a:cs typeface="Malgun Gothic" pitchFamily="34" charset="-120"/>
              </a:rPr>
              <a:t>索</a:t>
            </a:r>
            <a:pPr indent="0" marL="0">
              <a:lnSpc>
                <a:spcPts val="1500"/>
              </a:lnSpc>
              <a:buNone/>
            </a:pPr>
            <a:r>
              <a:rPr lang="en-US" sz="1000" dirty="0">
                <a:solidFill>
                  <a:srgbClr val="4A5670"/>
                </a:solidFill>
                <a:latin typeface="Malgun Gothic" pitchFamily="34" charset="0"/>
                <a:ea typeface="Malgun Gothic" pitchFamily="34" charset="-122"/>
                <a:cs typeface="Malgun Gothic" pitchFamily="34" charset="-120"/>
              </a:rPr>
              <a:t> 시스 </a:t>
            </a:r>
            <a:pPr indent="0" marL="0">
              <a:lnSpc>
                <a:spcPts val="1500"/>
              </a:lnSpc>
              <a:buNone/>
            </a:pPr>
            <a:r>
              <a:rPr lang="en-US" sz="1000" b="1" dirty="0">
                <a:solidFill>
                  <a:srgbClr val="B4241A"/>
                </a:solidFill>
                <a:latin typeface="Malgun Gothic" pitchFamily="34" charset="0"/>
                <a:ea typeface="Malgun Gothic" pitchFamily="34" charset="-122"/>
                <a:cs typeface="Malgun Gothic" pitchFamily="34" charset="-120"/>
              </a:rPr>
              <a:t>tem</a:t>
            </a:r>
            <a:pPr indent="0" marL="0">
              <a:lnSpc>
                <a:spcPts val="1500"/>
              </a:lnSpc>
              <a:buNone/>
            </a:pPr>
            <a:r>
              <a:rPr lang="en-US" sz="1000" dirty="0">
                <a:solidFill>
                  <a:srgbClr val="4A5670"/>
                </a:solidFill>
                <a:latin typeface="Malgun Gothic" pitchFamily="34" charset="0"/>
                <a:ea typeface="Malgun Gothic" pitchFamily="34" charset="-122"/>
                <a:cs typeface="Malgun Gothic" pitchFamily="34" charset="-120"/>
              </a:rPr>
              <a:t>을 구현했을 때 …</a:t>
            </a:r>
            <a:endParaRPr lang="en-US" sz="1000" dirty="0"/>
          </a:p>
          <a:p>
            <a:pPr indent="0" marL="0">
              <a:lnSpc>
                <a:spcPts val="1500"/>
              </a:lnSpc>
              <a:buNone/>
            </a:pPr>
            <a:endParaRPr lang="en-US" sz="1000" dirty="0"/>
          </a:p>
          <a:p>
            <a:pPr indent="0" marL="0">
              <a:lnSpc>
                <a:spcPts val="1500"/>
              </a:lnSpc>
              <a:buNone/>
            </a:pPr>
            <a:r>
              <a:rPr lang="en-US" sz="1000" dirty="0">
                <a:solidFill>
                  <a:srgbClr val="4A5670"/>
                </a:solidFill>
                <a:latin typeface="Malgun Gothic" pitchFamily="34" charset="0"/>
                <a:ea typeface="Malgun Gothic" pitchFamily="34" charset="-122"/>
                <a:cs typeface="Malgun Gothic" pitchFamily="34" charset="-120"/>
              </a:rPr>
              <a:t>검증 포인트:</a:t>
            </a:r>
            <a:endParaRPr lang="en-US" sz="1000" dirty="0"/>
          </a:p>
          <a:p>
            <a:pPr indent="0" marL="0">
              <a:lnSpc>
                <a:spcPts val="1500"/>
              </a:lnSpc>
              <a:buNone/>
            </a:pPr>
            <a:r>
              <a:rPr lang="en-US" sz="1000" dirty="0">
                <a:solidFill>
                  <a:srgbClr val="4A5670"/>
                </a:solidFill>
                <a:latin typeface="Malgun Gothic" pitchFamily="34" charset="0"/>
                <a:ea typeface="Malgun Gothic" pitchFamily="34" charset="-122"/>
                <a:cs typeface="Malgun Gothic" pitchFamily="34" charset="-120"/>
              </a:rPr>
              <a:t>– 문서 검토 및 관련성 판단 방법</a:t>
            </a:r>
            <a:endParaRPr lang="en-US" sz="1000" dirty="0"/>
          </a:p>
          <a:p>
            <a:pPr indent="0" marL="0">
              <a:lnSpc>
                <a:spcPts val="1500"/>
              </a:lnSpc>
              <a:buNone/>
            </a:pPr>
            <a:r>
              <a:rPr lang="en-US" sz="1000" dirty="0">
                <a:solidFill>
                  <a:srgbClr val="4A5670"/>
                </a:solidFill>
                <a:latin typeface="Malgun Gothic" pitchFamily="34" charset="0"/>
                <a:ea typeface="Malgun Gothic" pitchFamily="34" charset="-122"/>
                <a:cs typeface="Malgun Gothic" pitchFamily="34" charset="-120"/>
              </a:rPr>
              <a:t>– 답변 생성 시의 context-awareness …</a:t>
            </a:r>
            <a:endParaRPr lang="en-US" sz="1000" dirty="0"/>
          </a:p>
          <a:p>
            <a:pPr indent="0" marL="0">
              <a:lnSpc>
                <a:spcPts val="1500"/>
              </a:lnSpc>
              <a:buNone/>
            </a:pPr>
            <a:endParaRPr lang="en-US" sz="1000" dirty="0"/>
          </a:p>
          <a:p>
            <a:pPr indent="0" marL="0">
              <a:lnSpc>
                <a:spcPts val="1500"/>
              </a:lnSpc>
              <a:buNone/>
            </a:pPr>
            <a:r>
              <a:rPr lang="en-US" sz="1000" dirty="0">
                <a:solidFill>
                  <a:srgbClr val="4A5670"/>
                </a:solidFill>
                <a:latin typeface="Malgun Gothic" pitchFamily="34" charset="0"/>
                <a:ea typeface="Malgun Gothic" pitchFamily="34" charset="-122"/>
                <a:cs typeface="Malgun Gothic" pitchFamily="34" charset="-120"/>
              </a:rPr>
              <a:t>#### 예시 대답 참고:</a:t>
            </a:r>
            <a:endParaRPr lang="en-US" sz="1000" dirty="0"/>
          </a:p>
          <a:p>
            <a:pPr indent="0" marL="0">
              <a:lnSpc>
                <a:spcPts val="1500"/>
              </a:lnSpc>
              <a:buNone/>
            </a:pPr>
            <a:r>
              <a:rPr lang="en-US" sz="1000" dirty="0">
                <a:solidFill>
                  <a:srgbClr val="4A5670"/>
                </a:solidFill>
                <a:latin typeface="Malgun Gothic" pitchFamily="34" charset="0"/>
                <a:ea typeface="Malgun Gothic" pitchFamily="34" charset="-122"/>
                <a:cs typeface="Malgun Gothic" pitchFamily="34" charset="-120"/>
              </a:rPr>
              <a:t>cross-encoding reranker는 원래의 검사 결과를 재정렬하여 …</a:t>
            </a:r>
            <a:endParaRPr lang="en-US" sz="1000" dirty="0"/>
          </a:p>
        </p:txBody>
      </p:sp>
      <p:sp>
        <p:nvSpPr>
          <p:cNvPr id="24" name="Shape 21"/>
          <p:cNvSpPr/>
          <p:nvPr/>
        </p:nvSpPr>
        <p:spPr>
          <a:xfrm>
            <a:off x="8321040" y="1869034"/>
            <a:ext cx="3291840" cy="2460833"/>
          </a:xfrm>
          <a:prstGeom prst="roundRect">
            <a:avLst>
              <a:gd name="adj" fmla="val 2229"/>
            </a:avLst>
          </a:prstGeom>
          <a:solidFill>
            <a:srgbClr val="0E1A33"/>
          </a:solidFill>
          <a:ln w="12700">
            <a:solidFill>
              <a:srgbClr val="0E1A33"/>
            </a:solidFill>
            <a:prstDash val="solid"/>
          </a:ln>
        </p:spPr>
      </p:sp>
      <p:sp>
        <p:nvSpPr>
          <p:cNvPr id="25" name="Text 22"/>
          <p:cNvSpPr txBox="1"/>
          <p:nvPr/>
        </p:nvSpPr>
        <p:spPr>
          <a:xfrm>
            <a:off x="8522208" y="2059960"/>
            <a:ext cx="2834640" cy="318211"/>
          </a:xfrm>
          <a:prstGeom prst="rect">
            <a:avLst/>
          </a:prstGeom>
          <a:noFill/>
          <a:ln/>
        </p:spPr>
        <p:txBody>
          <a:bodyPr wrap="square" lIns="0" tIns="0" rIns="0" bIns="0" rtlCol="0" anchor="ctr"/>
          <a:lstStyle/>
          <a:p>
            <a:pPr indent="0" marL="0">
              <a:buNone/>
            </a:pPr>
            <a:r>
              <a:rPr lang="en-US" sz="1100" b="1" spc="100" kern="0" dirty="0">
                <a:solidFill>
                  <a:srgbClr val="6FA8FF"/>
                </a:solidFill>
                <a:latin typeface="Malgun Gothic" pitchFamily="34" charset="0"/>
                <a:ea typeface="Malgun Gothic" pitchFamily="34" charset="-122"/>
                <a:cs typeface="Malgun Gothic" pitchFamily="34" charset="-120"/>
              </a:rPr>
              <a:t>문제 정의</a:t>
            </a:r>
            <a:endParaRPr lang="en-US" sz="1100" dirty="0"/>
          </a:p>
        </p:txBody>
      </p:sp>
      <p:sp>
        <p:nvSpPr>
          <p:cNvPr id="26" name="Text 23"/>
          <p:cNvSpPr txBox="1"/>
          <p:nvPr/>
        </p:nvSpPr>
        <p:spPr>
          <a:xfrm>
            <a:off x="8522208" y="2441814"/>
            <a:ext cx="2889504" cy="1718340"/>
          </a:xfrm>
          <a:prstGeom prst="rect">
            <a:avLst/>
          </a:prstGeom>
          <a:noFill/>
          <a:ln/>
        </p:spPr>
        <p:txBody>
          <a:bodyPr wrap="square" lIns="0" tIns="0" rIns="0" bIns="0" rtlCol="0" anchor="ctr"/>
          <a:lstStyle/>
          <a:p>
            <a:pPr indent="0" marL="0">
              <a:lnSpc>
                <a:spcPts val="2200"/>
              </a:lnSpc>
              <a:buNone/>
            </a:pPr>
            <a:r>
              <a:rPr lang="en-US" sz="1350" b="1" dirty="0">
                <a:solidFill>
                  <a:srgbClr val="FFFFFF"/>
                </a:solidFill>
                <a:latin typeface="Malgun Gothic" pitchFamily="34" charset="0"/>
                <a:ea typeface="Malgun Gothic" pitchFamily="34" charset="-122"/>
                <a:cs typeface="Malgun Gothic" pitchFamily="34" charset="-120"/>
              </a:rPr>
              <a:t>지원자의 직무와 프로젝트 경험을 입력하면, 해당 경험의 실제 역량을 검증할 수 있는 간결하고 구체적인 기술면접 질문 3개를 생성하도록 LLM을 Fine-Tuning한다.</a:t>
            </a:r>
            <a:endParaRPr lang="en-US" sz="1350" dirty="0"/>
          </a:p>
        </p:txBody>
      </p:sp>
      <p:sp>
        <p:nvSpPr>
          <p:cNvPr id="27" name="Shape 24"/>
          <p:cNvSpPr/>
          <p:nvPr/>
        </p:nvSpPr>
        <p:spPr>
          <a:xfrm>
            <a:off x="8321040" y="4499580"/>
            <a:ext cx="3291840" cy="1591056"/>
          </a:xfrm>
          <a:prstGeom prst="roundRect">
            <a:avLst>
              <a:gd name="adj" fmla="val 3448"/>
            </a:avLst>
          </a:prstGeom>
          <a:solidFill>
            <a:srgbClr val="F2F5FA"/>
          </a:solidFill>
          <a:ln w="12700">
            <a:solidFill>
              <a:srgbClr val="F2F5FA"/>
            </a:solidFill>
            <a:prstDash val="solid"/>
          </a:ln>
        </p:spPr>
      </p:sp>
      <p:sp>
        <p:nvSpPr>
          <p:cNvPr id="28" name="Text 25"/>
          <p:cNvSpPr txBox="1"/>
          <p:nvPr/>
        </p:nvSpPr>
        <p:spPr>
          <a:xfrm>
            <a:off x="8522208" y="4711720"/>
            <a:ext cx="2889504" cy="1187988"/>
          </a:xfrm>
          <a:prstGeom prst="rect">
            <a:avLst/>
          </a:prstGeom>
          <a:noFill/>
          <a:ln/>
        </p:spPr>
        <p:txBody>
          <a:bodyPr wrap="square" lIns="0" tIns="0" rIns="0" bIns="0" rtlCol="0" anchor="t"/>
          <a:lstStyle/>
          <a:p>
            <a:pPr indent="0" marL="0">
              <a:lnSpc>
                <a:spcPts val="1900"/>
              </a:lnSpc>
              <a:buNone/>
            </a:pPr>
            <a:r>
              <a:rPr lang="en-US" sz="1150" dirty="0">
                <a:solidFill>
                  <a:srgbClr val="45516D"/>
                </a:solidFill>
                <a:latin typeface="Malgun Gothic" pitchFamily="34" charset="0"/>
                <a:ea typeface="Malgun Gothic" pitchFamily="34" charset="-122"/>
                <a:cs typeface="Malgun Gothic" pitchFamily="34" charset="-120"/>
              </a:rPr>
              <a:t>모르는 지식을 주입하는 문제가 아니라, 이미 아는 모델에게 </a:t>
            </a:r>
            <a:pPr indent="0" marL="0">
              <a:lnSpc>
                <a:spcPts val="1900"/>
              </a:lnSpc>
              <a:buNone/>
            </a:pPr>
            <a:r>
              <a:rPr lang="en-US" sz="1300" b="1" dirty="0">
                <a:solidFill>
                  <a:srgbClr val="2563EB"/>
                </a:solidFill>
                <a:latin typeface="Malgun Gothic" pitchFamily="34" charset="0"/>
                <a:ea typeface="Malgun Gothic" pitchFamily="34" charset="-122"/>
                <a:cs typeface="Malgun Gothic" pitchFamily="34" charset="-120"/>
              </a:rPr>
              <a:t>출력 형식과 관점</a:t>
            </a:r>
            <a:pPr indent="0" marL="0">
              <a:lnSpc>
                <a:spcPts val="1900"/>
              </a:lnSpc>
              <a:buNone/>
            </a:pPr>
            <a:r>
              <a:rPr lang="en-US" sz="1150" dirty="0">
                <a:solidFill>
                  <a:srgbClr val="45516D"/>
                </a:solidFill>
                <a:latin typeface="Malgun Gothic" pitchFamily="34" charset="0"/>
                <a:ea typeface="Malgun Gothic" pitchFamily="34" charset="-122"/>
                <a:cs typeface="Malgun Gothic" pitchFamily="34" charset="-120"/>
              </a:rPr>
              <a:t>을 정렬시키는 문제다.</a:t>
            </a:r>
            <a:endParaRPr lang="en-US" sz="1150" dirty="0"/>
          </a:p>
        </p:txBody>
      </p:sp>
      <p:sp>
        <p:nvSpPr>
          <p:cNvPr id="29" name="Text 26"/>
          <p:cNvSpPr txBox="1"/>
          <p:nvPr/>
        </p:nvSpPr>
        <p:spPr>
          <a:xfrm>
            <a:off x="11277295" y="6355080"/>
            <a:ext cx="457200" cy="274320"/>
          </a:xfrm>
          <a:prstGeom prst="rect">
            <a:avLst/>
          </a:prstGeom>
          <a:noFill/>
          <a:ln/>
        </p:spPr>
        <p:txBody>
          <a:bodyPr wrap="square" lIns="0" tIns="0" rIns="0" bIns="0" rtlCol="0" anchor="ctr"/>
          <a:lstStyle/>
          <a:p>
            <a:pPr algn="r" indent="0" marL="0">
              <a:buNone/>
            </a:pPr>
            <a:r>
              <a:rPr lang="en-US" sz="1000" dirty="0">
                <a:solidFill>
                  <a:srgbClr val="9AA6BC"/>
                </a:solidFill>
                <a:latin typeface="Malgun Gothic" pitchFamily="34" charset="0"/>
                <a:ea typeface="Malgun Gothic" pitchFamily="34" charset="-122"/>
                <a:cs typeface="Malgun Gothic"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66928" y="384048"/>
            <a:ext cx="1792224" cy="318211"/>
          </a:xfrm>
          <a:prstGeom prst="roundRect">
            <a:avLst>
              <a:gd name="adj" fmla="val 43103"/>
            </a:avLst>
          </a:prstGeom>
          <a:solidFill>
            <a:srgbClr val="E4EDFE"/>
          </a:solidFill>
          <a:ln w="12700">
            <a:solidFill>
              <a:srgbClr val="E4EDFE"/>
            </a:solidFill>
            <a:prstDash val="solid"/>
          </a:ln>
        </p:spPr>
      </p:sp>
      <p:sp>
        <p:nvSpPr>
          <p:cNvPr id="4" name="Text 1"/>
          <p:cNvSpPr txBox="1"/>
          <p:nvPr/>
        </p:nvSpPr>
        <p:spPr>
          <a:xfrm>
            <a:off x="566928" y="384048"/>
            <a:ext cx="1792224" cy="318211"/>
          </a:xfrm>
          <a:prstGeom prst="rect">
            <a:avLst/>
          </a:prstGeom>
          <a:noFill/>
          <a:ln/>
        </p:spPr>
        <p:txBody>
          <a:bodyPr wrap="square" lIns="0" tIns="0" rIns="0" bIns="0" rtlCol="0" anchor="ctr"/>
          <a:lstStyle/>
          <a:p>
            <a:pPr algn="ctr" indent="0" marL="0">
              <a:buNone/>
            </a:pPr>
            <a:r>
              <a:rPr lang="en-US" sz="1050" b="1" spc="60" kern="0" dirty="0">
                <a:solidFill>
                  <a:srgbClr val="1D4ED8"/>
                </a:solidFill>
                <a:latin typeface="Malgun Gothic" pitchFamily="34" charset="0"/>
                <a:ea typeface="Malgun Gothic" pitchFamily="34" charset="-122"/>
                <a:cs typeface="Malgun Gothic" pitchFamily="34" charset="-120"/>
              </a:rPr>
              <a:t>02  REQUIREMENTS</a:t>
            </a:r>
            <a:endParaRPr lang="en-US" sz="1050" dirty="0"/>
          </a:p>
        </p:txBody>
      </p:sp>
      <p:sp>
        <p:nvSpPr>
          <p:cNvPr id="5" name="Text 2"/>
          <p:cNvSpPr txBox="1"/>
          <p:nvPr/>
        </p:nvSpPr>
        <p:spPr>
          <a:xfrm>
            <a:off x="566928" y="765901"/>
            <a:ext cx="11057839" cy="593994"/>
          </a:xfrm>
          <a:prstGeom prst="rect">
            <a:avLst/>
          </a:prstGeom>
          <a:noFill/>
          <a:ln/>
        </p:spPr>
        <p:txBody>
          <a:bodyPr wrap="square" lIns="0" tIns="0" rIns="0" bIns="0" rtlCol="0" anchor="ctr"/>
          <a:lstStyle/>
          <a:p>
            <a:pPr indent="0" marL="0">
              <a:buNone/>
            </a:pPr>
            <a:r>
              <a:rPr lang="en-US" sz="3000" b="1" dirty="0">
                <a:solidFill>
                  <a:srgbClr val="15203A"/>
                </a:solidFill>
                <a:latin typeface="Malgun Gothic" pitchFamily="34" charset="0"/>
                <a:ea typeface="Malgun Gothic" pitchFamily="34" charset="-122"/>
                <a:cs typeface="Malgun Gothic" pitchFamily="34" charset="-120"/>
              </a:rPr>
              <a:t>요구사항 정의</a:t>
            </a:r>
            <a:endParaRPr lang="en-US" sz="3000" dirty="0"/>
          </a:p>
        </p:txBody>
      </p:sp>
      <p:sp>
        <p:nvSpPr>
          <p:cNvPr id="6" name="Text 3"/>
          <p:cNvSpPr txBox="1"/>
          <p:nvPr/>
        </p:nvSpPr>
        <p:spPr>
          <a:xfrm>
            <a:off x="566928" y="1349289"/>
            <a:ext cx="11057839" cy="339425"/>
          </a:xfrm>
          <a:prstGeom prst="rect">
            <a:avLst/>
          </a:prstGeom>
          <a:noFill/>
          <a:ln/>
        </p:spPr>
        <p:txBody>
          <a:bodyPr wrap="square" lIns="0" tIns="0" rIns="0" bIns="0" rtlCol="0" anchor="t"/>
          <a:lstStyle/>
          <a:p>
            <a:pPr indent="0" marL="0">
              <a:buNone/>
            </a:pPr>
            <a:r>
              <a:rPr lang="en-US" sz="1300" dirty="0">
                <a:solidFill>
                  <a:srgbClr val="64748B"/>
                </a:solidFill>
                <a:latin typeface="Malgun Gothic" pitchFamily="34" charset="0"/>
                <a:ea typeface="Malgun Gothic" pitchFamily="34" charset="-122"/>
                <a:cs typeface="Malgun Gothic" pitchFamily="34" charset="-120"/>
              </a:rPr>
              <a:t>기능 요구사항과 모델 요구사항을 분리해 설계 기준을 고정한다</a:t>
            </a:r>
            <a:endParaRPr lang="en-US" sz="1300" dirty="0"/>
          </a:p>
        </p:txBody>
      </p:sp>
      <p:sp>
        <p:nvSpPr>
          <p:cNvPr id="7" name="Shape 4"/>
          <p:cNvSpPr/>
          <p:nvPr/>
        </p:nvSpPr>
        <p:spPr>
          <a:xfrm>
            <a:off x="566928" y="1932676"/>
            <a:ext cx="3246120" cy="1357701"/>
          </a:xfrm>
          <a:prstGeom prst="roundRect">
            <a:avLst>
              <a:gd name="adj" fmla="val 4041"/>
            </a:avLst>
          </a:prstGeom>
          <a:solidFill>
            <a:srgbClr val="F2F5FA"/>
          </a:solidFill>
          <a:ln w="12700">
            <a:solidFill>
              <a:srgbClr val="D8E0EC"/>
            </a:solidFill>
            <a:prstDash val="solid"/>
          </a:ln>
        </p:spPr>
      </p:sp>
      <p:sp>
        <p:nvSpPr>
          <p:cNvPr id="8" name="Text 5"/>
          <p:cNvSpPr txBox="1"/>
          <p:nvPr/>
        </p:nvSpPr>
        <p:spPr>
          <a:xfrm>
            <a:off x="566928" y="2081174"/>
            <a:ext cx="3246120" cy="254569"/>
          </a:xfrm>
          <a:prstGeom prst="rect">
            <a:avLst/>
          </a:prstGeom>
          <a:noFill/>
          <a:ln/>
        </p:spPr>
        <p:txBody>
          <a:bodyPr wrap="square" lIns="0" tIns="0" rIns="0" bIns="0" rtlCol="0" anchor="ctr"/>
          <a:lstStyle/>
          <a:p>
            <a:pPr algn="ctr" indent="0" marL="0">
              <a:buNone/>
            </a:pPr>
            <a:r>
              <a:rPr lang="en-US" sz="950" b="1" spc="120" kern="0" dirty="0">
                <a:solidFill>
                  <a:srgbClr val="64748B"/>
                </a:solidFill>
                <a:latin typeface="Malgun Gothic" pitchFamily="34" charset="0"/>
                <a:ea typeface="Malgun Gothic" pitchFamily="34" charset="-122"/>
                <a:cs typeface="Malgun Gothic" pitchFamily="34" charset="-120"/>
              </a:rPr>
              <a:t>INPUT</a:t>
            </a:r>
            <a:endParaRPr lang="en-US" sz="950" dirty="0"/>
          </a:p>
        </p:txBody>
      </p:sp>
      <p:sp>
        <p:nvSpPr>
          <p:cNvPr id="9" name="Text 6"/>
          <p:cNvSpPr txBox="1"/>
          <p:nvPr/>
        </p:nvSpPr>
        <p:spPr>
          <a:xfrm>
            <a:off x="566928" y="2399386"/>
            <a:ext cx="3246120" cy="318211"/>
          </a:xfrm>
          <a:prstGeom prst="rect">
            <a:avLst/>
          </a:prstGeom>
          <a:noFill/>
          <a:ln/>
        </p:spPr>
        <p:txBody>
          <a:bodyPr wrap="square" lIns="0" tIns="0" rIns="0" bIns="0" rtlCol="0" anchor="ctr"/>
          <a:lstStyle/>
          <a:p>
            <a:pPr algn="ctr" indent="0" marL="0">
              <a:buNone/>
            </a:pPr>
            <a:r>
              <a:rPr lang="en-US" sz="1500" b="1" dirty="0">
                <a:solidFill>
                  <a:srgbClr val="15203A"/>
                </a:solidFill>
                <a:latin typeface="Malgun Gothic" pitchFamily="34" charset="0"/>
                <a:ea typeface="Malgun Gothic" pitchFamily="34" charset="-122"/>
                <a:cs typeface="Malgun Gothic" pitchFamily="34" charset="-120"/>
              </a:rPr>
              <a:t>지원 직무</a:t>
            </a:r>
            <a:endParaRPr lang="en-US" sz="1500" dirty="0"/>
          </a:p>
        </p:txBody>
      </p:sp>
      <p:sp>
        <p:nvSpPr>
          <p:cNvPr id="10" name="Text 7"/>
          <p:cNvSpPr txBox="1"/>
          <p:nvPr/>
        </p:nvSpPr>
        <p:spPr>
          <a:xfrm>
            <a:off x="566928" y="2728204"/>
            <a:ext cx="3246120" cy="318211"/>
          </a:xfrm>
          <a:prstGeom prst="rect">
            <a:avLst/>
          </a:prstGeom>
          <a:noFill/>
          <a:ln/>
        </p:spPr>
        <p:txBody>
          <a:bodyPr wrap="square" lIns="0" tIns="0" rIns="0" bIns="0" rtlCol="0" anchor="ctr"/>
          <a:lstStyle/>
          <a:p>
            <a:pPr algn="ctr" indent="0" marL="0">
              <a:buNone/>
            </a:pPr>
            <a:r>
              <a:rPr lang="en-US" sz="1150" dirty="0">
                <a:solidFill>
                  <a:srgbClr val="64748B"/>
                </a:solidFill>
                <a:latin typeface="Malgun Gothic" pitchFamily="34" charset="0"/>
                <a:ea typeface="Malgun Gothic" pitchFamily="34" charset="-122"/>
                <a:cs typeface="Malgun Gothic" pitchFamily="34" charset="-120"/>
              </a:rPr>
              <a:t>프로젝트 · 기술 경험</a:t>
            </a:r>
            <a:endParaRPr lang="en-US" sz="1150" dirty="0"/>
          </a:p>
        </p:txBody>
      </p:sp>
      <p:sp>
        <p:nvSpPr>
          <p:cNvPr id="11" name="Text 8"/>
          <p:cNvSpPr txBox="1"/>
          <p:nvPr/>
        </p:nvSpPr>
        <p:spPr>
          <a:xfrm>
            <a:off x="3813048" y="1932676"/>
            <a:ext cx="484632" cy="1357701"/>
          </a:xfrm>
          <a:prstGeom prst="rect">
            <a:avLst/>
          </a:prstGeom>
          <a:noFill/>
          <a:ln/>
        </p:spPr>
        <p:txBody>
          <a:bodyPr wrap="square" lIns="0" tIns="0" rIns="0" bIns="0" rtlCol="0" anchor="ctr"/>
          <a:lstStyle/>
          <a:p>
            <a:pPr algn="ctr" indent="0" marL="0">
              <a:buNone/>
            </a:pPr>
            <a:r>
              <a:rPr lang="en-US" sz="2000" dirty="0">
                <a:solidFill>
                  <a:srgbClr val="9FB0CC"/>
                </a:solidFill>
                <a:latin typeface="Malgun Gothic" pitchFamily="34" charset="0"/>
                <a:ea typeface="Malgun Gothic" pitchFamily="34" charset="-122"/>
                <a:cs typeface="Malgun Gothic" pitchFamily="34" charset="-120"/>
              </a:rPr>
              <a:t>→</a:t>
            </a:r>
            <a:endParaRPr lang="en-US" sz="2000" dirty="0"/>
          </a:p>
        </p:txBody>
      </p:sp>
      <p:sp>
        <p:nvSpPr>
          <p:cNvPr id="12" name="Shape 9"/>
          <p:cNvSpPr/>
          <p:nvPr/>
        </p:nvSpPr>
        <p:spPr>
          <a:xfrm>
            <a:off x="4297680" y="1932676"/>
            <a:ext cx="3246120" cy="1357701"/>
          </a:xfrm>
          <a:prstGeom prst="roundRect">
            <a:avLst>
              <a:gd name="adj" fmla="val 4041"/>
            </a:avLst>
          </a:prstGeom>
          <a:solidFill>
            <a:srgbClr val="0E1A33"/>
          </a:solidFill>
          <a:ln w="12700">
            <a:solidFill>
              <a:srgbClr val="0E1A33"/>
            </a:solidFill>
            <a:prstDash val="solid"/>
          </a:ln>
        </p:spPr>
      </p:sp>
      <p:sp>
        <p:nvSpPr>
          <p:cNvPr id="13" name="Text 10"/>
          <p:cNvSpPr txBox="1"/>
          <p:nvPr/>
        </p:nvSpPr>
        <p:spPr>
          <a:xfrm>
            <a:off x="4297680" y="2081174"/>
            <a:ext cx="3246120" cy="254569"/>
          </a:xfrm>
          <a:prstGeom prst="rect">
            <a:avLst/>
          </a:prstGeom>
          <a:noFill/>
          <a:ln/>
        </p:spPr>
        <p:txBody>
          <a:bodyPr wrap="square" lIns="0" tIns="0" rIns="0" bIns="0" rtlCol="0" anchor="ctr"/>
          <a:lstStyle/>
          <a:p>
            <a:pPr algn="ctr" indent="0" marL="0">
              <a:buNone/>
            </a:pPr>
            <a:r>
              <a:rPr lang="en-US" sz="950" b="1" spc="120" kern="0" dirty="0">
                <a:solidFill>
                  <a:srgbClr val="6FA8FF"/>
                </a:solidFill>
                <a:latin typeface="Malgun Gothic" pitchFamily="34" charset="0"/>
                <a:ea typeface="Malgun Gothic" pitchFamily="34" charset="-122"/>
                <a:cs typeface="Malgun Gothic" pitchFamily="34" charset="-120"/>
              </a:rPr>
              <a:t>AI INTERVIEWER</a:t>
            </a:r>
            <a:endParaRPr lang="en-US" sz="950" dirty="0"/>
          </a:p>
        </p:txBody>
      </p:sp>
      <p:sp>
        <p:nvSpPr>
          <p:cNvPr id="14" name="Text 11"/>
          <p:cNvSpPr txBox="1"/>
          <p:nvPr/>
        </p:nvSpPr>
        <p:spPr>
          <a:xfrm>
            <a:off x="4297680" y="2399386"/>
            <a:ext cx="3246120" cy="318211"/>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Qwen3-1.7B</a:t>
            </a:r>
            <a:endParaRPr lang="en-US" sz="1500" dirty="0"/>
          </a:p>
        </p:txBody>
      </p:sp>
      <p:sp>
        <p:nvSpPr>
          <p:cNvPr id="15" name="Text 12"/>
          <p:cNvSpPr txBox="1"/>
          <p:nvPr/>
        </p:nvSpPr>
        <p:spPr>
          <a:xfrm>
            <a:off x="4297680" y="2728204"/>
            <a:ext cx="3246120" cy="318211"/>
          </a:xfrm>
          <a:prstGeom prst="rect">
            <a:avLst/>
          </a:prstGeom>
          <a:noFill/>
          <a:ln/>
        </p:spPr>
        <p:txBody>
          <a:bodyPr wrap="square" lIns="0" tIns="0" rIns="0" bIns="0" rtlCol="0" anchor="ctr"/>
          <a:lstStyle/>
          <a:p>
            <a:pPr algn="ctr" indent="0" marL="0">
              <a:buNone/>
            </a:pPr>
            <a:r>
              <a:rPr lang="en-US" sz="1150" dirty="0">
                <a:solidFill>
                  <a:srgbClr val="A9BEE4"/>
                </a:solidFill>
                <a:latin typeface="Malgun Gothic" pitchFamily="34" charset="0"/>
                <a:ea typeface="Malgun Gothic" pitchFamily="34" charset="-122"/>
                <a:cs typeface="Malgun Gothic" pitchFamily="34" charset="-120"/>
              </a:rPr>
              <a:t>+ LoRA Adapter</a:t>
            </a:r>
            <a:endParaRPr lang="en-US" sz="1150" dirty="0"/>
          </a:p>
        </p:txBody>
      </p:sp>
      <p:sp>
        <p:nvSpPr>
          <p:cNvPr id="16" name="Text 13"/>
          <p:cNvSpPr txBox="1"/>
          <p:nvPr/>
        </p:nvSpPr>
        <p:spPr>
          <a:xfrm>
            <a:off x="7543800" y="1932676"/>
            <a:ext cx="484632" cy="1357701"/>
          </a:xfrm>
          <a:prstGeom prst="rect">
            <a:avLst/>
          </a:prstGeom>
          <a:noFill/>
          <a:ln/>
        </p:spPr>
        <p:txBody>
          <a:bodyPr wrap="square" lIns="0" tIns="0" rIns="0" bIns="0" rtlCol="0" anchor="ctr"/>
          <a:lstStyle/>
          <a:p>
            <a:pPr algn="ctr" indent="0" marL="0">
              <a:buNone/>
            </a:pPr>
            <a:r>
              <a:rPr lang="en-US" sz="2000" dirty="0">
                <a:solidFill>
                  <a:srgbClr val="9FB0CC"/>
                </a:solidFill>
                <a:latin typeface="Malgun Gothic" pitchFamily="34" charset="0"/>
                <a:ea typeface="Malgun Gothic" pitchFamily="34" charset="-122"/>
                <a:cs typeface="Malgun Gothic" pitchFamily="34" charset="-120"/>
              </a:rPr>
              <a:t>→</a:t>
            </a:r>
            <a:endParaRPr lang="en-US" sz="2000" dirty="0"/>
          </a:p>
        </p:txBody>
      </p:sp>
      <p:sp>
        <p:nvSpPr>
          <p:cNvPr id="17" name="Shape 14"/>
          <p:cNvSpPr/>
          <p:nvPr/>
        </p:nvSpPr>
        <p:spPr>
          <a:xfrm>
            <a:off x="8028432" y="1932676"/>
            <a:ext cx="3246120" cy="1357701"/>
          </a:xfrm>
          <a:prstGeom prst="roundRect">
            <a:avLst>
              <a:gd name="adj" fmla="val 4041"/>
            </a:avLst>
          </a:prstGeom>
          <a:solidFill>
            <a:srgbClr val="F2F5FA"/>
          </a:solidFill>
          <a:ln w="12700">
            <a:solidFill>
              <a:srgbClr val="D8E0EC"/>
            </a:solidFill>
            <a:prstDash val="solid"/>
          </a:ln>
        </p:spPr>
      </p:sp>
      <p:sp>
        <p:nvSpPr>
          <p:cNvPr id="18" name="Text 15"/>
          <p:cNvSpPr txBox="1"/>
          <p:nvPr/>
        </p:nvSpPr>
        <p:spPr>
          <a:xfrm>
            <a:off x="8028432" y="2081174"/>
            <a:ext cx="3246120" cy="254569"/>
          </a:xfrm>
          <a:prstGeom prst="rect">
            <a:avLst/>
          </a:prstGeom>
          <a:noFill/>
          <a:ln/>
        </p:spPr>
        <p:txBody>
          <a:bodyPr wrap="square" lIns="0" tIns="0" rIns="0" bIns="0" rtlCol="0" anchor="ctr"/>
          <a:lstStyle/>
          <a:p>
            <a:pPr algn="ctr" indent="0" marL="0">
              <a:buNone/>
            </a:pPr>
            <a:r>
              <a:rPr lang="en-US" sz="950" b="1" spc="120" kern="0" dirty="0">
                <a:solidFill>
                  <a:srgbClr val="64748B"/>
                </a:solidFill>
                <a:latin typeface="Malgun Gothic" pitchFamily="34" charset="0"/>
                <a:ea typeface="Malgun Gothic" pitchFamily="34" charset="-122"/>
                <a:cs typeface="Malgun Gothic" pitchFamily="34" charset="-120"/>
              </a:rPr>
              <a:t>OUTPUT</a:t>
            </a:r>
            <a:endParaRPr lang="en-US" sz="950" dirty="0"/>
          </a:p>
        </p:txBody>
      </p:sp>
      <p:sp>
        <p:nvSpPr>
          <p:cNvPr id="19" name="Text 16"/>
          <p:cNvSpPr txBox="1"/>
          <p:nvPr/>
        </p:nvSpPr>
        <p:spPr>
          <a:xfrm>
            <a:off x="8028432" y="2399386"/>
            <a:ext cx="3246120" cy="318211"/>
          </a:xfrm>
          <a:prstGeom prst="rect">
            <a:avLst/>
          </a:prstGeom>
          <a:noFill/>
          <a:ln/>
        </p:spPr>
        <p:txBody>
          <a:bodyPr wrap="square" lIns="0" tIns="0" rIns="0" bIns="0" rtlCol="0" anchor="ctr"/>
          <a:lstStyle/>
          <a:p>
            <a:pPr algn="ctr" indent="0" marL="0">
              <a:buNone/>
            </a:pPr>
            <a:r>
              <a:rPr lang="en-US" sz="1500" b="1" dirty="0">
                <a:solidFill>
                  <a:srgbClr val="15203A"/>
                </a:solidFill>
                <a:latin typeface="Malgun Gothic" pitchFamily="34" charset="0"/>
                <a:ea typeface="Malgun Gothic" pitchFamily="34" charset="-122"/>
                <a:cs typeface="Malgun Gothic" pitchFamily="34" charset="-120"/>
              </a:rPr>
              <a:t>기술면접 질문</a:t>
            </a:r>
            <a:endParaRPr lang="en-US" sz="1500" dirty="0"/>
          </a:p>
        </p:txBody>
      </p:sp>
      <p:sp>
        <p:nvSpPr>
          <p:cNvPr id="20" name="Text 17"/>
          <p:cNvSpPr txBox="1"/>
          <p:nvPr/>
        </p:nvSpPr>
        <p:spPr>
          <a:xfrm>
            <a:off x="8028432" y="2728204"/>
            <a:ext cx="3246120" cy="318211"/>
          </a:xfrm>
          <a:prstGeom prst="rect">
            <a:avLst/>
          </a:prstGeom>
          <a:noFill/>
          <a:ln/>
        </p:spPr>
        <p:txBody>
          <a:bodyPr wrap="square" lIns="0" tIns="0" rIns="0" bIns="0" rtlCol="0" anchor="ctr"/>
          <a:lstStyle/>
          <a:p>
            <a:pPr algn="ctr" indent="0" marL="0">
              <a:buNone/>
            </a:pPr>
            <a:r>
              <a:rPr lang="en-US" sz="1150" dirty="0">
                <a:solidFill>
                  <a:srgbClr val="64748B"/>
                </a:solidFill>
                <a:latin typeface="Malgun Gothic" pitchFamily="34" charset="0"/>
                <a:ea typeface="Malgun Gothic" pitchFamily="34" charset="-122"/>
                <a:cs typeface="Malgun Gothic" pitchFamily="34" charset="-120"/>
              </a:rPr>
              <a:t>정확히 3개</a:t>
            </a:r>
            <a:endParaRPr lang="en-US" sz="1150" dirty="0"/>
          </a:p>
        </p:txBody>
      </p:sp>
      <p:sp>
        <p:nvSpPr>
          <p:cNvPr id="21" name="Shape 18"/>
          <p:cNvSpPr/>
          <p:nvPr/>
        </p:nvSpPr>
        <p:spPr>
          <a:xfrm>
            <a:off x="566928" y="3566160"/>
            <a:ext cx="5394960" cy="2779044"/>
          </a:xfrm>
          <a:prstGeom prst="roundRect">
            <a:avLst>
              <a:gd name="adj" fmla="val 1974"/>
            </a:avLst>
          </a:prstGeom>
          <a:solidFill>
            <a:srgbClr val="FAFBFD"/>
          </a:solidFill>
          <a:ln w="12700">
            <a:solidFill>
              <a:srgbClr val="D8E0EC"/>
            </a:solidFill>
            <a:prstDash val="solid"/>
          </a:ln>
        </p:spPr>
      </p:sp>
      <p:sp>
        <p:nvSpPr>
          <p:cNvPr id="22" name="Shape 19"/>
          <p:cNvSpPr/>
          <p:nvPr/>
        </p:nvSpPr>
        <p:spPr>
          <a:xfrm>
            <a:off x="786384" y="3757087"/>
            <a:ext cx="1389888" cy="318211"/>
          </a:xfrm>
          <a:prstGeom prst="roundRect">
            <a:avLst>
              <a:gd name="adj" fmla="val 43103"/>
            </a:avLst>
          </a:prstGeom>
          <a:solidFill>
            <a:srgbClr val="E4EDFE"/>
          </a:solidFill>
          <a:ln w="12700">
            <a:solidFill>
              <a:srgbClr val="E4EDFE"/>
            </a:solidFill>
            <a:prstDash val="solid"/>
          </a:ln>
        </p:spPr>
      </p:sp>
      <p:sp>
        <p:nvSpPr>
          <p:cNvPr id="23" name="Text 20"/>
          <p:cNvSpPr txBox="1"/>
          <p:nvPr/>
        </p:nvSpPr>
        <p:spPr>
          <a:xfrm>
            <a:off x="786384" y="3757087"/>
            <a:ext cx="1389888" cy="318211"/>
          </a:xfrm>
          <a:prstGeom prst="rect">
            <a:avLst/>
          </a:prstGeom>
          <a:noFill/>
          <a:ln/>
        </p:spPr>
        <p:txBody>
          <a:bodyPr wrap="square" lIns="0" tIns="0" rIns="0" bIns="0" rtlCol="0" anchor="ctr"/>
          <a:lstStyle/>
          <a:p>
            <a:pPr algn="ctr" indent="0" marL="0">
              <a:buNone/>
            </a:pPr>
            <a:r>
              <a:rPr lang="en-US" sz="1100" b="1" dirty="0">
                <a:solidFill>
                  <a:srgbClr val="2563EB"/>
                </a:solidFill>
                <a:latin typeface="Malgun Gothic" pitchFamily="34" charset="0"/>
                <a:ea typeface="Malgun Gothic" pitchFamily="34" charset="-122"/>
                <a:cs typeface="Malgun Gothic" pitchFamily="34" charset="-120"/>
              </a:rPr>
              <a:t>기능 요구사항</a:t>
            </a:r>
            <a:endParaRPr lang="en-US" sz="1100" dirty="0"/>
          </a:p>
        </p:txBody>
      </p:sp>
      <p:sp>
        <p:nvSpPr>
          <p:cNvPr id="24" name="Text 21"/>
          <p:cNvSpPr txBox="1"/>
          <p:nvPr/>
        </p:nvSpPr>
        <p:spPr>
          <a:xfrm>
            <a:off x="786384" y="4213189"/>
            <a:ext cx="1143000" cy="296997"/>
          </a:xfrm>
          <a:prstGeom prst="rect">
            <a:avLst/>
          </a:prstGeom>
          <a:noFill/>
          <a:ln/>
        </p:spPr>
        <p:txBody>
          <a:bodyPr wrap="square" lIns="0" tIns="0" rIns="0" bIns="0" rtlCol="0" anchor="ctr"/>
          <a:lstStyle/>
          <a:p>
            <a:pPr indent="0" marL="0">
              <a:buNone/>
            </a:pPr>
            <a:r>
              <a:rPr lang="en-US" sz="1100" b="1" dirty="0">
                <a:solidFill>
                  <a:srgbClr val="2563EB"/>
                </a:solidFill>
                <a:latin typeface="Malgun Gothic" pitchFamily="34" charset="0"/>
                <a:ea typeface="Malgun Gothic" pitchFamily="34" charset="-122"/>
                <a:cs typeface="Malgun Gothic" pitchFamily="34" charset="-120"/>
              </a:rPr>
              <a:t>Input</a:t>
            </a:r>
            <a:endParaRPr lang="en-US" sz="1100" dirty="0"/>
          </a:p>
        </p:txBody>
      </p:sp>
      <p:sp>
        <p:nvSpPr>
          <p:cNvPr id="25" name="Text 22"/>
          <p:cNvSpPr txBox="1"/>
          <p:nvPr/>
        </p:nvSpPr>
        <p:spPr>
          <a:xfrm>
            <a:off x="1975104" y="4213189"/>
            <a:ext cx="3749040" cy="296997"/>
          </a:xfrm>
          <a:prstGeom prst="rect">
            <a:avLst/>
          </a:prstGeom>
          <a:noFill/>
          <a:ln/>
        </p:spPr>
        <p:txBody>
          <a:bodyPr wrap="square" lIns="0" tIns="0" rIns="0" bIns="0" rtlCol="0" anchor="ctr"/>
          <a:lstStyle/>
          <a:p>
            <a:pPr indent="0" marL="0">
              <a:buNone/>
            </a:pPr>
            <a:r>
              <a:rPr lang="en-US" sz="1150" dirty="0">
                <a:solidFill>
                  <a:srgbClr val="35415C"/>
                </a:solidFill>
                <a:latin typeface="Malgun Gothic" pitchFamily="34" charset="0"/>
                <a:ea typeface="Malgun Gothic" pitchFamily="34" charset="-122"/>
                <a:cs typeface="Malgun Gothic" pitchFamily="34" charset="-120"/>
              </a:rPr>
              <a:t>지원 직무 + 프로젝트/기술 경험</a:t>
            </a:r>
            <a:endParaRPr lang="en-US" sz="1150" dirty="0"/>
          </a:p>
        </p:txBody>
      </p:sp>
      <p:sp>
        <p:nvSpPr>
          <p:cNvPr id="26" name="Text 23"/>
          <p:cNvSpPr txBox="1"/>
          <p:nvPr/>
        </p:nvSpPr>
        <p:spPr>
          <a:xfrm>
            <a:off x="786384" y="4616257"/>
            <a:ext cx="1143000" cy="296997"/>
          </a:xfrm>
          <a:prstGeom prst="rect">
            <a:avLst/>
          </a:prstGeom>
          <a:noFill/>
          <a:ln/>
        </p:spPr>
        <p:txBody>
          <a:bodyPr wrap="square" lIns="0" tIns="0" rIns="0" bIns="0" rtlCol="0" anchor="ctr"/>
          <a:lstStyle/>
          <a:p>
            <a:pPr indent="0" marL="0">
              <a:buNone/>
            </a:pPr>
            <a:r>
              <a:rPr lang="en-US" sz="1100" b="1" dirty="0">
                <a:solidFill>
                  <a:srgbClr val="2563EB"/>
                </a:solidFill>
                <a:latin typeface="Malgun Gothic" pitchFamily="34" charset="0"/>
                <a:ea typeface="Malgun Gothic" pitchFamily="34" charset="-122"/>
                <a:cs typeface="Malgun Gothic" pitchFamily="34" charset="-120"/>
              </a:rPr>
              <a:t>Output</a:t>
            </a:r>
            <a:endParaRPr lang="en-US" sz="1100" dirty="0"/>
          </a:p>
        </p:txBody>
      </p:sp>
      <p:sp>
        <p:nvSpPr>
          <p:cNvPr id="27" name="Text 24"/>
          <p:cNvSpPr txBox="1"/>
          <p:nvPr/>
        </p:nvSpPr>
        <p:spPr>
          <a:xfrm>
            <a:off x="1975104" y="4616257"/>
            <a:ext cx="3749040" cy="296997"/>
          </a:xfrm>
          <a:prstGeom prst="rect">
            <a:avLst/>
          </a:prstGeom>
          <a:noFill/>
          <a:ln/>
        </p:spPr>
        <p:txBody>
          <a:bodyPr wrap="square" lIns="0" tIns="0" rIns="0" bIns="0" rtlCol="0" anchor="ctr"/>
          <a:lstStyle/>
          <a:p>
            <a:pPr indent="0" marL="0">
              <a:buNone/>
            </a:pPr>
            <a:r>
              <a:rPr lang="en-US" sz="1150" dirty="0">
                <a:solidFill>
                  <a:srgbClr val="35415C"/>
                </a:solidFill>
                <a:latin typeface="Malgun Gothic" pitchFamily="34" charset="0"/>
                <a:ea typeface="Malgun Gothic" pitchFamily="34" charset="-122"/>
                <a:cs typeface="Malgun Gothic" pitchFamily="34" charset="-120"/>
              </a:rPr>
              <a:t>경험과 연관된 기술면접 질문</a:t>
            </a:r>
            <a:endParaRPr lang="en-US" sz="1150" dirty="0"/>
          </a:p>
        </p:txBody>
      </p:sp>
      <p:sp>
        <p:nvSpPr>
          <p:cNvPr id="28" name="Text 25"/>
          <p:cNvSpPr txBox="1"/>
          <p:nvPr/>
        </p:nvSpPr>
        <p:spPr>
          <a:xfrm>
            <a:off x="786384" y="5019324"/>
            <a:ext cx="1143000" cy="296997"/>
          </a:xfrm>
          <a:prstGeom prst="rect">
            <a:avLst/>
          </a:prstGeom>
          <a:noFill/>
          <a:ln/>
        </p:spPr>
        <p:txBody>
          <a:bodyPr wrap="square" lIns="0" tIns="0" rIns="0" bIns="0" rtlCol="0" anchor="ctr"/>
          <a:lstStyle/>
          <a:p>
            <a:pPr indent="0" marL="0">
              <a:buNone/>
            </a:pPr>
            <a:r>
              <a:rPr lang="en-US" sz="1100" b="1" dirty="0">
                <a:solidFill>
                  <a:srgbClr val="2563EB"/>
                </a:solidFill>
                <a:latin typeface="Malgun Gothic" pitchFamily="34" charset="0"/>
                <a:ea typeface="Malgun Gothic" pitchFamily="34" charset="-122"/>
                <a:cs typeface="Malgun Gothic" pitchFamily="34" charset="-120"/>
              </a:rPr>
              <a:t>개수</a:t>
            </a:r>
            <a:endParaRPr lang="en-US" sz="1100" dirty="0"/>
          </a:p>
        </p:txBody>
      </p:sp>
      <p:sp>
        <p:nvSpPr>
          <p:cNvPr id="29" name="Text 26"/>
          <p:cNvSpPr txBox="1"/>
          <p:nvPr/>
        </p:nvSpPr>
        <p:spPr>
          <a:xfrm>
            <a:off x="1975104" y="5019324"/>
            <a:ext cx="3749040" cy="296997"/>
          </a:xfrm>
          <a:prstGeom prst="rect">
            <a:avLst/>
          </a:prstGeom>
          <a:noFill/>
          <a:ln/>
        </p:spPr>
        <p:txBody>
          <a:bodyPr wrap="square" lIns="0" tIns="0" rIns="0" bIns="0" rtlCol="0" anchor="ctr"/>
          <a:lstStyle/>
          <a:p>
            <a:pPr indent="0" marL="0">
              <a:buNone/>
            </a:pPr>
            <a:r>
              <a:rPr lang="en-US" sz="1150" dirty="0">
                <a:solidFill>
                  <a:srgbClr val="35415C"/>
                </a:solidFill>
                <a:latin typeface="Malgun Gothic" pitchFamily="34" charset="0"/>
                <a:ea typeface="Malgun Gothic" pitchFamily="34" charset="-122"/>
                <a:cs typeface="Malgun Gothic" pitchFamily="34" charset="-120"/>
              </a:rPr>
              <a:t>정확히 3개</a:t>
            </a:r>
            <a:endParaRPr lang="en-US" sz="1150" dirty="0"/>
          </a:p>
        </p:txBody>
      </p:sp>
      <p:sp>
        <p:nvSpPr>
          <p:cNvPr id="30" name="Text 27"/>
          <p:cNvSpPr txBox="1"/>
          <p:nvPr/>
        </p:nvSpPr>
        <p:spPr>
          <a:xfrm>
            <a:off x="786384" y="5422392"/>
            <a:ext cx="1143000" cy="296997"/>
          </a:xfrm>
          <a:prstGeom prst="rect">
            <a:avLst/>
          </a:prstGeom>
          <a:noFill/>
          <a:ln/>
        </p:spPr>
        <p:txBody>
          <a:bodyPr wrap="square" lIns="0" tIns="0" rIns="0" bIns="0" rtlCol="0" anchor="ctr"/>
          <a:lstStyle/>
          <a:p>
            <a:pPr indent="0" marL="0">
              <a:buNone/>
            </a:pPr>
            <a:r>
              <a:rPr lang="en-US" sz="1100" b="1" dirty="0">
                <a:solidFill>
                  <a:srgbClr val="2563EB"/>
                </a:solidFill>
                <a:latin typeface="Malgun Gothic" pitchFamily="34" charset="0"/>
                <a:ea typeface="Malgun Gothic" pitchFamily="34" charset="-122"/>
                <a:cs typeface="Malgun Gothic" pitchFamily="34" charset="-120"/>
              </a:rPr>
              <a:t>형식</a:t>
            </a:r>
            <a:endParaRPr lang="en-US" sz="1100" dirty="0"/>
          </a:p>
        </p:txBody>
      </p:sp>
      <p:sp>
        <p:nvSpPr>
          <p:cNvPr id="31" name="Text 28"/>
          <p:cNvSpPr txBox="1"/>
          <p:nvPr/>
        </p:nvSpPr>
        <p:spPr>
          <a:xfrm>
            <a:off x="1975104" y="5422392"/>
            <a:ext cx="3749040" cy="296997"/>
          </a:xfrm>
          <a:prstGeom prst="rect">
            <a:avLst/>
          </a:prstGeom>
          <a:noFill/>
          <a:ln/>
        </p:spPr>
        <p:txBody>
          <a:bodyPr wrap="square" lIns="0" tIns="0" rIns="0" bIns="0" rtlCol="0" anchor="ctr"/>
          <a:lstStyle/>
          <a:p>
            <a:pPr indent="0" marL="0">
              <a:buNone/>
            </a:pPr>
            <a:r>
              <a:rPr lang="en-US" sz="1150" dirty="0">
                <a:solidFill>
                  <a:srgbClr val="35415C"/>
                </a:solidFill>
                <a:latin typeface="Malgun Gothic" pitchFamily="34" charset="0"/>
                <a:ea typeface="Malgun Gothic" pitchFamily="34" charset="-122"/>
                <a:cs typeface="Malgun Gothic" pitchFamily="34" charset="-120"/>
              </a:rPr>
              <a:t>간결한 질문 문장, 부가 해설 없음</a:t>
            </a:r>
            <a:endParaRPr lang="en-US" sz="1150" dirty="0"/>
          </a:p>
        </p:txBody>
      </p:sp>
      <p:sp>
        <p:nvSpPr>
          <p:cNvPr id="32" name="Text 29"/>
          <p:cNvSpPr txBox="1"/>
          <p:nvPr/>
        </p:nvSpPr>
        <p:spPr>
          <a:xfrm>
            <a:off x="786384" y="5825460"/>
            <a:ext cx="1143000" cy="296997"/>
          </a:xfrm>
          <a:prstGeom prst="rect">
            <a:avLst/>
          </a:prstGeom>
          <a:noFill/>
          <a:ln/>
        </p:spPr>
        <p:txBody>
          <a:bodyPr wrap="square" lIns="0" tIns="0" rIns="0" bIns="0" rtlCol="0" anchor="ctr"/>
          <a:lstStyle/>
          <a:p>
            <a:pPr indent="0" marL="0">
              <a:buNone/>
            </a:pPr>
            <a:r>
              <a:rPr lang="en-US" sz="1100" b="1" dirty="0">
                <a:solidFill>
                  <a:srgbClr val="2563EB"/>
                </a:solidFill>
                <a:latin typeface="Malgun Gothic" pitchFamily="34" charset="0"/>
                <a:ea typeface="Malgun Gothic" pitchFamily="34" charset="-122"/>
                <a:cs typeface="Malgun Gothic" pitchFamily="34" charset="-120"/>
              </a:rPr>
              <a:t>깊이</a:t>
            </a:r>
            <a:endParaRPr lang="en-US" sz="1100" dirty="0"/>
          </a:p>
        </p:txBody>
      </p:sp>
      <p:sp>
        <p:nvSpPr>
          <p:cNvPr id="33" name="Text 30"/>
          <p:cNvSpPr txBox="1"/>
          <p:nvPr/>
        </p:nvSpPr>
        <p:spPr>
          <a:xfrm>
            <a:off x="1975104" y="5825460"/>
            <a:ext cx="3749040" cy="296997"/>
          </a:xfrm>
          <a:prstGeom prst="rect">
            <a:avLst/>
          </a:prstGeom>
          <a:noFill/>
          <a:ln/>
        </p:spPr>
        <p:txBody>
          <a:bodyPr wrap="square" lIns="0" tIns="0" rIns="0" bIns="0" rtlCol="0" anchor="ctr"/>
          <a:lstStyle/>
          <a:p>
            <a:pPr indent="0" marL="0">
              <a:buNone/>
            </a:pPr>
            <a:r>
              <a:rPr lang="en-US" sz="1150" dirty="0">
                <a:solidFill>
                  <a:srgbClr val="35415C"/>
                </a:solidFill>
                <a:latin typeface="Malgun Gothic" pitchFamily="34" charset="0"/>
                <a:ea typeface="Malgun Gothic" pitchFamily="34" charset="-122"/>
                <a:cs typeface="Malgun Gothic" pitchFamily="34" charset="-120"/>
              </a:rPr>
              <a:t>기술 이해도와 실제 적용 경험 검증</a:t>
            </a:r>
            <a:endParaRPr lang="en-US" sz="1150" dirty="0"/>
          </a:p>
        </p:txBody>
      </p:sp>
      <p:sp>
        <p:nvSpPr>
          <p:cNvPr id="34" name="Shape 31"/>
          <p:cNvSpPr/>
          <p:nvPr/>
        </p:nvSpPr>
        <p:spPr>
          <a:xfrm>
            <a:off x="6236208" y="3566160"/>
            <a:ext cx="5394960" cy="2779044"/>
          </a:xfrm>
          <a:prstGeom prst="roundRect">
            <a:avLst>
              <a:gd name="adj" fmla="val 1974"/>
            </a:avLst>
          </a:prstGeom>
          <a:solidFill>
            <a:srgbClr val="FAFBFD"/>
          </a:solidFill>
          <a:ln w="12700">
            <a:solidFill>
              <a:srgbClr val="D8E0EC"/>
            </a:solidFill>
            <a:prstDash val="solid"/>
          </a:ln>
        </p:spPr>
      </p:sp>
      <p:sp>
        <p:nvSpPr>
          <p:cNvPr id="35" name="Shape 32"/>
          <p:cNvSpPr/>
          <p:nvPr/>
        </p:nvSpPr>
        <p:spPr>
          <a:xfrm>
            <a:off x="6455664" y="3757087"/>
            <a:ext cx="1389888" cy="318211"/>
          </a:xfrm>
          <a:prstGeom prst="roundRect">
            <a:avLst>
              <a:gd name="adj" fmla="val 43103"/>
            </a:avLst>
          </a:prstGeom>
          <a:solidFill>
            <a:srgbClr val="FAEEDD"/>
          </a:solidFill>
          <a:ln w="12700">
            <a:solidFill>
              <a:srgbClr val="FAEEDD"/>
            </a:solidFill>
            <a:prstDash val="solid"/>
          </a:ln>
        </p:spPr>
      </p:sp>
      <p:sp>
        <p:nvSpPr>
          <p:cNvPr id="36" name="Text 33"/>
          <p:cNvSpPr txBox="1"/>
          <p:nvPr/>
        </p:nvSpPr>
        <p:spPr>
          <a:xfrm>
            <a:off x="6455664" y="3757087"/>
            <a:ext cx="1389888" cy="318211"/>
          </a:xfrm>
          <a:prstGeom prst="rect">
            <a:avLst/>
          </a:prstGeom>
          <a:noFill/>
          <a:ln/>
        </p:spPr>
        <p:txBody>
          <a:bodyPr wrap="square" lIns="0" tIns="0" rIns="0" bIns="0" rtlCol="0" anchor="ctr"/>
          <a:lstStyle/>
          <a:p>
            <a:pPr algn="ctr" indent="0" marL="0">
              <a:buNone/>
            </a:pPr>
            <a:r>
              <a:rPr lang="en-US" sz="1100" b="1" dirty="0">
                <a:solidFill>
                  <a:srgbClr val="C2690B"/>
                </a:solidFill>
                <a:latin typeface="Malgun Gothic" pitchFamily="34" charset="0"/>
                <a:ea typeface="Malgun Gothic" pitchFamily="34" charset="-122"/>
                <a:cs typeface="Malgun Gothic" pitchFamily="34" charset="-120"/>
              </a:rPr>
              <a:t>모델 요구사항</a:t>
            </a:r>
            <a:endParaRPr lang="en-US" sz="1100" dirty="0"/>
          </a:p>
        </p:txBody>
      </p:sp>
      <p:sp>
        <p:nvSpPr>
          <p:cNvPr id="37" name="Text 34"/>
          <p:cNvSpPr txBox="1"/>
          <p:nvPr/>
        </p:nvSpPr>
        <p:spPr>
          <a:xfrm>
            <a:off x="6455664" y="4213189"/>
            <a:ext cx="1143000" cy="296997"/>
          </a:xfrm>
          <a:prstGeom prst="rect">
            <a:avLst/>
          </a:prstGeom>
          <a:noFill/>
          <a:ln/>
        </p:spPr>
        <p:txBody>
          <a:bodyPr wrap="square" lIns="0" tIns="0" rIns="0" bIns="0" rtlCol="0" anchor="ctr"/>
          <a:lstStyle/>
          <a:p>
            <a:pPr indent="0" marL="0">
              <a:buNone/>
            </a:pPr>
            <a:r>
              <a:rPr lang="en-US" sz="1100" b="1" dirty="0">
                <a:solidFill>
                  <a:srgbClr val="C2690B"/>
                </a:solidFill>
                <a:latin typeface="Malgun Gothic" pitchFamily="34" charset="0"/>
                <a:ea typeface="Malgun Gothic" pitchFamily="34" charset="-122"/>
                <a:cs typeface="Malgun Gothic" pitchFamily="34" charset="-120"/>
              </a:rPr>
              <a:t>언어 능력</a:t>
            </a:r>
            <a:endParaRPr lang="en-US" sz="1100" dirty="0"/>
          </a:p>
        </p:txBody>
      </p:sp>
      <p:sp>
        <p:nvSpPr>
          <p:cNvPr id="38" name="Text 35"/>
          <p:cNvSpPr txBox="1"/>
          <p:nvPr/>
        </p:nvSpPr>
        <p:spPr>
          <a:xfrm>
            <a:off x="7644384" y="4213189"/>
            <a:ext cx="3749040" cy="296997"/>
          </a:xfrm>
          <a:prstGeom prst="rect">
            <a:avLst/>
          </a:prstGeom>
          <a:noFill/>
          <a:ln/>
        </p:spPr>
        <p:txBody>
          <a:bodyPr wrap="square" lIns="0" tIns="0" rIns="0" bIns="0" rtlCol="0" anchor="ctr"/>
          <a:lstStyle/>
          <a:p>
            <a:pPr indent="0" marL="0">
              <a:buNone/>
            </a:pPr>
            <a:r>
              <a:rPr lang="en-US" sz="1150" dirty="0">
                <a:solidFill>
                  <a:srgbClr val="35415C"/>
                </a:solidFill>
                <a:latin typeface="Malgun Gothic" pitchFamily="34" charset="0"/>
                <a:ea typeface="Malgun Gothic" pitchFamily="34" charset="-122"/>
                <a:cs typeface="Malgun Gothic" pitchFamily="34" charset="-120"/>
              </a:rPr>
              <a:t>기존 LLM의 일반 능력은 유지</a:t>
            </a:r>
            <a:endParaRPr lang="en-US" sz="1150" dirty="0"/>
          </a:p>
        </p:txBody>
      </p:sp>
      <p:sp>
        <p:nvSpPr>
          <p:cNvPr id="39" name="Text 36"/>
          <p:cNvSpPr txBox="1"/>
          <p:nvPr/>
        </p:nvSpPr>
        <p:spPr>
          <a:xfrm>
            <a:off x="6455664" y="4616257"/>
            <a:ext cx="1143000" cy="296997"/>
          </a:xfrm>
          <a:prstGeom prst="rect">
            <a:avLst/>
          </a:prstGeom>
          <a:noFill/>
          <a:ln/>
        </p:spPr>
        <p:txBody>
          <a:bodyPr wrap="square" lIns="0" tIns="0" rIns="0" bIns="0" rtlCol="0" anchor="ctr"/>
          <a:lstStyle/>
          <a:p>
            <a:pPr indent="0" marL="0">
              <a:buNone/>
            </a:pPr>
            <a:r>
              <a:rPr lang="en-US" sz="1100" b="1" dirty="0">
                <a:solidFill>
                  <a:srgbClr val="C2690B"/>
                </a:solidFill>
                <a:latin typeface="Malgun Gothic" pitchFamily="34" charset="0"/>
                <a:ea typeface="Malgun Gothic" pitchFamily="34" charset="-122"/>
                <a:cs typeface="Malgun Gothic" pitchFamily="34" charset="-120"/>
              </a:rPr>
              <a:t>학습 범위</a:t>
            </a:r>
            <a:endParaRPr lang="en-US" sz="1100" dirty="0"/>
          </a:p>
        </p:txBody>
      </p:sp>
      <p:sp>
        <p:nvSpPr>
          <p:cNvPr id="40" name="Text 37"/>
          <p:cNvSpPr txBox="1"/>
          <p:nvPr/>
        </p:nvSpPr>
        <p:spPr>
          <a:xfrm>
            <a:off x="7644384" y="4616257"/>
            <a:ext cx="3749040" cy="296997"/>
          </a:xfrm>
          <a:prstGeom prst="rect">
            <a:avLst/>
          </a:prstGeom>
          <a:noFill/>
          <a:ln/>
        </p:spPr>
        <p:txBody>
          <a:bodyPr wrap="square" lIns="0" tIns="0" rIns="0" bIns="0" rtlCol="0" anchor="ctr"/>
          <a:lstStyle/>
          <a:p>
            <a:pPr indent="0" marL="0">
              <a:buNone/>
            </a:pPr>
            <a:r>
              <a:rPr lang="en-US" sz="1150" dirty="0">
                <a:solidFill>
                  <a:srgbClr val="35415C"/>
                </a:solidFill>
                <a:latin typeface="Malgun Gothic" pitchFamily="34" charset="0"/>
                <a:ea typeface="Malgun Gothic" pitchFamily="34" charset="-122"/>
                <a:cs typeface="Malgun Gothic" pitchFamily="34" charset="-120"/>
              </a:rPr>
              <a:t>전체 모델 재학습은 회피</a:t>
            </a:r>
            <a:endParaRPr lang="en-US" sz="1150" dirty="0"/>
          </a:p>
        </p:txBody>
      </p:sp>
      <p:sp>
        <p:nvSpPr>
          <p:cNvPr id="41" name="Text 38"/>
          <p:cNvSpPr txBox="1"/>
          <p:nvPr/>
        </p:nvSpPr>
        <p:spPr>
          <a:xfrm>
            <a:off x="6455664" y="5019324"/>
            <a:ext cx="1143000" cy="296997"/>
          </a:xfrm>
          <a:prstGeom prst="rect">
            <a:avLst/>
          </a:prstGeom>
          <a:noFill/>
          <a:ln/>
        </p:spPr>
        <p:txBody>
          <a:bodyPr wrap="square" lIns="0" tIns="0" rIns="0" bIns="0" rtlCol="0" anchor="ctr"/>
          <a:lstStyle/>
          <a:p>
            <a:pPr indent="0" marL="0">
              <a:buNone/>
            </a:pPr>
            <a:r>
              <a:rPr lang="en-US" sz="1100" b="1" dirty="0">
                <a:solidFill>
                  <a:srgbClr val="C2690B"/>
                </a:solidFill>
                <a:latin typeface="Malgun Gothic" pitchFamily="34" charset="0"/>
                <a:ea typeface="Malgun Gothic" pitchFamily="34" charset="-122"/>
                <a:cs typeface="Malgun Gothic" pitchFamily="34" charset="-120"/>
              </a:rPr>
              <a:t>데이터</a:t>
            </a:r>
            <a:endParaRPr lang="en-US" sz="1100" dirty="0"/>
          </a:p>
        </p:txBody>
      </p:sp>
      <p:sp>
        <p:nvSpPr>
          <p:cNvPr id="42" name="Text 39"/>
          <p:cNvSpPr txBox="1"/>
          <p:nvPr/>
        </p:nvSpPr>
        <p:spPr>
          <a:xfrm>
            <a:off x="7644384" y="5019324"/>
            <a:ext cx="3749040" cy="296997"/>
          </a:xfrm>
          <a:prstGeom prst="rect">
            <a:avLst/>
          </a:prstGeom>
          <a:noFill/>
          <a:ln/>
        </p:spPr>
        <p:txBody>
          <a:bodyPr wrap="square" lIns="0" tIns="0" rIns="0" bIns="0" rtlCol="0" anchor="ctr"/>
          <a:lstStyle/>
          <a:p>
            <a:pPr indent="0" marL="0">
              <a:buNone/>
            </a:pPr>
            <a:r>
              <a:rPr lang="en-US" sz="1150" dirty="0">
                <a:solidFill>
                  <a:srgbClr val="35415C"/>
                </a:solidFill>
                <a:latin typeface="Malgun Gothic" pitchFamily="34" charset="0"/>
                <a:ea typeface="Malgun Gothic" pitchFamily="34" charset="-122"/>
                <a:cs typeface="Malgun Gothic" pitchFamily="34" charset="-120"/>
              </a:rPr>
              <a:t>적은 데이터로 출력 패턴 학습</a:t>
            </a:r>
            <a:endParaRPr lang="en-US" sz="1150" dirty="0"/>
          </a:p>
        </p:txBody>
      </p:sp>
      <p:sp>
        <p:nvSpPr>
          <p:cNvPr id="43" name="Text 40"/>
          <p:cNvSpPr txBox="1"/>
          <p:nvPr/>
        </p:nvSpPr>
        <p:spPr>
          <a:xfrm>
            <a:off x="6455664" y="5422392"/>
            <a:ext cx="1143000" cy="296997"/>
          </a:xfrm>
          <a:prstGeom prst="rect">
            <a:avLst/>
          </a:prstGeom>
          <a:noFill/>
          <a:ln/>
        </p:spPr>
        <p:txBody>
          <a:bodyPr wrap="square" lIns="0" tIns="0" rIns="0" bIns="0" rtlCol="0" anchor="ctr"/>
          <a:lstStyle/>
          <a:p>
            <a:pPr indent="0" marL="0">
              <a:buNone/>
            </a:pPr>
            <a:r>
              <a:rPr lang="en-US" sz="1100" b="1" dirty="0">
                <a:solidFill>
                  <a:srgbClr val="C2690B"/>
                </a:solidFill>
                <a:latin typeface="Malgun Gothic" pitchFamily="34" charset="0"/>
                <a:ea typeface="Malgun Gothic" pitchFamily="34" charset="-122"/>
                <a:cs typeface="Malgun Gothic" pitchFamily="34" charset="-120"/>
              </a:rPr>
              <a:t>산출물</a:t>
            </a:r>
            <a:endParaRPr lang="en-US" sz="1100" dirty="0"/>
          </a:p>
        </p:txBody>
      </p:sp>
      <p:sp>
        <p:nvSpPr>
          <p:cNvPr id="44" name="Text 41"/>
          <p:cNvSpPr txBox="1"/>
          <p:nvPr/>
        </p:nvSpPr>
        <p:spPr>
          <a:xfrm>
            <a:off x="7644384" y="5422392"/>
            <a:ext cx="3749040" cy="296997"/>
          </a:xfrm>
          <a:prstGeom prst="rect">
            <a:avLst/>
          </a:prstGeom>
          <a:noFill/>
          <a:ln/>
        </p:spPr>
        <p:txBody>
          <a:bodyPr wrap="square" lIns="0" tIns="0" rIns="0" bIns="0" rtlCol="0" anchor="ctr"/>
          <a:lstStyle/>
          <a:p>
            <a:pPr indent="0" marL="0">
              <a:buNone/>
            </a:pPr>
            <a:r>
              <a:rPr lang="en-US" sz="1150" dirty="0">
                <a:solidFill>
                  <a:srgbClr val="35415C"/>
                </a:solidFill>
                <a:latin typeface="Malgun Gothic" pitchFamily="34" charset="0"/>
                <a:ea typeface="Malgun Gothic" pitchFamily="34" charset="-122"/>
                <a:cs typeface="Malgun Gothic" pitchFamily="34" charset="-120"/>
              </a:rPr>
              <a:t>Adapter 형태로 분리 저장 가능</a:t>
            </a:r>
            <a:endParaRPr lang="en-US" sz="1150" dirty="0"/>
          </a:p>
        </p:txBody>
      </p:sp>
      <p:sp>
        <p:nvSpPr>
          <p:cNvPr id="45" name="Text 42"/>
          <p:cNvSpPr txBox="1"/>
          <p:nvPr/>
        </p:nvSpPr>
        <p:spPr>
          <a:xfrm>
            <a:off x="6455664" y="5825460"/>
            <a:ext cx="1143000" cy="296997"/>
          </a:xfrm>
          <a:prstGeom prst="rect">
            <a:avLst/>
          </a:prstGeom>
          <a:noFill/>
          <a:ln/>
        </p:spPr>
        <p:txBody>
          <a:bodyPr wrap="square" lIns="0" tIns="0" rIns="0" bIns="0" rtlCol="0" anchor="ctr"/>
          <a:lstStyle/>
          <a:p>
            <a:pPr indent="0" marL="0">
              <a:buNone/>
            </a:pPr>
            <a:r>
              <a:rPr lang="en-US" sz="1100" b="1" dirty="0">
                <a:solidFill>
                  <a:srgbClr val="C2690B"/>
                </a:solidFill>
                <a:latin typeface="Malgun Gothic" pitchFamily="34" charset="0"/>
                <a:ea typeface="Malgun Gothic" pitchFamily="34" charset="-122"/>
                <a:cs typeface="Malgun Gothic" pitchFamily="34" charset="-120"/>
              </a:rPr>
              <a:t>자원</a:t>
            </a:r>
            <a:endParaRPr lang="en-US" sz="1100" dirty="0"/>
          </a:p>
        </p:txBody>
      </p:sp>
      <p:sp>
        <p:nvSpPr>
          <p:cNvPr id="46" name="Text 43"/>
          <p:cNvSpPr txBox="1"/>
          <p:nvPr/>
        </p:nvSpPr>
        <p:spPr>
          <a:xfrm>
            <a:off x="7644384" y="5825460"/>
            <a:ext cx="3749040" cy="296997"/>
          </a:xfrm>
          <a:prstGeom prst="rect">
            <a:avLst/>
          </a:prstGeom>
          <a:noFill/>
          <a:ln/>
        </p:spPr>
        <p:txBody>
          <a:bodyPr wrap="square" lIns="0" tIns="0" rIns="0" bIns="0" rtlCol="0" anchor="ctr"/>
          <a:lstStyle/>
          <a:p>
            <a:pPr indent="0" marL="0">
              <a:buNone/>
            </a:pPr>
            <a:r>
              <a:rPr lang="en-US" sz="1150" dirty="0">
                <a:solidFill>
                  <a:srgbClr val="35415C"/>
                </a:solidFill>
                <a:latin typeface="Malgun Gothic" pitchFamily="34" charset="0"/>
                <a:ea typeface="Malgun Gothic" pitchFamily="34" charset="-122"/>
                <a:cs typeface="Malgun Gothic" pitchFamily="34" charset="-120"/>
              </a:rPr>
              <a:t>제한된 GPU VRAM에서 학습 가능</a:t>
            </a:r>
            <a:endParaRPr lang="en-US" sz="1150" dirty="0"/>
          </a:p>
        </p:txBody>
      </p:sp>
      <p:sp>
        <p:nvSpPr>
          <p:cNvPr id="47" name="Text 44"/>
          <p:cNvSpPr txBox="1"/>
          <p:nvPr/>
        </p:nvSpPr>
        <p:spPr>
          <a:xfrm>
            <a:off x="11277295" y="6355080"/>
            <a:ext cx="457200" cy="274320"/>
          </a:xfrm>
          <a:prstGeom prst="rect">
            <a:avLst/>
          </a:prstGeom>
          <a:noFill/>
          <a:ln/>
        </p:spPr>
        <p:txBody>
          <a:bodyPr wrap="square" lIns="0" tIns="0" rIns="0" bIns="0" rtlCol="0" anchor="ctr"/>
          <a:lstStyle/>
          <a:p>
            <a:pPr algn="r" indent="0" marL="0">
              <a:buNone/>
            </a:pPr>
            <a:r>
              <a:rPr lang="en-US" sz="1000" dirty="0">
                <a:solidFill>
                  <a:srgbClr val="9AA6BC"/>
                </a:solidFill>
                <a:latin typeface="Malgun Gothic" pitchFamily="34" charset="0"/>
                <a:ea typeface="Malgun Gothic" pitchFamily="34" charset="-122"/>
                <a:cs typeface="Malgun Gothic"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66928" y="384048"/>
            <a:ext cx="1700784" cy="318211"/>
          </a:xfrm>
          <a:prstGeom prst="roundRect">
            <a:avLst>
              <a:gd name="adj" fmla="val 43103"/>
            </a:avLst>
          </a:prstGeom>
          <a:solidFill>
            <a:srgbClr val="E4EDFE"/>
          </a:solidFill>
          <a:ln w="12700">
            <a:solidFill>
              <a:srgbClr val="E4EDFE"/>
            </a:solidFill>
            <a:prstDash val="solid"/>
          </a:ln>
        </p:spPr>
      </p:sp>
      <p:sp>
        <p:nvSpPr>
          <p:cNvPr id="4" name="Text 1"/>
          <p:cNvSpPr txBox="1"/>
          <p:nvPr/>
        </p:nvSpPr>
        <p:spPr>
          <a:xfrm>
            <a:off x="566928" y="384048"/>
            <a:ext cx="1700784" cy="318211"/>
          </a:xfrm>
          <a:prstGeom prst="rect">
            <a:avLst/>
          </a:prstGeom>
          <a:noFill/>
          <a:ln/>
        </p:spPr>
        <p:txBody>
          <a:bodyPr wrap="square" lIns="0" tIns="0" rIns="0" bIns="0" rtlCol="0" anchor="ctr"/>
          <a:lstStyle/>
          <a:p>
            <a:pPr algn="ctr" indent="0" marL="0">
              <a:buNone/>
            </a:pPr>
            <a:r>
              <a:rPr lang="en-US" sz="1050" b="1" spc="60" kern="0" dirty="0">
                <a:solidFill>
                  <a:srgbClr val="1D4ED8"/>
                </a:solidFill>
                <a:latin typeface="Malgun Gothic" pitchFamily="34" charset="0"/>
                <a:ea typeface="Malgun Gothic" pitchFamily="34" charset="-122"/>
                <a:cs typeface="Malgun Gothic" pitchFamily="34" charset="-120"/>
              </a:rPr>
              <a:t>02  CONSTRAINTS</a:t>
            </a:r>
            <a:endParaRPr lang="en-US" sz="1050" dirty="0"/>
          </a:p>
        </p:txBody>
      </p:sp>
      <p:sp>
        <p:nvSpPr>
          <p:cNvPr id="5" name="Text 2"/>
          <p:cNvSpPr txBox="1"/>
          <p:nvPr/>
        </p:nvSpPr>
        <p:spPr>
          <a:xfrm>
            <a:off x="566928" y="765901"/>
            <a:ext cx="11057839" cy="593994"/>
          </a:xfrm>
          <a:prstGeom prst="rect">
            <a:avLst/>
          </a:prstGeom>
          <a:noFill/>
          <a:ln/>
        </p:spPr>
        <p:txBody>
          <a:bodyPr wrap="square" lIns="0" tIns="0" rIns="0" bIns="0" rtlCol="0" anchor="ctr"/>
          <a:lstStyle/>
          <a:p>
            <a:pPr indent="0" marL="0">
              <a:buNone/>
            </a:pPr>
            <a:r>
              <a:rPr lang="en-US" sz="3000" b="1" dirty="0">
                <a:solidFill>
                  <a:srgbClr val="15203A"/>
                </a:solidFill>
                <a:latin typeface="Malgun Gothic" pitchFamily="34" charset="0"/>
                <a:ea typeface="Malgun Gothic" pitchFamily="34" charset="-122"/>
                <a:cs typeface="Malgun Gothic" pitchFamily="34" charset="-120"/>
              </a:rPr>
              <a:t>제약조건과 공정 비교 설계</a:t>
            </a:r>
            <a:endParaRPr lang="en-US" sz="3000" dirty="0"/>
          </a:p>
        </p:txBody>
      </p:sp>
      <p:sp>
        <p:nvSpPr>
          <p:cNvPr id="6" name="Text 3"/>
          <p:cNvSpPr txBox="1"/>
          <p:nvPr/>
        </p:nvSpPr>
        <p:spPr>
          <a:xfrm>
            <a:off x="566928" y="1349289"/>
            <a:ext cx="11057839" cy="339425"/>
          </a:xfrm>
          <a:prstGeom prst="rect">
            <a:avLst/>
          </a:prstGeom>
          <a:noFill/>
          <a:ln/>
        </p:spPr>
        <p:txBody>
          <a:bodyPr wrap="square" lIns="0" tIns="0" rIns="0" bIns="0" rtlCol="0" anchor="t"/>
          <a:lstStyle/>
          <a:p>
            <a:pPr indent="0" marL="0">
              <a:buNone/>
            </a:pPr>
            <a:r>
              <a:rPr lang="en-US" sz="1300" dirty="0">
                <a:solidFill>
                  <a:srgbClr val="64748B"/>
                </a:solidFill>
                <a:latin typeface="Malgun Gothic" pitchFamily="34" charset="0"/>
                <a:ea typeface="Malgun Gothic" pitchFamily="34" charset="-122"/>
                <a:cs typeface="Malgun Gothic" pitchFamily="34" charset="-120"/>
              </a:rPr>
              <a:t>LoRA와 QLoRA를 공정하게 비교하기 위해 독립변수를 하나로 고정했다</a:t>
            </a:r>
            <a:endParaRPr lang="en-US" sz="1300" dirty="0"/>
          </a:p>
        </p:txBody>
      </p:sp>
      <p:sp>
        <p:nvSpPr>
          <p:cNvPr id="7" name="Shape 4"/>
          <p:cNvSpPr/>
          <p:nvPr/>
        </p:nvSpPr>
        <p:spPr>
          <a:xfrm>
            <a:off x="566928" y="1911462"/>
            <a:ext cx="3584448" cy="1760769"/>
          </a:xfrm>
          <a:prstGeom prst="roundRect">
            <a:avLst>
              <a:gd name="adj" fmla="val 3116"/>
            </a:avLst>
          </a:prstGeom>
          <a:solidFill>
            <a:srgbClr val="F2F5FA"/>
          </a:solidFill>
          <a:ln w="12700">
            <a:solidFill>
              <a:srgbClr val="F2F5FA"/>
            </a:solidFill>
            <a:prstDash val="solid"/>
          </a:ln>
        </p:spPr>
      </p:sp>
      <p:sp>
        <p:nvSpPr>
          <p:cNvPr id="8" name="Text 5"/>
          <p:cNvSpPr txBox="1"/>
          <p:nvPr/>
        </p:nvSpPr>
        <p:spPr>
          <a:xfrm>
            <a:off x="768096" y="2059960"/>
            <a:ext cx="3182112" cy="318211"/>
          </a:xfrm>
          <a:prstGeom prst="rect">
            <a:avLst/>
          </a:prstGeom>
          <a:noFill/>
          <a:ln/>
        </p:spPr>
        <p:txBody>
          <a:bodyPr wrap="square" lIns="0" tIns="0" rIns="0" bIns="0" rtlCol="0" anchor="ctr"/>
          <a:lstStyle/>
          <a:p>
            <a:pPr indent="0" marL="0">
              <a:buNone/>
            </a:pPr>
            <a:r>
              <a:rPr lang="en-US" sz="1400" b="1" dirty="0">
                <a:solidFill>
                  <a:srgbClr val="15203A"/>
                </a:solidFill>
                <a:latin typeface="Malgun Gothic" pitchFamily="34" charset="0"/>
                <a:ea typeface="Malgun Gothic" pitchFamily="34" charset="-122"/>
                <a:cs typeface="Malgun Gothic" pitchFamily="34" charset="-120"/>
              </a:rPr>
              <a:t>Data</a:t>
            </a:r>
            <a:endParaRPr lang="en-US" sz="1400" dirty="0"/>
          </a:p>
        </p:txBody>
      </p:sp>
      <p:sp>
        <p:nvSpPr>
          <p:cNvPr id="9" name="Text 6"/>
          <p:cNvSpPr txBox="1"/>
          <p:nvPr/>
        </p:nvSpPr>
        <p:spPr>
          <a:xfrm>
            <a:off x="768096" y="2463028"/>
            <a:ext cx="128016" cy="275783"/>
          </a:xfrm>
          <a:prstGeom prst="rect">
            <a:avLst/>
          </a:prstGeom>
          <a:noFill/>
          <a:ln/>
        </p:spPr>
        <p:txBody>
          <a:bodyPr wrap="square" lIns="0" tIns="0" rIns="0" bIns="0" rtlCol="0" anchor="ctr"/>
          <a:lstStyle/>
          <a:p>
            <a:pPr indent="0" marL="0">
              <a:buNone/>
            </a:pPr>
            <a:r>
              <a:rPr lang="en-US" sz="1200" dirty="0">
                <a:solidFill>
                  <a:srgbClr val="2563EB"/>
                </a:solidFill>
                <a:latin typeface="Malgun Gothic" pitchFamily="34" charset="0"/>
                <a:ea typeface="Malgun Gothic" pitchFamily="34" charset="-122"/>
                <a:cs typeface="Malgun Gothic" pitchFamily="34" charset="-120"/>
              </a:rPr>
              <a:t>·</a:t>
            </a:r>
            <a:endParaRPr lang="en-US" sz="1200" dirty="0"/>
          </a:p>
        </p:txBody>
      </p:sp>
      <p:sp>
        <p:nvSpPr>
          <p:cNvPr id="10" name="Text 7"/>
          <p:cNvSpPr txBox="1"/>
          <p:nvPr/>
        </p:nvSpPr>
        <p:spPr>
          <a:xfrm>
            <a:off x="914400" y="2463028"/>
            <a:ext cx="3017520" cy="275783"/>
          </a:xfrm>
          <a:prstGeom prst="rect">
            <a:avLst/>
          </a:prstGeom>
          <a:noFill/>
          <a:ln/>
        </p:spPr>
        <p:txBody>
          <a:bodyPr wrap="square" lIns="0" tIns="0" rIns="0" bIns="0" rtlCol="0" anchor="ctr"/>
          <a:lstStyle/>
          <a:p>
            <a:pPr indent="0" marL="0">
              <a:buNone/>
            </a:pPr>
            <a:r>
              <a:rPr lang="en-US" sz="1100" dirty="0">
                <a:solidFill>
                  <a:srgbClr val="45516D"/>
                </a:solidFill>
                <a:latin typeface="Malgun Gothic" pitchFamily="34" charset="0"/>
                <a:ea typeface="Malgun Gothic" pitchFamily="34" charset="-122"/>
                <a:cs typeface="Malgun Gothic" pitchFamily="34" charset="-120"/>
              </a:rPr>
              <a:t>학습 데이터 31개 (SFT)</a:t>
            </a:r>
            <a:endParaRPr lang="en-US" sz="1100" dirty="0"/>
          </a:p>
        </p:txBody>
      </p:sp>
      <p:sp>
        <p:nvSpPr>
          <p:cNvPr id="11" name="Text 8"/>
          <p:cNvSpPr txBox="1"/>
          <p:nvPr/>
        </p:nvSpPr>
        <p:spPr>
          <a:xfrm>
            <a:off x="768096" y="2791846"/>
            <a:ext cx="128016" cy="275783"/>
          </a:xfrm>
          <a:prstGeom prst="rect">
            <a:avLst/>
          </a:prstGeom>
          <a:noFill/>
          <a:ln/>
        </p:spPr>
        <p:txBody>
          <a:bodyPr wrap="square" lIns="0" tIns="0" rIns="0" bIns="0" rtlCol="0" anchor="ctr"/>
          <a:lstStyle/>
          <a:p>
            <a:pPr indent="0" marL="0">
              <a:buNone/>
            </a:pPr>
            <a:r>
              <a:rPr lang="en-US" sz="1200" dirty="0">
                <a:solidFill>
                  <a:srgbClr val="2563EB"/>
                </a:solidFill>
                <a:latin typeface="Malgun Gothic" pitchFamily="34" charset="0"/>
                <a:ea typeface="Malgun Gothic" pitchFamily="34" charset="-122"/>
                <a:cs typeface="Malgun Gothic" pitchFamily="34" charset="-120"/>
              </a:rPr>
              <a:t>·</a:t>
            </a:r>
            <a:endParaRPr lang="en-US" sz="1200" dirty="0"/>
          </a:p>
        </p:txBody>
      </p:sp>
      <p:sp>
        <p:nvSpPr>
          <p:cNvPr id="12" name="Text 9"/>
          <p:cNvSpPr txBox="1"/>
          <p:nvPr/>
        </p:nvSpPr>
        <p:spPr>
          <a:xfrm>
            <a:off x="914400" y="2791846"/>
            <a:ext cx="3017520" cy="275783"/>
          </a:xfrm>
          <a:prstGeom prst="rect">
            <a:avLst/>
          </a:prstGeom>
          <a:noFill/>
          <a:ln/>
        </p:spPr>
        <p:txBody>
          <a:bodyPr wrap="square" lIns="0" tIns="0" rIns="0" bIns="0" rtlCol="0" anchor="ctr"/>
          <a:lstStyle/>
          <a:p>
            <a:pPr indent="0" marL="0">
              <a:buNone/>
            </a:pPr>
            <a:r>
              <a:rPr lang="en-US" sz="1100" dirty="0">
                <a:solidFill>
                  <a:srgbClr val="45516D"/>
                </a:solidFill>
                <a:latin typeface="Malgun Gothic" pitchFamily="34" charset="0"/>
                <a:ea typeface="Malgun Gothic" pitchFamily="34" charset="-122"/>
                <a:cs typeface="Malgun Gothic" pitchFamily="34" charset="-120"/>
              </a:rPr>
              <a:t>매우 작은 데이터셋</a:t>
            </a:r>
            <a:endParaRPr lang="en-US" sz="1100" dirty="0"/>
          </a:p>
        </p:txBody>
      </p:sp>
      <p:sp>
        <p:nvSpPr>
          <p:cNvPr id="13" name="Text 10"/>
          <p:cNvSpPr txBox="1"/>
          <p:nvPr/>
        </p:nvSpPr>
        <p:spPr>
          <a:xfrm>
            <a:off x="768096" y="3120664"/>
            <a:ext cx="128016" cy="275783"/>
          </a:xfrm>
          <a:prstGeom prst="rect">
            <a:avLst/>
          </a:prstGeom>
          <a:noFill/>
          <a:ln/>
        </p:spPr>
        <p:txBody>
          <a:bodyPr wrap="square" lIns="0" tIns="0" rIns="0" bIns="0" rtlCol="0" anchor="ctr"/>
          <a:lstStyle/>
          <a:p>
            <a:pPr indent="0" marL="0">
              <a:buNone/>
            </a:pPr>
            <a:r>
              <a:rPr lang="en-US" sz="1200" dirty="0">
                <a:solidFill>
                  <a:srgbClr val="2563EB"/>
                </a:solidFill>
                <a:latin typeface="Malgun Gothic" pitchFamily="34" charset="0"/>
                <a:ea typeface="Malgun Gothic" pitchFamily="34" charset="-122"/>
                <a:cs typeface="Malgun Gothic" pitchFamily="34" charset="-120"/>
              </a:rPr>
              <a:t>·</a:t>
            </a:r>
            <a:endParaRPr lang="en-US" sz="1200" dirty="0"/>
          </a:p>
        </p:txBody>
      </p:sp>
      <p:sp>
        <p:nvSpPr>
          <p:cNvPr id="14" name="Text 11"/>
          <p:cNvSpPr txBox="1"/>
          <p:nvPr/>
        </p:nvSpPr>
        <p:spPr>
          <a:xfrm>
            <a:off x="914400" y="3120664"/>
            <a:ext cx="3017520" cy="275783"/>
          </a:xfrm>
          <a:prstGeom prst="rect">
            <a:avLst/>
          </a:prstGeom>
          <a:noFill/>
          <a:ln/>
        </p:spPr>
        <p:txBody>
          <a:bodyPr wrap="square" lIns="0" tIns="0" rIns="0" bIns="0" rtlCol="0" anchor="ctr"/>
          <a:lstStyle/>
          <a:p>
            <a:pPr indent="0" marL="0">
              <a:buNone/>
            </a:pPr>
            <a:r>
              <a:rPr lang="en-US" sz="1100" dirty="0">
                <a:solidFill>
                  <a:srgbClr val="45516D"/>
                </a:solidFill>
                <a:latin typeface="Malgun Gothic" pitchFamily="34" charset="0"/>
                <a:ea typeface="Malgun Gothic" pitchFamily="34" charset="-122"/>
                <a:cs typeface="Malgun Gothic" pitchFamily="34" charset="-120"/>
              </a:rPr>
              <a:t>별도 대규모 검증셋 없음</a:t>
            </a:r>
            <a:endParaRPr lang="en-US" sz="1100" dirty="0"/>
          </a:p>
        </p:txBody>
      </p:sp>
      <p:sp>
        <p:nvSpPr>
          <p:cNvPr id="15" name="Shape 12"/>
          <p:cNvSpPr/>
          <p:nvPr/>
        </p:nvSpPr>
        <p:spPr>
          <a:xfrm>
            <a:off x="4480560" y="1911462"/>
            <a:ext cx="3584448" cy="1760769"/>
          </a:xfrm>
          <a:prstGeom prst="roundRect">
            <a:avLst>
              <a:gd name="adj" fmla="val 3116"/>
            </a:avLst>
          </a:prstGeom>
          <a:solidFill>
            <a:srgbClr val="F2F5FA"/>
          </a:solidFill>
          <a:ln w="12700">
            <a:solidFill>
              <a:srgbClr val="F2F5FA"/>
            </a:solidFill>
            <a:prstDash val="solid"/>
          </a:ln>
        </p:spPr>
      </p:sp>
      <p:sp>
        <p:nvSpPr>
          <p:cNvPr id="16" name="Text 13"/>
          <p:cNvSpPr txBox="1"/>
          <p:nvPr/>
        </p:nvSpPr>
        <p:spPr>
          <a:xfrm>
            <a:off x="4681728" y="2059960"/>
            <a:ext cx="3182112" cy="318211"/>
          </a:xfrm>
          <a:prstGeom prst="rect">
            <a:avLst/>
          </a:prstGeom>
          <a:noFill/>
          <a:ln/>
        </p:spPr>
        <p:txBody>
          <a:bodyPr wrap="square" lIns="0" tIns="0" rIns="0" bIns="0" rtlCol="0" anchor="ctr"/>
          <a:lstStyle/>
          <a:p>
            <a:pPr indent="0" marL="0">
              <a:buNone/>
            </a:pPr>
            <a:r>
              <a:rPr lang="en-US" sz="1400" b="1" dirty="0">
                <a:solidFill>
                  <a:srgbClr val="15203A"/>
                </a:solidFill>
                <a:latin typeface="Malgun Gothic" pitchFamily="34" charset="0"/>
                <a:ea typeface="Malgun Gothic" pitchFamily="34" charset="-122"/>
                <a:cs typeface="Malgun Gothic" pitchFamily="34" charset="-120"/>
              </a:rPr>
              <a:t>Computing</a:t>
            </a:r>
            <a:endParaRPr lang="en-US" sz="1400" dirty="0"/>
          </a:p>
        </p:txBody>
      </p:sp>
      <p:sp>
        <p:nvSpPr>
          <p:cNvPr id="17" name="Text 14"/>
          <p:cNvSpPr txBox="1"/>
          <p:nvPr/>
        </p:nvSpPr>
        <p:spPr>
          <a:xfrm>
            <a:off x="4681728" y="2463028"/>
            <a:ext cx="128016" cy="275783"/>
          </a:xfrm>
          <a:prstGeom prst="rect">
            <a:avLst/>
          </a:prstGeom>
          <a:noFill/>
          <a:ln/>
        </p:spPr>
        <p:txBody>
          <a:bodyPr wrap="square" lIns="0" tIns="0" rIns="0" bIns="0" rtlCol="0" anchor="ctr"/>
          <a:lstStyle/>
          <a:p>
            <a:pPr indent="0" marL="0">
              <a:buNone/>
            </a:pPr>
            <a:r>
              <a:rPr lang="en-US" sz="1200" dirty="0">
                <a:solidFill>
                  <a:srgbClr val="2563EB"/>
                </a:solidFill>
                <a:latin typeface="Malgun Gothic" pitchFamily="34" charset="0"/>
                <a:ea typeface="Malgun Gothic" pitchFamily="34" charset="-122"/>
                <a:cs typeface="Malgun Gothic" pitchFamily="34" charset="-120"/>
              </a:rPr>
              <a:t>·</a:t>
            </a:r>
            <a:endParaRPr lang="en-US" sz="1200" dirty="0"/>
          </a:p>
        </p:txBody>
      </p:sp>
      <p:sp>
        <p:nvSpPr>
          <p:cNvPr id="18" name="Text 15"/>
          <p:cNvSpPr txBox="1"/>
          <p:nvPr/>
        </p:nvSpPr>
        <p:spPr>
          <a:xfrm>
            <a:off x="4828032" y="2463028"/>
            <a:ext cx="3017520" cy="275783"/>
          </a:xfrm>
          <a:prstGeom prst="rect">
            <a:avLst/>
          </a:prstGeom>
          <a:noFill/>
          <a:ln/>
        </p:spPr>
        <p:txBody>
          <a:bodyPr wrap="square" lIns="0" tIns="0" rIns="0" bIns="0" rtlCol="0" anchor="ctr"/>
          <a:lstStyle/>
          <a:p>
            <a:pPr indent="0" marL="0">
              <a:buNone/>
            </a:pPr>
            <a:r>
              <a:rPr lang="en-US" sz="1100" dirty="0">
                <a:solidFill>
                  <a:srgbClr val="45516D"/>
                </a:solidFill>
                <a:latin typeface="Malgun Gothic" pitchFamily="34" charset="0"/>
                <a:ea typeface="Malgun Gothic" pitchFamily="34" charset="-122"/>
                <a:cs typeface="Malgun Gothic" pitchFamily="34" charset="-120"/>
              </a:rPr>
              <a:t>RTX 4060 Laptop · 8GB VRAM</a:t>
            </a:r>
            <a:endParaRPr lang="en-US" sz="1100" dirty="0"/>
          </a:p>
        </p:txBody>
      </p:sp>
      <p:sp>
        <p:nvSpPr>
          <p:cNvPr id="19" name="Text 16"/>
          <p:cNvSpPr txBox="1"/>
          <p:nvPr/>
        </p:nvSpPr>
        <p:spPr>
          <a:xfrm>
            <a:off x="4681728" y="2791846"/>
            <a:ext cx="128016" cy="275783"/>
          </a:xfrm>
          <a:prstGeom prst="rect">
            <a:avLst/>
          </a:prstGeom>
          <a:noFill/>
          <a:ln/>
        </p:spPr>
        <p:txBody>
          <a:bodyPr wrap="square" lIns="0" tIns="0" rIns="0" bIns="0" rtlCol="0" anchor="ctr"/>
          <a:lstStyle/>
          <a:p>
            <a:pPr indent="0" marL="0">
              <a:buNone/>
            </a:pPr>
            <a:r>
              <a:rPr lang="en-US" sz="1200" dirty="0">
                <a:solidFill>
                  <a:srgbClr val="2563EB"/>
                </a:solidFill>
                <a:latin typeface="Malgun Gothic" pitchFamily="34" charset="0"/>
                <a:ea typeface="Malgun Gothic" pitchFamily="34" charset="-122"/>
                <a:cs typeface="Malgun Gothic" pitchFamily="34" charset="-120"/>
              </a:rPr>
              <a:t>·</a:t>
            </a:r>
            <a:endParaRPr lang="en-US" sz="1200" dirty="0"/>
          </a:p>
        </p:txBody>
      </p:sp>
      <p:sp>
        <p:nvSpPr>
          <p:cNvPr id="20" name="Text 17"/>
          <p:cNvSpPr txBox="1"/>
          <p:nvPr/>
        </p:nvSpPr>
        <p:spPr>
          <a:xfrm>
            <a:off x="4828032" y="2791846"/>
            <a:ext cx="3017520" cy="275783"/>
          </a:xfrm>
          <a:prstGeom prst="rect">
            <a:avLst/>
          </a:prstGeom>
          <a:noFill/>
          <a:ln/>
        </p:spPr>
        <p:txBody>
          <a:bodyPr wrap="square" lIns="0" tIns="0" rIns="0" bIns="0" rtlCol="0" anchor="ctr"/>
          <a:lstStyle/>
          <a:p>
            <a:pPr indent="0" marL="0">
              <a:buNone/>
            </a:pPr>
            <a:r>
              <a:rPr lang="en-US" sz="1100" dirty="0">
                <a:solidFill>
                  <a:srgbClr val="45516D"/>
                </a:solidFill>
                <a:latin typeface="Malgun Gothic" pitchFamily="34" charset="0"/>
                <a:ea typeface="Malgun Gothic" pitchFamily="34" charset="-122"/>
                <a:cs typeface="Malgun Gothic" pitchFamily="34" charset="-120"/>
              </a:rPr>
              <a:t>Full Fine-Tuning은 메모리 비용 과다</a:t>
            </a:r>
            <a:endParaRPr lang="en-US" sz="1100" dirty="0"/>
          </a:p>
        </p:txBody>
      </p:sp>
      <p:sp>
        <p:nvSpPr>
          <p:cNvPr id="21" name="Text 18"/>
          <p:cNvSpPr txBox="1"/>
          <p:nvPr/>
        </p:nvSpPr>
        <p:spPr>
          <a:xfrm>
            <a:off x="4681728" y="3120664"/>
            <a:ext cx="128016" cy="275783"/>
          </a:xfrm>
          <a:prstGeom prst="rect">
            <a:avLst/>
          </a:prstGeom>
          <a:noFill/>
          <a:ln/>
        </p:spPr>
        <p:txBody>
          <a:bodyPr wrap="square" lIns="0" tIns="0" rIns="0" bIns="0" rtlCol="0" anchor="ctr"/>
          <a:lstStyle/>
          <a:p>
            <a:pPr indent="0" marL="0">
              <a:buNone/>
            </a:pPr>
            <a:r>
              <a:rPr lang="en-US" sz="1200" dirty="0">
                <a:solidFill>
                  <a:srgbClr val="2563EB"/>
                </a:solidFill>
                <a:latin typeface="Malgun Gothic" pitchFamily="34" charset="0"/>
                <a:ea typeface="Malgun Gothic" pitchFamily="34" charset="-122"/>
                <a:cs typeface="Malgun Gothic" pitchFamily="34" charset="-120"/>
              </a:rPr>
              <a:t>·</a:t>
            </a:r>
            <a:endParaRPr lang="en-US" sz="1200" dirty="0"/>
          </a:p>
        </p:txBody>
      </p:sp>
      <p:sp>
        <p:nvSpPr>
          <p:cNvPr id="22" name="Text 19"/>
          <p:cNvSpPr txBox="1"/>
          <p:nvPr/>
        </p:nvSpPr>
        <p:spPr>
          <a:xfrm>
            <a:off x="4828032" y="3120664"/>
            <a:ext cx="3017520" cy="275783"/>
          </a:xfrm>
          <a:prstGeom prst="rect">
            <a:avLst/>
          </a:prstGeom>
          <a:noFill/>
          <a:ln/>
        </p:spPr>
        <p:txBody>
          <a:bodyPr wrap="square" lIns="0" tIns="0" rIns="0" bIns="0" rtlCol="0" anchor="ctr"/>
          <a:lstStyle/>
          <a:p>
            <a:pPr indent="0" marL="0">
              <a:buNone/>
            </a:pPr>
            <a:r>
              <a:rPr lang="en-US" sz="1100" dirty="0">
                <a:solidFill>
                  <a:srgbClr val="45516D"/>
                </a:solidFill>
                <a:latin typeface="Malgun Gothic" pitchFamily="34" charset="0"/>
                <a:ea typeface="Malgun Gothic" pitchFamily="34" charset="-122"/>
                <a:cs typeface="Malgun Gothic" pitchFamily="34" charset="-120"/>
              </a:rPr>
              <a:t>optimizer 상태 메모리도 제약</a:t>
            </a:r>
            <a:endParaRPr lang="en-US" sz="1100" dirty="0"/>
          </a:p>
        </p:txBody>
      </p:sp>
      <p:sp>
        <p:nvSpPr>
          <p:cNvPr id="23" name="Shape 20"/>
          <p:cNvSpPr/>
          <p:nvPr/>
        </p:nvSpPr>
        <p:spPr>
          <a:xfrm>
            <a:off x="8394192" y="1911462"/>
            <a:ext cx="3584448" cy="1760769"/>
          </a:xfrm>
          <a:prstGeom prst="roundRect">
            <a:avLst>
              <a:gd name="adj" fmla="val 3116"/>
            </a:avLst>
          </a:prstGeom>
          <a:solidFill>
            <a:srgbClr val="F2F5FA"/>
          </a:solidFill>
          <a:ln w="12700">
            <a:solidFill>
              <a:srgbClr val="F2F5FA"/>
            </a:solidFill>
            <a:prstDash val="solid"/>
          </a:ln>
        </p:spPr>
      </p:sp>
      <p:sp>
        <p:nvSpPr>
          <p:cNvPr id="24" name="Text 21"/>
          <p:cNvSpPr txBox="1"/>
          <p:nvPr/>
        </p:nvSpPr>
        <p:spPr>
          <a:xfrm>
            <a:off x="8595360" y="2059960"/>
            <a:ext cx="3182112" cy="318211"/>
          </a:xfrm>
          <a:prstGeom prst="rect">
            <a:avLst/>
          </a:prstGeom>
          <a:noFill/>
          <a:ln/>
        </p:spPr>
        <p:txBody>
          <a:bodyPr wrap="square" lIns="0" tIns="0" rIns="0" bIns="0" rtlCol="0" anchor="ctr"/>
          <a:lstStyle/>
          <a:p>
            <a:pPr indent="0" marL="0">
              <a:buNone/>
            </a:pPr>
            <a:r>
              <a:rPr lang="en-US" sz="1400" b="1" dirty="0">
                <a:solidFill>
                  <a:srgbClr val="15203A"/>
                </a:solidFill>
                <a:latin typeface="Malgun Gothic" pitchFamily="34" charset="0"/>
                <a:ea typeface="Malgun Gothic" pitchFamily="34" charset="-122"/>
                <a:cs typeface="Malgun Gothic" pitchFamily="34" charset="-120"/>
              </a:rPr>
              <a:t>Experiment</a:t>
            </a:r>
            <a:endParaRPr lang="en-US" sz="1400" dirty="0"/>
          </a:p>
        </p:txBody>
      </p:sp>
      <p:sp>
        <p:nvSpPr>
          <p:cNvPr id="25" name="Text 22"/>
          <p:cNvSpPr txBox="1"/>
          <p:nvPr/>
        </p:nvSpPr>
        <p:spPr>
          <a:xfrm>
            <a:off x="8595360" y="2463028"/>
            <a:ext cx="128016" cy="275783"/>
          </a:xfrm>
          <a:prstGeom prst="rect">
            <a:avLst/>
          </a:prstGeom>
          <a:noFill/>
          <a:ln/>
        </p:spPr>
        <p:txBody>
          <a:bodyPr wrap="square" lIns="0" tIns="0" rIns="0" bIns="0" rtlCol="0" anchor="ctr"/>
          <a:lstStyle/>
          <a:p>
            <a:pPr indent="0" marL="0">
              <a:buNone/>
            </a:pPr>
            <a:r>
              <a:rPr lang="en-US" sz="1200" dirty="0">
                <a:solidFill>
                  <a:srgbClr val="2563EB"/>
                </a:solidFill>
                <a:latin typeface="Malgun Gothic" pitchFamily="34" charset="0"/>
                <a:ea typeface="Malgun Gothic" pitchFamily="34" charset="-122"/>
                <a:cs typeface="Malgun Gothic" pitchFamily="34" charset="-120"/>
              </a:rPr>
              <a:t>·</a:t>
            </a:r>
            <a:endParaRPr lang="en-US" sz="1200" dirty="0"/>
          </a:p>
        </p:txBody>
      </p:sp>
      <p:sp>
        <p:nvSpPr>
          <p:cNvPr id="26" name="Text 23"/>
          <p:cNvSpPr txBox="1"/>
          <p:nvPr/>
        </p:nvSpPr>
        <p:spPr>
          <a:xfrm>
            <a:off x="8741664" y="2463028"/>
            <a:ext cx="3017520" cy="275783"/>
          </a:xfrm>
          <a:prstGeom prst="rect">
            <a:avLst/>
          </a:prstGeom>
          <a:noFill/>
          <a:ln/>
        </p:spPr>
        <p:txBody>
          <a:bodyPr wrap="square" lIns="0" tIns="0" rIns="0" bIns="0" rtlCol="0" anchor="ctr"/>
          <a:lstStyle/>
          <a:p>
            <a:pPr indent="0" marL="0">
              <a:buNone/>
            </a:pPr>
            <a:r>
              <a:rPr lang="en-US" sz="1100" dirty="0">
                <a:solidFill>
                  <a:srgbClr val="45516D"/>
                </a:solidFill>
                <a:latin typeface="Malgun Gothic" pitchFamily="34" charset="0"/>
                <a:ea typeface="Malgun Gothic" pitchFamily="34" charset="-122"/>
                <a:cs typeface="Malgun Gothic" pitchFamily="34" charset="-120"/>
              </a:rPr>
              <a:t>두 노트북의 학습 조건 전면 동일</a:t>
            </a:r>
            <a:endParaRPr lang="en-US" sz="1100" dirty="0"/>
          </a:p>
        </p:txBody>
      </p:sp>
      <p:sp>
        <p:nvSpPr>
          <p:cNvPr id="27" name="Text 24"/>
          <p:cNvSpPr txBox="1"/>
          <p:nvPr/>
        </p:nvSpPr>
        <p:spPr>
          <a:xfrm>
            <a:off x="8595360" y="2791846"/>
            <a:ext cx="128016" cy="275783"/>
          </a:xfrm>
          <a:prstGeom prst="rect">
            <a:avLst/>
          </a:prstGeom>
          <a:noFill/>
          <a:ln/>
        </p:spPr>
        <p:txBody>
          <a:bodyPr wrap="square" lIns="0" tIns="0" rIns="0" bIns="0" rtlCol="0" anchor="ctr"/>
          <a:lstStyle/>
          <a:p>
            <a:pPr indent="0" marL="0">
              <a:buNone/>
            </a:pPr>
            <a:r>
              <a:rPr lang="en-US" sz="1200" dirty="0">
                <a:solidFill>
                  <a:srgbClr val="2563EB"/>
                </a:solidFill>
                <a:latin typeface="Malgun Gothic" pitchFamily="34" charset="0"/>
                <a:ea typeface="Malgun Gothic" pitchFamily="34" charset="-122"/>
                <a:cs typeface="Malgun Gothic" pitchFamily="34" charset="-120"/>
              </a:rPr>
              <a:t>·</a:t>
            </a:r>
            <a:endParaRPr lang="en-US" sz="1200" dirty="0"/>
          </a:p>
        </p:txBody>
      </p:sp>
      <p:sp>
        <p:nvSpPr>
          <p:cNvPr id="28" name="Text 25"/>
          <p:cNvSpPr txBox="1"/>
          <p:nvPr/>
        </p:nvSpPr>
        <p:spPr>
          <a:xfrm>
            <a:off x="8741664" y="2791846"/>
            <a:ext cx="3017520" cy="275783"/>
          </a:xfrm>
          <a:prstGeom prst="rect">
            <a:avLst/>
          </a:prstGeom>
          <a:noFill/>
          <a:ln/>
        </p:spPr>
        <p:txBody>
          <a:bodyPr wrap="square" lIns="0" tIns="0" rIns="0" bIns="0" rtlCol="0" anchor="ctr"/>
          <a:lstStyle/>
          <a:p>
            <a:pPr indent="0" marL="0">
              <a:buNone/>
            </a:pPr>
            <a:r>
              <a:rPr lang="en-US" sz="1100" dirty="0">
                <a:solidFill>
                  <a:srgbClr val="45516D"/>
                </a:solidFill>
                <a:latin typeface="Malgun Gothic" pitchFamily="34" charset="0"/>
                <a:ea typeface="Malgun Gothic" pitchFamily="34" charset="-122"/>
                <a:cs typeface="Malgun Gothic" pitchFamily="34" charset="-120"/>
              </a:rPr>
              <a:t>동일 테스트 질문 5종 사용</a:t>
            </a:r>
            <a:endParaRPr lang="en-US" sz="1100" dirty="0"/>
          </a:p>
        </p:txBody>
      </p:sp>
      <p:sp>
        <p:nvSpPr>
          <p:cNvPr id="29" name="Text 26"/>
          <p:cNvSpPr txBox="1"/>
          <p:nvPr/>
        </p:nvSpPr>
        <p:spPr>
          <a:xfrm>
            <a:off x="8595360" y="3120664"/>
            <a:ext cx="128016" cy="275783"/>
          </a:xfrm>
          <a:prstGeom prst="rect">
            <a:avLst/>
          </a:prstGeom>
          <a:noFill/>
          <a:ln/>
        </p:spPr>
        <p:txBody>
          <a:bodyPr wrap="square" lIns="0" tIns="0" rIns="0" bIns="0" rtlCol="0" anchor="ctr"/>
          <a:lstStyle/>
          <a:p>
            <a:pPr indent="0" marL="0">
              <a:buNone/>
            </a:pPr>
            <a:r>
              <a:rPr lang="en-US" sz="1200" dirty="0">
                <a:solidFill>
                  <a:srgbClr val="2563EB"/>
                </a:solidFill>
                <a:latin typeface="Malgun Gothic" pitchFamily="34" charset="0"/>
                <a:ea typeface="Malgun Gothic" pitchFamily="34" charset="-122"/>
                <a:cs typeface="Malgun Gothic" pitchFamily="34" charset="-120"/>
              </a:rPr>
              <a:t>·</a:t>
            </a:r>
            <a:endParaRPr lang="en-US" sz="1200" dirty="0"/>
          </a:p>
        </p:txBody>
      </p:sp>
      <p:sp>
        <p:nvSpPr>
          <p:cNvPr id="30" name="Text 27"/>
          <p:cNvSpPr txBox="1"/>
          <p:nvPr/>
        </p:nvSpPr>
        <p:spPr>
          <a:xfrm>
            <a:off x="8741664" y="3120664"/>
            <a:ext cx="3017520" cy="275783"/>
          </a:xfrm>
          <a:prstGeom prst="rect">
            <a:avLst/>
          </a:prstGeom>
          <a:noFill/>
          <a:ln/>
        </p:spPr>
        <p:txBody>
          <a:bodyPr wrap="square" lIns="0" tIns="0" rIns="0" bIns="0" rtlCol="0" anchor="ctr"/>
          <a:lstStyle/>
          <a:p>
            <a:pPr indent="0" marL="0">
              <a:buNone/>
            </a:pPr>
            <a:r>
              <a:rPr lang="en-US" sz="1100" dirty="0">
                <a:solidFill>
                  <a:srgbClr val="45516D"/>
                </a:solidFill>
                <a:latin typeface="Malgun Gothic" pitchFamily="34" charset="0"/>
                <a:ea typeface="Malgun Gothic" pitchFamily="34" charset="-122"/>
                <a:cs typeface="Malgun Gothic" pitchFamily="34" charset="-120"/>
              </a:rPr>
              <a:t>학습 셀은 각 1회만 실행</a:t>
            </a:r>
            <a:endParaRPr lang="en-US" sz="1100" dirty="0"/>
          </a:p>
        </p:txBody>
      </p:sp>
      <p:sp>
        <p:nvSpPr>
          <p:cNvPr id="31" name="Text 28"/>
          <p:cNvSpPr txBox="1"/>
          <p:nvPr/>
        </p:nvSpPr>
        <p:spPr>
          <a:xfrm>
            <a:off x="566928" y="3884371"/>
            <a:ext cx="5486400" cy="318211"/>
          </a:xfrm>
          <a:prstGeom prst="rect">
            <a:avLst/>
          </a:prstGeom>
          <a:noFill/>
          <a:ln/>
        </p:spPr>
        <p:txBody>
          <a:bodyPr wrap="square" lIns="0" tIns="0" rIns="0" bIns="0" rtlCol="0" anchor="ctr"/>
          <a:lstStyle/>
          <a:p>
            <a:pPr indent="0" marL="0">
              <a:buNone/>
            </a:pPr>
            <a:r>
              <a:rPr lang="en-US" sz="1300" b="1" dirty="0">
                <a:solidFill>
                  <a:srgbClr val="15203A"/>
                </a:solidFill>
                <a:latin typeface="Malgun Gothic" pitchFamily="34" charset="0"/>
                <a:ea typeface="Malgun Gothic" pitchFamily="34" charset="-122"/>
                <a:cs typeface="Malgun Gothic" pitchFamily="34" charset="-120"/>
              </a:rPr>
              <a:t>동일하게 고정한 학습 조건</a:t>
            </a:r>
            <a:endParaRPr lang="en-US" sz="1300" dirty="0"/>
          </a:p>
        </p:txBody>
      </p:sp>
      <p:sp>
        <p:nvSpPr>
          <p:cNvPr id="32" name="Shape 29"/>
          <p:cNvSpPr/>
          <p:nvPr/>
        </p:nvSpPr>
        <p:spPr>
          <a:xfrm>
            <a:off x="566928" y="4308653"/>
            <a:ext cx="3529584" cy="318211"/>
          </a:xfrm>
          <a:prstGeom prst="roundRect">
            <a:avLst>
              <a:gd name="adj" fmla="val 8621"/>
            </a:avLst>
          </a:prstGeom>
          <a:solidFill>
            <a:srgbClr val="F7F9FC"/>
          </a:solidFill>
          <a:ln w="12700">
            <a:solidFill>
              <a:srgbClr val="FFFFFF"/>
            </a:solidFill>
            <a:prstDash val="solid"/>
          </a:ln>
        </p:spPr>
      </p:sp>
      <p:sp>
        <p:nvSpPr>
          <p:cNvPr id="33" name="Text 30"/>
          <p:cNvSpPr txBox="1"/>
          <p:nvPr/>
        </p:nvSpPr>
        <p:spPr>
          <a:xfrm>
            <a:off x="676656" y="4308653"/>
            <a:ext cx="1517904" cy="318211"/>
          </a:xfrm>
          <a:prstGeom prst="rect">
            <a:avLst/>
          </a:prstGeom>
          <a:noFill/>
          <a:ln/>
        </p:spPr>
        <p:txBody>
          <a:bodyPr wrap="square" lIns="0" tIns="0" rIns="0" bIns="0" rtlCol="0" anchor="ctr"/>
          <a:lstStyle/>
          <a:p>
            <a:pPr indent="0" marL="0">
              <a:buNone/>
            </a:pPr>
            <a:r>
              <a:rPr lang="en-US" sz="1050" dirty="0">
                <a:solidFill>
                  <a:srgbClr val="64748B"/>
                </a:solidFill>
                <a:latin typeface="Malgun Gothic" pitchFamily="34" charset="0"/>
                <a:ea typeface="Malgun Gothic" pitchFamily="34" charset="-122"/>
                <a:cs typeface="Malgun Gothic" pitchFamily="34" charset="-120"/>
              </a:rPr>
              <a:t>Base Model</a:t>
            </a:r>
            <a:endParaRPr lang="en-US" sz="1050" dirty="0"/>
          </a:p>
        </p:txBody>
      </p:sp>
      <p:sp>
        <p:nvSpPr>
          <p:cNvPr id="34" name="Text 31"/>
          <p:cNvSpPr txBox="1"/>
          <p:nvPr/>
        </p:nvSpPr>
        <p:spPr>
          <a:xfrm>
            <a:off x="2212848" y="4308653"/>
            <a:ext cx="1828800" cy="318211"/>
          </a:xfrm>
          <a:prstGeom prst="rect">
            <a:avLst/>
          </a:prstGeom>
          <a:noFill/>
          <a:ln/>
        </p:spPr>
        <p:txBody>
          <a:bodyPr wrap="square" lIns="0" tIns="0" rIns="0" bIns="0" rtlCol="0" anchor="ctr"/>
          <a:lstStyle/>
          <a:p>
            <a:pPr indent="0" marL="0">
              <a:buNone/>
            </a:pPr>
            <a:r>
              <a:rPr lang="en-US" sz="880" dirty="0">
                <a:solidFill>
                  <a:srgbClr val="15203A"/>
                </a:solidFill>
                <a:latin typeface="Courier New" pitchFamily="34" charset="0"/>
                <a:ea typeface="Courier New" pitchFamily="34" charset="-122"/>
                <a:cs typeface="Courier New" pitchFamily="34" charset="-120"/>
              </a:rPr>
              <a:t>Qwen/Qwen3-1.7B</a:t>
            </a:r>
            <a:endParaRPr lang="en-US" sz="880" dirty="0"/>
          </a:p>
        </p:txBody>
      </p:sp>
      <p:sp>
        <p:nvSpPr>
          <p:cNvPr id="35" name="Shape 32"/>
          <p:cNvSpPr/>
          <p:nvPr/>
        </p:nvSpPr>
        <p:spPr>
          <a:xfrm>
            <a:off x="566928" y="4669292"/>
            <a:ext cx="3529584" cy="318211"/>
          </a:xfrm>
          <a:prstGeom prst="roundRect">
            <a:avLst>
              <a:gd name="adj" fmla="val 8621"/>
            </a:avLst>
          </a:prstGeom>
          <a:solidFill>
            <a:srgbClr val="FFFFFF"/>
          </a:solidFill>
          <a:ln w="12700">
            <a:solidFill>
              <a:srgbClr val="FFFFFF"/>
            </a:solidFill>
            <a:prstDash val="solid"/>
          </a:ln>
        </p:spPr>
      </p:sp>
      <p:sp>
        <p:nvSpPr>
          <p:cNvPr id="36" name="Text 33"/>
          <p:cNvSpPr txBox="1"/>
          <p:nvPr/>
        </p:nvSpPr>
        <p:spPr>
          <a:xfrm>
            <a:off x="676656" y="4669292"/>
            <a:ext cx="1517904" cy="318211"/>
          </a:xfrm>
          <a:prstGeom prst="rect">
            <a:avLst/>
          </a:prstGeom>
          <a:noFill/>
          <a:ln/>
        </p:spPr>
        <p:txBody>
          <a:bodyPr wrap="square" lIns="0" tIns="0" rIns="0" bIns="0" rtlCol="0" anchor="ctr"/>
          <a:lstStyle/>
          <a:p>
            <a:pPr indent="0" marL="0">
              <a:buNone/>
            </a:pPr>
            <a:r>
              <a:rPr lang="en-US" sz="1050" dirty="0">
                <a:solidFill>
                  <a:srgbClr val="64748B"/>
                </a:solidFill>
                <a:latin typeface="Malgun Gothic" pitchFamily="34" charset="0"/>
                <a:ea typeface="Malgun Gothic" pitchFamily="34" charset="-122"/>
                <a:cs typeface="Malgun Gothic" pitchFamily="34" charset="-120"/>
              </a:rPr>
              <a:t>Dataset</a:t>
            </a:r>
            <a:endParaRPr lang="en-US" sz="1050" dirty="0"/>
          </a:p>
        </p:txBody>
      </p:sp>
      <p:sp>
        <p:nvSpPr>
          <p:cNvPr id="37" name="Text 34"/>
          <p:cNvSpPr txBox="1"/>
          <p:nvPr/>
        </p:nvSpPr>
        <p:spPr>
          <a:xfrm>
            <a:off x="2212848" y="4669292"/>
            <a:ext cx="1828800" cy="318211"/>
          </a:xfrm>
          <a:prstGeom prst="rect">
            <a:avLst/>
          </a:prstGeom>
          <a:noFill/>
          <a:ln/>
        </p:spPr>
        <p:txBody>
          <a:bodyPr wrap="square" lIns="0" tIns="0" rIns="0" bIns="0" rtlCol="0" anchor="ctr"/>
          <a:lstStyle/>
          <a:p>
            <a:pPr indent="0" marL="0">
              <a:buNone/>
            </a:pPr>
            <a:r>
              <a:rPr lang="en-US" sz="880" dirty="0">
                <a:solidFill>
                  <a:srgbClr val="15203A"/>
                </a:solidFill>
                <a:latin typeface="Courier New" pitchFamily="34" charset="0"/>
                <a:ea typeface="Courier New" pitchFamily="34" charset="-122"/>
                <a:cs typeface="Courier New" pitchFamily="34" charset="-120"/>
              </a:rPr>
              <a:t>31 samples</a:t>
            </a:r>
            <a:endParaRPr lang="en-US" sz="880" dirty="0"/>
          </a:p>
        </p:txBody>
      </p:sp>
      <p:sp>
        <p:nvSpPr>
          <p:cNvPr id="38" name="Shape 35"/>
          <p:cNvSpPr/>
          <p:nvPr/>
        </p:nvSpPr>
        <p:spPr>
          <a:xfrm>
            <a:off x="566928" y="5029932"/>
            <a:ext cx="3529584" cy="318211"/>
          </a:xfrm>
          <a:prstGeom prst="roundRect">
            <a:avLst>
              <a:gd name="adj" fmla="val 8621"/>
            </a:avLst>
          </a:prstGeom>
          <a:solidFill>
            <a:srgbClr val="F7F9FC"/>
          </a:solidFill>
          <a:ln w="12700">
            <a:solidFill>
              <a:srgbClr val="FFFFFF"/>
            </a:solidFill>
            <a:prstDash val="solid"/>
          </a:ln>
        </p:spPr>
      </p:sp>
      <p:sp>
        <p:nvSpPr>
          <p:cNvPr id="39" name="Text 36"/>
          <p:cNvSpPr txBox="1"/>
          <p:nvPr/>
        </p:nvSpPr>
        <p:spPr>
          <a:xfrm>
            <a:off x="676656" y="5029932"/>
            <a:ext cx="1517904" cy="318211"/>
          </a:xfrm>
          <a:prstGeom prst="rect">
            <a:avLst/>
          </a:prstGeom>
          <a:noFill/>
          <a:ln/>
        </p:spPr>
        <p:txBody>
          <a:bodyPr wrap="square" lIns="0" tIns="0" rIns="0" bIns="0" rtlCol="0" anchor="ctr"/>
          <a:lstStyle/>
          <a:p>
            <a:pPr indent="0" marL="0">
              <a:buNone/>
            </a:pPr>
            <a:r>
              <a:rPr lang="en-US" sz="1050" dirty="0">
                <a:solidFill>
                  <a:srgbClr val="64748B"/>
                </a:solidFill>
                <a:latin typeface="Malgun Gothic" pitchFamily="34" charset="0"/>
                <a:ea typeface="Malgun Gothic" pitchFamily="34" charset="-122"/>
                <a:cs typeface="Malgun Gothic" pitchFamily="34" charset="-120"/>
              </a:rPr>
              <a:t>LoRA rank / alpha</a:t>
            </a:r>
            <a:endParaRPr lang="en-US" sz="1050" dirty="0"/>
          </a:p>
        </p:txBody>
      </p:sp>
      <p:sp>
        <p:nvSpPr>
          <p:cNvPr id="40" name="Text 37"/>
          <p:cNvSpPr txBox="1"/>
          <p:nvPr/>
        </p:nvSpPr>
        <p:spPr>
          <a:xfrm>
            <a:off x="2212848" y="5029932"/>
            <a:ext cx="1828800" cy="318211"/>
          </a:xfrm>
          <a:prstGeom prst="rect">
            <a:avLst/>
          </a:prstGeom>
          <a:noFill/>
          <a:ln/>
        </p:spPr>
        <p:txBody>
          <a:bodyPr wrap="square" lIns="0" tIns="0" rIns="0" bIns="0" rtlCol="0" anchor="ctr"/>
          <a:lstStyle/>
          <a:p>
            <a:pPr indent="0" marL="0">
              <a:buNone/>
            </a:pPr>
            <a:r>
              <a:rPr lang="en-US" sz="880" dirty="0">
                <a:solidFill>
                  <a:srgbClr val="15203A"/>
                </a:solidFill>
                <a:latin typeface="Courier New" pitchFamily="34" charset="0"/>
                <a:ea typeface="Courier New" pitchFamily="34" charset="-122"/>
                <a:cs typeface="Courier New" pitchFamily="34" charset="-120"/>
              </a:rPr>
              <a:t>r=16 / alpha=32</a:t>
            </a:r>
            <a:endParaRPr lang="en-US" sz="880" dirty="0"/>
          </a:p>
        </p:txBody>
      </p:sp>
      <p:sp>
        <p:nvSpPr>
          <p:cNvPr id="41" name="Shape 38"/>
          <p:cNvSpPr/>
          <p:nvPr/>
        </p:nvSpPr>
        <p:spPr>
          <a:xfrm>
            <a:off x="566928" y="5390571"/>
            <a:ext cx="3529584" cy="318211"/>
          </a:xfrm>
          <a:prstGeom prst="roundRect">
            <a:avLst>
              <a:gd name="adj" fmla="val 8621"/>
            </a:avLst>
          </a:prstGeom>
          <a:solidFill>
            <a:srgbClr val="FFFFFF"/>
          </a:solidFill>
          <a:ln w="12700">
            <a:solidFill>
              <a:srgbClr val="FFFFFF"/>
            </a:solidFill>
            <a:prstDash val="solid"/>
          </a:ln>
        </p:spPr>
      </p:sp>
      <p:sp>
        <p:nvSpPr>
          <p:cNvPr id="42" name="Text 39"/>
          <p:cNvSpPr txBox="1"/>
          <p:nvPr/>
        </p:nvSpPr>
        <p:spPr>
          <a:xfrm>
            <a:off x="676656" y="5390571"/>
            <a:ext cx="1517904" cy="318211"/>
          </a:xfrm>
          <a:prstGeom prst="rect">
            <a:avLst/>
          </a:prstGeom>
          <a:noFill/>
          <a:ln/>
        </p:spPr>
        <p:txBody>
          <a:bodyPr wrap="square" lIns="0" tIns="0" rIns="0" bIns="0" rtlCol="0" anchor="ctr"/>
          <a:lstStyle/>
          <a:p>
            <a:pPr indent="0" marL="0">
              <a:buNone/>
            </a:pPr>
            <a:r>
              <a:rPr lang="en-US" sz="1050" dirty="0">
                <a:solidFill>
                  <a:srgbClr val="64748B"/>
                </a:solidFill>
                <a:latin typeface="Malgun Gothic" pitchFamily="34" charset="0"/>
                <a:ea typeface="Malgun Gothic" pitchFamily="34" charset="-122"/>
                <a:cs typeface="Malgun Gothic" pitchFamily="34" charset="-120"/>
              </a:rPr>
              <a:t>lora_dropout</a:t>
            </a:r>
            <a:endParaRPr lang="en-US" sz="1050" dirty="0"/>
          </a:p>
        </p:txBody>
      </p:sp>
      <p:sp>
        <p:nvSpPr>
          <p:cNvPr id="43" name="Text 40"/>
          <p:cNvSpPr txBox="1"/>
          <p:nvPr/>
        </p:nvSpPr>
        <p:spPr>
          <a:xfrm>
            <a:off x="2212848" y="5390571"/>
            <a:ext cx="1828800" cy="318211"/>
          </a:xfrm>
          <a:prstGeom prst="rect">
            <a:avLst/>
          </a:prstGeom>
          <a:noFill/>
          <a:ln/>
        </p:spPr>
        <p:txBody>
          <a:bodyPr wrap="square" lIns="0" tIns="0" rIns="0" bIns="0" rtlCol="0" anchor="ctr"/>
          <a:lstStyle/>
          <a:p>
            <a:pPr indent="0" marL="0">
              <a:buNone/>
            </a:pPr>
            <a:r>
              <a:rPr lang="en-US" sz="880" dirty="0">
                <a:solidFill>
                  <a:srgbClr val="15203A"/>
                </a:solidFill>
                <a:latin typeface="Courier New" pitchFamily="34" charset="0"/>
                <a:ea typeface="Courier New" pitchFamily="34" charset="-122"/>
                <a:cs typeface="Courier New" pitchFamily="34" charset="-120"/>
              </a:rPr>
              <a:t>0.05</a:t>
            </a:r>
            <a:endParaRPr lang="en-US" sz="880" dirty="0"/>
          </a:p>
        </p:txBody>
      </p:sp>
      <p:sp>
        <p:nvSpPr>
          <p:cNvPr id="44" name="Shape 41"/>
          <p:cNvSpPr/>
          <p:nvPr/>
        </p:nvSpPr>
        <p:spPr>
          <a:xfrm>
            <a:off x="566928" y="5751210"/>
            <a:ext cx="3529584" cy="318211"/>
          </a:xfrm>
          <a:prstGeom prst="roundRect">
            <a:avLst>
              <a:gd name="adj" fmla="val 8621"/>
            </a:avLst>
          </a:prstGeom>
          <a:solidFill>
            <a:srgbClr val="F7F9FC"/>
          </a:solidFill>
          <a:ln w="12700">
            <a:solidFill>
              <a:srgbClr val="FFFFFF"/>
            </a:solidFill>
            <a:prstDash val="solid"/>
          </a:ln>
        </p:spPr>
      </p:sp>
      <p:sp>
        <p:nvSpPr>
          <p:cNvPr id="45" name="Text 42"/>
          <p:cNvSpPr txBox="1"/>
          <p:nvPr/>
        </p:nvSpPr>
        <p:spPr>
          <a:xfrm>
            <a:off x="676656" y="5751210"/>
            <a:ext cx="1517904" cy="318211"/>
          </a:xfrm>
          <a:prstGeom prst="rect">
            <a:avLst/>
          </a:prstGeom>
          <a:noFill/>
          <a:ln/>
        </p:spPr>
        <p:txBody>
          <a:bodyPr wrap="square" lIns="0" tIns="0" rIns="0" bIns="0" rtlCol="0" anchor="ctr"/>
          <a:lstStyle/>
          <a:p>
            <a:pPr indent="0" marL="0">
              <a:buNone/>
            </a:pPr>
            <a:r>
              <a:rPr lang="en-US" sz="1050" dirty="0">
                <a:solidFill>
                  <a:srgbClr val="64748B"/>
                </a:solidFill>
                <a:latin typeface="Malgun Gothic" pitchFamily="34" charset="0"/>
                <a:ea typeface="Malgun Gothic" pitchFamily="34" charset="-122"/>
                <a:cs typeface="Malgun Gothic" pitchFamily="34" charset="-120"/>
              </a:rPr>
              <a:t>Target Modules</a:t>
            </a:r>
            <a:endParaRPr lang="en-US" sz="1050" dirty="0"/>
          </a:p>
        </p:txBody>
      </p:sp>
      <p:sp>
        <p:nvSpPr>
          <p:cNvPr id="46" name="Text 43"/>
          <p:cNvSpPr txBox="1"/>
          <p:nvPr/>
        </p:nvSpPr>
        <p:spPr>
          <a:xfrm>
            <a:off x="2212848" y="5751210"/>
            <a:ext cx="1828800" cy="318211"/>
          </a:xfrm>
          <a:prstGeom prst="rect">
            <a:avLst/>
          </a:prstGeom>
          <a:noFill/>
          <a:ln/>
        </p:spPr>
        <p:txBody>
          <a:bodyPr wrap="square" lIns="0" tIns="0" rIns="0" bIns="0" rtlCol="0" anchor="ctr"/>
          <a:lstStyle/>
          <a:p>
            <a:pPr indent="0" marL="0">
              <a:buNone/>
            </a:pPr>
            <a:r>
              <a:rPr lang="en-US" sz="880" dirty="0">
                <a:solidFill>
                  <a:srgbClr val="15203A"/>
                </a:solidFill>
                <a:latin typeface="Courier New" pitchFamily="34" charset="0"/>
                <a:ea typeface="Courier New" pitchFamily="34" charset="-122"/>
                <a:cs typeface="Courier New" pitchFamily="34" charset="-120"/>
              </a:rPr>
              <a:t>q,k,v,o,gate,up,down_proj</a:t>
            </a:r>
            <a:endParaRPr lang="en-US" sz="880" dirty="0"/>
          </a:p>
        </p:txBody>
      </p:sp>
      <p:sp>
        <p:nvSpPr>
          <p:cNvPr id="47" name="Shape 44"/>
          <p:cNvSpPr/>
          <p:nvPr/>
        </p:nvSpPr>
        <p:spPr>
          <a:xfrm>
            <a:off x="4498848" y="4308653"/>
            <a:ext cx="3529584" cy="318211"/>
          </a:xfrm>
          <a:prstGeom prst="roundRect">
            <a:avLst>
              <a:gd name="adj" fmla="val 8621"/>
            </a:avLst>
          </a:prstGeom>
          <a:solidFill>
            <a:srgbClr val="F7F9FC"/>
          </a:solidFill>
          <a:ln w="12700">
            <a:solidFill>
              <a:srgbClr val="FFFFFF"/>
            </a:solidFill>
            <a:prstDash val="solid"/>
          </a:ln>
        </p:spPr>
      </p:sp>
      <p:sp>
        <p:nvSpPr>
          <p:cNvPr id="48" name="Text 45"/>
          <p:cNvSpPr txBox="1"/>
          <p:nvPr/>
        </p:nvSpPr>
        <p:spPr>
          <a:xfrm>
            <a:off x="4608576" y="4308653"/>
            <a:ext cx="1517904" cy="318211"/>
          </a:xfrm>
          <a:prstGeom prst="rect">
            <a:avLst/>
          </a:prstGeom>
          <a:noFill/>
          <a:ln/>
        </p:spPr>
        <p:txBody>
          <a:bodyPr wrap="square" lIns="0" tIns="0" rIns="0" bIns="0" rtlCol="0" anchor="ctr"/>
          <a:lstStyle/>
          <a:p>
            <a:pPr indent="0" marL="0">
              <a:buNone/>
            </a:pPr>
            <a:r>
              <a:rPr lang="en-US" sz="1050" dirty="0">
                <a:solidFill>
                  <a:srgbClr val="64748B"/>
                </a:solidFill>
                <a:latin typeface="Malgun Gothic" pitchFamily="34" charset="0"/>
                <a:ea typeface="Malgun Gothic" pitchFamily="34" charset="-122"/>
                <a:cs typeface="Malgun Gothic" pitchFamily="34" charset="-120"/>
              </a:rPr>
              <a:t>max_steps</a:t>
            </a:r>
            <a:endParaRPr lang="en-US" sz="1050" dirty="0"/>
          </a:p>
        </p:txBody>
      </p:sp>
      <p:sp>
        <p:nvSpPr>
          <p:cNvPr id="49" name="Text 46"/>
          <p:cNvSpPr txBox="1"/>
          <p:nvPr/>
        </p:nvSpPr>
        <p:spPr>
          <a:xfrm>
            <a:off x="6144768" y="4308653"/>
            <a:ext cx="1828800" cy="318211"/>
          </a:xfrm>
          <a:prstGeom prst="rect">
            <a:avLst/>
          </a:prstGeom>
          <a:noFill/>
          <a:ln/>
        </p:spPr>
        <p:txBody>
          <a:bodyPr wrap="square" lIns="0" tIns="0" rIns="0" bIns="0" rtlCol="0" anchor="ctr"/>
          <a:lstStyle/>
          <a:p>
            <a:pPr indent="0" marL="0">
              <a:buNone/>
            </a:pPr>
            <a:r>
              <a:rPr lang="en-US" sz="880" dirty="0">
                <a:solidFill>
                  <a:srgbClr val="15203A"/>
                </a:solidFill>
                <a:latin typeface="Courier New" pitchFamily="34" charset="0"/>
                <a:ea typeface="Courier New" pitchFamily="34" charset="-122"/>
                <a:cs typeface="Courier New" pitchFamily="34" charset="-120"/>
              </a:rPr>
              <a:t>80</a:t>
            </a:r>
            <a:endParaRPr lang="en-US" sz="880" dirty="0"/>
          </a:p>
        </p:txBody>
      </p:sp>
      <p:sp>
        <p:nvSpPr>
          <p:cNvPr id="50" name="Shape 47"/>
          <p:cNvSpPr/>
          <p:nvPr/>
        </p:nvSpPr>
        <p:spPr>
          <a:xfrm>
            <a:off x="4498848" y="4669292"/>
            <a:ext cx="3529584" cy="318211"/>
          </a:xfrm>
          <a:prstGeom prst="roundRect">
            <a:avLst>
              <a:gd name="adj" fmla="val 8621"/>
            </a:avLst>
          </a:prstGeom>
          <a:solidFill>
            <a:srgbClr val="FFFFFF"/>
          </a:solidFill>
          <a:ln w="12700">
            <a:solidFill>
              <a:srgbClr val="FFFFFF"/>
            </a:solidFill>
            <a:prstDash val="solid"/>
          </a:ln>
        </p:spPr>
      </p:sp>
      <p:sp>
        <p:nvSpPr>
          <p:cNvPr id="51" name="Text 48"/>
          <p:cNvSpPr txBox="1"/>
          <p:nvPr/>
        </p:nvSpPr>
        <p:spPr>
          <a:xfrm>
            <a:off x="4608576" y="4669292"/>
            <a:ext cx="1517904" cy="318211"/>
          </a:xfrm>
          <a:prstGeom prst="rect">
            <a:avLst/>
          </a:prstGeom>
          <a:noFill/>
          <a:ln/>
        </p:spPr>
        <p:txBody>
          <a:bodyPr wrap="square" lIns="0" tIns="0" rIns="0" bIns="0" rtlCol="0" anchor="ctr"/>
          <a:lstStyle/>
          <a:p>
            <a:pPr indent="0" marL="0">
              <a:buNone/>
            </a:pPr>
            <a:r>
              <a:rPr lang="en-US" sz="1050" dirty="0">
                <a:solidFill>
                  <a:srgbClr val="64748B"/>
                </a:solidFill>
                <a:latin typeface="Malgun Gothic" pitchFamily="34" charset="0"/>
                <a:ea typeface="Malgun Gothic" pitchFamily="34" charset="-122"/>
                <a:cs typeface="Malgun Gothic" pitchFamily="34" charset="-120"/>
              </a:rPr>
              <a:t>batch / grad accum</a:t>
            </a:r>
            <a:endParaRPr lang="en-US" sz="1050" dirty="0"/>
          </a:p>
        </p:txBody>
      </p:sp>
      <p:sp>
        <p:nvSpPr>
          <p:cNvPr id="52" name="Text 49"/>
          <p:cNvSpPr txBox="1"/>
          <p:nvPr/>
        </p:nvSpPr>
        <p:spPr>
          <a:xfrm>
            <a:off x="6144768" y="4669292"/>
            <a:ext cx="1828800" cy="318211"/>
          </a:xfrm>
          <a:prstGeom prst="rect">
            <a:avLst/>
          </a:prstGeom>
          <a:noFill/>
          <a:ln/>
        </p:spPr>
        <p:txBody>
          <a:bodyPr wrap="square" lIns="0" tIns="0" rIns="0" bIns="0" rtlCol="0" anchor="ctr"/>
          <a:lstStyle/>
          <a:p>
            <a:pPr indent="0" marL="0">
              <a:buNone/>
            </a:pPr>
            <a:r>
              <a:rPr lang="en-US" sz="880" dirty="0">
                <a:solidFill>
                  <a:srgbClr val="15203A"/>
                </a:solidFill>
                <a:latin typeface="Courier New" pitchFamily="34" charset="0"/>
                <a:ea typeface="Courier New" pitchFamily="34" charset="-122"/>
                <a:cs typeface="Courier New" pitchFamily="34" charset="-120"/>
              </a:rPr>
              <a:t>1 × 8 = effective 8</a:t>
            </a:r>
            <a:endParaRPr lang="en-US" sz="880" dirty="0"/>
          </a:p>
        </p:txBody>
      </p:sp>
      <p:sp>
        <p:nvSpPr>
          <p:cNvPr id="53" name="Shape 50"/>
          <p:cNvSpPr/>
          <p:nvPr/>
        </p:nvSpPr>
        <p:spPr>
          <a:xfrm>
            <a:off x="4498848" y="5029932"/>
            <a:ext cx="3529584" cy="318211"/>
          </a:xfrm>
          <a:prstGeom prst="roundRect">
            <a:avLst>
              <a:gd name="adj" fmla="val 8621"/>
            </a:avLst>
          </a:prstGeom>
          <a:solidFill>
            <a:srgbClr val="F7F9FC"/>
          </a:solidFill>
          <a:ln w="12700">
            <a:solidFill>
              <a:srgbClr val="FFFFFF"/>
            </a:solidFill>
            <a:prstDash val="solid"/>
          </a:ln>
        </p:spPr>
      </p:sp>
      <p:sp>
        <p:nvSpPr>
          <p:cNvPr id="54" name="Text 51"/>
          <p:cNvSpPr txBox="1"/>
          <p:nvPr/>
        </p:nvSpPr>
        <p:spPr>
          <a:xfrm>
            <a:off x="4608576" y="5029932"/>
            <a:ext cx="1517904" cy="318211"/>
          </a:xfrm>
          <a:prstGeom prst="rect">
            <a:avLst/>
          </a:prstGeom>
          <a:noFill/>
          <a:ln/>
        </p:spPr>
        <p:txBody>
          <a:bodyPr wrap="square" lIns="0" tIns="0" rIns="0" bIns="0" rtlCol="0" anchor="ctr"/>
          <a:lstStyle/>
          <a:p>
            <a:pPr indent="0" marL="0">
              <a:buNone/>
            </a:pPr>
            <a:r>
              <a:rPr lang="en-US" sz="1050" dirty="0">
                <a:solidFill>
                  <a:srgbClr val="64748B"/>
                </a:solidFill>
                <a:latin typeface="Malgun Gothic" pitchFamily="34" charset="0"/>
                <a:ea typeface="Malgun Gothic" pitchFamily="34" charset="-122"/>
                <a:cs typeface="Malgun Gothic" pitchFamily="34" charset="-120"/>
              </a:rPr>
              <a:t>learning rate</a:t>
            </a:r>
            <a:endParaRPr lang="en-US" sz="1050" dirty="0"/>
          </a:p>
        </p:txBody>
      </p:sp>
      <p:sp>
        <p:nvSpPr>
          <p:cNvPr id="55" name="Text 52"/>
          <p:cNvSpPr txBox="1"/>
          <p:nvPr/>
        </p:nvSpPr>
        <p:spPr>
          <a:xfrm>
            <a:off x="6144768" y="5029932"/>
            <a:ext cx="1828800" cy="318211"/>
          </a:xfrm>
          <a:prstGeom prst="rect">
            <a:avLst/>
          </a:prstGeom>
          <a:noFill/>
          <a:ln/>
        </p:spPr>
        <p:txBody>
          <a:bodyPr wrap="square" lIns="0" tIns="0" rIns="0" bIns="0" rtlCol="0" anchor="ctr"/>
          <a:lstStyle/>
          <a:p>
            <a:pPr indent="0" marL="0">
              <a:buNone/>
            </a:pPr>
            <a:r>
              <a:rPr lang="en-US" sz="880" dirty="0">
                <a:solidFill>
                  <a:srgbClr val="15203A"/>
                </a:solidFill>
                <a:latin typeface="Courier New" pitchFamily="34" charset="0"/>
                <a:ea typeface="Courier New" pitchFamily="34" charset="-122"/>
                <a:cs typeface="Courier New" pitchFamily="34" charset="-120"/>
              </a:rPr>
              <a:t>2e-4 (cosine, warmup 0.05)</a:t>
            </a:r>
            <a:endParaRPr lang="en-US" sz="880" dirty="0"/>
          </a:p>
        </p:txBody>
      </p:sp>
      <p:sp>
        <p:nvSpPr>
          <p:cNvPr id="56" name="Shape 53"/>
          <p:cNvSpPr/>
          <p:nvPr/>
        </p:nvSpPr>
        <p:spPr>
          <a:xfrm>
            <a:off x="4498848" y="5390571"/>
            <a:ext cx="3529584" cy="318211"/>
          </a:xfrm>
          <a:prstGeom prst="roundRect">
            <a:avLst>
              <a:gd name="adj" fmla="val 8621"/>
            </a:avLst>
          </a:prstGeom>
          <a:solidFill>
            <a:srgbClr val="FFFFFF"/>
          </a:solidFill>
          <a:ln w="12700">
            <a:solidFill>
              <a:srgbClr val="FFFFFF"/>
            </a:solidFill>
            <a:prstDash val="solid"/>
          </a:ln>
        </p:spPr>
      </p:sp>
      <p:sp>
        <p:nvSpPr>
          <p:cNvPr id="57" name="Text 54"/>
          <p:cNvSpPr txBox="1"/>
          <p:nvPr/>
        </p:nvSpPr>
        <p:spPr>
          <a:xfrm>
            <a:off x="4608576" y="5390571"/>
            <a:ext cx="1517904" cy="318211"/>
          </a:xfrm>
          <a:prstGeom prst="rect">
            <a:avLst/>
          </a:prstGeom>
          <a:noFill/>
          <a:ln/>
        </p:spPr>
        <p:txBody>
          <a:bodyPr wrap="square" lIns="0" tIns="0" rIns="0" bIns="0" rtlCol="0" anchor="ctr"/>
          <a:lstStyle/>
          <a:p>
            <a:pPr indent="0" marL="0">
              <a:buNone/>
            </a:pPr>
            <a:r>
              <a:rPr lang="en-US" sz="1050" dirty="0">
                <a:solidFill>
                  <a:srgbClr val="64748B"/>
                </a:solidFill>
                <a:latin typeface="Malgun Gothic" pitchFamily="34" charset="0"/>
                <a:ea typeface="Malgun Gothic" pitchFamily="34" charset="-122"/>
                <a:cs typeface="Malgun Gothic" pitchFamily="34" charset="-120"/>
              </a:rPr>
              <a:t>max_length</a:t>
            </a:r>
            <a:endParaRPr lang="en-US" sz="1050" dirty="0"/>
          </a:p>
        </p:txBody>
      </p:sp>
      <p:sp>
        <p:nvSpPr>
          <p:cNvPr id="58" name="Text 55"/>
          <p:cNvSpPr txBox="1"/>
          <p:nvPr/>
        </p:nvSpPr>
        <p:spPr>
          <a:xfrm>
            <a:off x="6144768" y="5390571"/>
            <a:ext cx="1828800" cy="318211"/>
          </a:xfrm>
          <a:prstGeom prst="rect">
            <a:avLst/>
          </a:prstGeom>
          <a:noFill/>
          <a:ln/>
        </p:spPr>
        <p:txBody>
          <a:bodyPr wrap="square" lIns="0" tIns="0" rIns="0" bIns="0" rtlCol="0" anchor="ctr"/>
          <a:lstStyle/>
          <a:p>
            <a:pPr indent="0" marL="0">
              <a:buNone/>
            </a:pPr>
            <a:r>
              <a:rPr lang="en-US" sz="880" dirty="0">
                <a:solidFill>
                  <a:srgbClr val="15203A"/>
                </a:solidFill>
                <a:latin typeface="Courier New" pitchFamily="34" charset="0"/>
                <a:ea typeface="Courier New" pitchFamily="34" charset="-122"/>
                <a:cs typeface="Courier New" pitchFamily="34" charset="-120"/>
              </a:rPr>
              <a:t>512</a:t>
            </a:r>
            <a:endParaRPr lang="en-US" sz="880" dirty="0"/>
          </a:p>
        </p:txBody>
      </p:sp>
      <p:sp>
        <p:nvSpPr>
          <p:cNvPr id="59" name="Shape 56"/>
          <p:cNvSpPr/>
          <p:nvPr/>
        </p:nvSpPr>
        <p:spPr>
          <a:xfrm>
            <a:off x="4498848" y="5751210"/>
            <a:ext cx="3529584" cy="318211"/>
          </a:xfrm>
          <a:prstGeom prst="roundRect">
            <a:avLst>
              <a:gd name="adj" fmla="val 8621"/>
            </a:avLst>
          </a:prstGeom>
          <a:solidFill>
            <a:srgbClr val="F7F9FC"/>
          </a:solidFill>
          <a:ln w="12700">
            <a:solidFill>
              <a:srgbClr val="FFFFFF"/>
            </a:solidFill>
            <a:prstDash val="solid"/>
          </a:ln>
        </p:spPr>
      </p:sp>
      <p:sp>
        <p:nvSpPr>
          <p:cNvPr id="60" name="Text 57"/>
          <p:cNvSpPr txBox="1"/>
          <p:nvPr/>
        </p:nvSpPr>
        <p:spPr>
          <a:xfrm>
            <a:off x="4608576" y="5751210"/>
            <a:ext cx="1517904" cy="318211"/>
          </a:xfrm>
          <a:prstGeom prst="rect">
            <a:avLst/>
          </a:prstGeom>
          <a:noFill/>
          <a:ln/>
        </p:spPr>
        <p:txBody>
          <a:bodyPr wrap="square" lIns="0" tIns="0" rIns="0" bIns="0" rtlCol="0" anchor="ctr"/>
          <a:lstStyle/>
          <a:p>
            <a:pPr indent="0" marL="0">
              <a:buNone/>
            </a:pPr>
            <a:r>
              <a:rPr lang="en-US" sz="1050" dirty="0">
                <a:solidFill>
                  <a:srgbClr val="64748B"/>
                </a:solidFill>
                <a:latin typeface="Malgun Gothic" pitchFamily="34" charset="0"/>
                <a:ea typeface="Malgun Gothic" pitchFamily="34" charset="-122"/>
                <a:cs typeface="Malgun Gothic" pitchFamily="34" charset="-120"/>
              </a:rPr>
              <a:t>optimizer</a:t>
            </a:r>
            <a:endParaRPr lang="en-US" sz="1050" dirty="0"/>
          </a:p>
        </p:txBody>
      </p:sp>
      <p:sp>
        <p:nvSpPr>
          <p:cNvPr id="61" name="Text 58"/>
          <p:cNvSpPr txBox="1"/>
          <p:nvPr/>
        </p:nvSpPr>
        <p:spPr>
          <a:xfrm>
            <a:off x="6144768" y="5751210"/>
            <a:ext cx="1828800" cy="318211"/>
          </a:xfrm>
          <a:prstGeom prst="rect">
            <a:avLst/>
          </a:prstGeom>
          <a:noFill/>
          <a:ln/>
        </p:spPr>
        <p:txBody>
          <a:bodyPr wrap="square" lIns="0" tIns="0" rIns="0" bIns="0" rtlCol="0" anchor="ctr"/>
          <a:lstStyle/>
          <a:p>
            <a:pPr indent="0" marL="0">
              <a:buNone/>
            </a:pPr>
            <a:r>
              <a:rPr lang="en-US" sz="880" dirty="0">
                <a:solidFill>
                  <a:srgbClr val="15203A"/>
                </a:solidFill>
                <a:latin typeface="Courier New" pitchFamily="34" charset="0"/>
                <a:ea typeface="Courier New" pitchFamily="34" charset="-122"/>
                <a:cs typeface="Courier New" pitchFamily="34" charset="-120"/>
              </a:rPr>
              <a:t>paged_adamw_8bit</a:t>
            </a:r>
            <a:endParaRPr lang="en-US" sz="880" dirty="0"/>
          </a:p>
        </p:txBody>
      </p:sp>
      <p:sp>
        <p:nvSpPr>
          <p:cNvPr id="62" name="Shape 59"/>
          <p:cNvSpPr/>
          <p:nvPr/>
        </p:nvSpPr>
        <p:spPr>
          <a:xfrm>
            <a:off x="8321040" y="3884371"/>
            <a:ext cx="3291840" cy="2460833"/>
          </a:xfrm>
          <a:prstGeom prst="roundRect">
            <a:avLst>
              <a:gd name="adj" fmla="val 2229"/>
            </a:avLst>
          </a:prstGeom>
          <a:solidFill>
            <a:srgbClr val="0E1A33"/>
          </a:solidFill>
          <a:ln w="12700">
            <a:solidFill>
              <a:srgbClr val="0E1A33"/>
            </a:solidFill>
            <a:prstDash val="solid"/>
          </a:ln>
        </p:spPr>
      </p:sp>
      <p:sp>
        <p:nvSpPr>
          <p:cNvPr id="63" name="Text 60"/>
          <p:cNvSpPr txBox="1"/>
          <p:nvPr/>
        </p:nvSpPr>
        <p:spPr>
          <a:xfrm>
            <a:off x="8522208" y="4096512"/>
            <a:ext cx="2889504" cy="296997"/>
          </a:xfrm>
          <a:prstGeom prst="rect">
            <a:avLst/>
          </a:prstGeom>
          <a:noFill/>
          <a:ln/>
        </p:spPr>
        <p:txBody>
          <a:bodyPr wrap="square" lIns="0" tIns="0" rIns="0" bIns="0" rtlCol="0" anchor="ctr"/>
          <a:lstStyle/>
          <a:p>
            <a:pPr indent="0" marL="0">
              <a:buNone/>
            </a:pPr>
            <a:r>
              <a:rPr lang="en-US" sz="1050" b="1" spc="100" kern="0" dirty="0">
                <a:solidFill>
                  <a:srgbClr val="6FA8FF"/>
                </a:solidFill>
                <a:latin typeface="Malgun Gothic" pitchFamily="34" charset="0"/>
                <a:ea typeface="Malgun Gothic" pitchFamily="34" charset="-122"/>
                <a:cs typeface="Malgun Gothic" pitchFamily="34" charset="-120"/>
              </a:rPr>
              <a:t>이 실험의 독립변수</a:t>
            </a:r>
            <a:endParaRPr lang="en-US" sz="1050" dirty="0"/>
          </a:p>
        </p:txBody>
      </p:sp>
      <p:sp>
        <p:nvSpPr>
          <p:cNvPr id="64" name="Text 61"/>
          <p:cNvSpPr txBox="1"/>
          <p:nvPr/>
        </p:nvSpPr>
        <p:spPr>
          <a:xfrm>
            <a:off x="8522208" y="4457151"/>
            <a:ext cx="2889504" cy="954634"/>
          </a:xfrm>
          <a:prstGeom prst="rect">
            <a:avLst/>
          </a:prstGeom>
          <a:noFill/>
          <a:ln/>
        </p:spPr>
        <p:txBody>
          <a:bodyPr wrap="square" lIns="0" tIns="0" rIns="0" bIns="0" rtlCol="0" anchor="ctr"/>
          <a:lstStyle/>
          <a:p>
            <a:pPr indent="0" marL="0">
              <a:lnSpc>
                <a:spcPts val="3000"/>
              </a:lnSpc>
              <a:buNone/>
            </a:pPr>
            <a:r>
              <a:rPr lang="en-US" sz="2100" b="1" dirty="0">
                <a:solidFill>
                  <a:srgbClr val="FFFFFF"/>
                </a:solidFill>
                <a:latin typeface="Malgun Gothic" pitchFamily="34" charset="0"/>
                <a:ea typeface="Malgun Gothic" pitchFamily="34" charset="-122"/>
                <a:cs typeface="Malgun Gothic" pitchFamily="34" charset="-120"/>
              </a:rPr>
              <a:t>Base Model의</a:t>
            </a:r>
            <a:endParaRPr lang="en-US" sz="2100" dirty="0"/>
          </a:p>
          <a:p>
            <a:pPr indent="0" marL="0">
              <a:lnSpc>
                <a:spcPts val="3000"/>
              </a:lnSpc>
              <a:buNone/>
            </a:pPr>
            <a:r>
              <a:rPr lang="en-US" sz="2100" b="1" dirty="0">
                <a:solidFill>
                  <a:srgbClr val="FFFFFF"/>
                </a:solidFill>
                <a:latin typeface="Malgun Gothic" pitchFamily="34" charset="0"/>
                <a:ea typeface="Malgun Gothic" pitchFamily="34" charset="-122"/>
                <a:cs typeface="Malgun Gothic" pitchFamily="34" charset="-120"/>
              </a:rPr>
              <a:t>4bit 양자화 여부</a:t>
            </a:r>
            <a:endParaRPr lang="en-US" sz="2100" dirty="0"/>
          </a:p>
        </p:txBody>
      </p:sp>
      <p:sp>
        <p:nvSpPr>
          <p:cNvPr id="65" name="Text 62"/>
          <p:cNvSpPr txBox="1"/>
          <p:nvPr/>
        </p:nvSpPr>
        <p:spPr>
          <a:xfrm>
            <a:off x="8522208" y="5475427"/>
            <a:ext cx="2889504" cy="700065"/>
          </a:xfrm>
          <a:prstGeom prst="rect">
            <a:avLst/>
          </a:prstGeom>
          <a:noFill/>
          <a:ln/>
        </p:spPr>
        <p:txBody>
          <a:bodyPr wrap="square" lIns="0" tIns="0" rIns="0" bIns="0" rtlCol="0" anchor="ctr"/>
          <a:lstStyle/>
          <a:p>
            <a:pPr indent="0" marL="0">
              <a:lnSpc>
                <a:spcPts val="1600"/>
              </a:lnSpc>
              <a:buNone/>
            </a:pPr>
            <a:r>
              <a:rPr lang="en-US" sz="1050" dirty="0">
                <a:solidFill>
                  <a:srgbClr val="9BADCC"/>
                </a:solidFill>
                <a:latin typeface="Malgun Gothic" pitchFamily="34" charset="0"/>
                <a:ea typeface="Malgun Gothic" pitchFamily="34" charset="-122"/>
                <a:cs typeface="Malgun Gothic" pitchFamily="34" charset="-120"/>
              </a:rPr>
              <a:t>그 외 모든 조건은 동일하므로,</a:t>
            </a:r>
            <a:endParaRPr lang="en-US" sz="1050" dirty="0"/>
          </a:p>
          <a:p>
            <a:pPr indent="0" marL="0">
              <a:lnSpc>
                <a:spcPts val="1600"/>
              </a:lnSpc>
              <a:buNone/>
            </a:pPr>
            <a:r>
              <a:rPr lang="en-US" sz="1050" dirty="0">
                <a:solidFill>
                  <a:srgbClr val="9BADCC"/>
                </a:solidFill>
                <a:latin typeface="Malgun Gothic" pitchFamily="34" charset="0"/>
                <a:ea typeface="Malgun Gothic" pitchFamily="34" charset="-122"/>
                <a:cs typeface="Malgun Gothic" pitchFamily="34" charset="-120"/>
              </a:rPr>
              <a:t>측정된 차이는 양자화에서 비롯된다고 해석할 수 있다.</a:t>
            </a:r>
            <a:endParaRPr lang="en-US" sz="1050" dirty="0"/>
          </a:p>
        </p:txBody>
      </p:sp>
      <p:sp>
        <p:nvSpPr>
          <p:cNvPr id="66" name="Text 63"/>
          <p:cNvSpPr txBox="1"/>
          <p:nvPr/>
        </p:nvSpPr>
        <p:spPr>
          <a:xfrm>
            <a:off x="11277295" y="6355080"/>
            <a:ext cx="457200" cy="274320"/>
          </a:xfrm>
          <a:prstGeom prst="rect">
            <a:avLst/>
          </a:prstGeom>
          <a:noFill/>
          <a:ln/>
        </p:spPr>
        <p:txBody>
          <a:bodyPr wrap="square" lIns="0" tIns="0" rIns="0" bIns="0" rtlCol="0" anchor="ctr"/>
          <a:lstStyle/>
          <a:p>
            <a:pPr algn="r" indent="0" marL="0">
              <a:buNone/>
            </a:pPr>
            <a:r>
              <a:rPr lang="en-US" sz="1000" dirty="0">
                <a:solidFill>
                  <a:srgbClr val="9AA6BC"/>
                </a:solidFill>
                <a:latin typeface="Malgun Gothic" pitchFamily="34" charset="0"/>
                <a:ea typeface="Malgun Gothic" pitchFamily="34" charset="-122"/>
                <a:cs typeface="Malgun Gothic"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66928" y="384048"/>
            <a:ext cx="1243584" cy="318211"/>
          </a:xfrm>
          <a:prstGeom prst="roundRect">
            <a:avLst>
              <a:gd name="adj" fmla="val 43103"/>
            </a:avLst>
          </a:prstGeom>
          <a:solidFill>
            <a:srgbClr val="E4EDFE"/>
          </a:solidFill>
          <a:ln w="12700">
            <a:solidFill>
              <a:srgbClr val="E4EDFE"/>
            </a:solidFill>
            <a:prstDash val="solid"/>
          </a:ln>
        </p:spPr>
      </p:sp>
      <p:sp>
        <p:nvSpPr>
          <p:cNvPr id="4" name="Text 1"/>
          <p:cNvSpPr txBox="1"/>
          <p:nvPr/>
        </p:nvSpPr>
        <p:spPr>
          <a:xfrm>
            <a:off x="566928" y="384048"/>
            <a:ext cx="1243584" cy="318211"/>
          </a:xfrm>
          <a:prstGeom prst="rect">
            <a:avLst/>
          </a:prstGeom>
          <a:noFill/>
          <a:ln/>
        </p:spPr>
        <p:txBody>
          <a:bodyPr wrap="square" lIns="0" tIns="0" rIns="0" bIns="0" rtlCol="0" anchor="ctr"/>
          <a:lstStyle/>
          <a:p>
            <a:pPr algn="ctr" indent="0" marL="0">
              <a:buNone/>
            </a:pPr>
            <a:r>
              <a:rPr lang="en-US" sz="1050" b="1" spc="60" kern="0" dirty="0">
                <a:solidFill>
                  <a:srgbClr val="1D4ED8"/>
                </a:solidFill>
                <a:latin typeface="Malgun Gothic" pitchFamily="34" charset="0"/>
                <a:ea typeface="Malgun Gothic" pitchFamily="34" charset="-122"/>
                <a:cs typeface="Malgun Gothic" pitchFamily="34" charset="-120"/>
              </a:rPr>
              <a:t>03  DESIGN</a:t>
            </a:r>
            <a:endParaRPr lang="en-US" sz="1050" dirty="0"/>
          </a:p>
        </p:txBody>
      </p:sp>
      <p:sp>
        <p:nvSpPr>
          <p:cNvPr id="5" name="Text 2"/>
          <p:cNvSpPr txBox="1"/>
          <p:nvPr/>
        </p:nvSpPr>
        <p:spPr>
          <a:xfrm>
            <a:off x="566928" y="765901"/>
            <a:ext cx="11057839" cy="593994"/>
          </a:xfrm>
          <a:prstGeom prst="rect">
            <a:avLst/>
          </a:prstGeom>
          <a:noFill/>
          <a:ln/>
        </p:spPr>
        <p:txBody>
          <a:bodyPr wrap="square" lIns="0" tIns="0" rIns="0" bIns="0" rtlCol="0" anchor="ctr"/>
          <a:lstStyle/>
          <a:p>
            <a:pPr indent="0" marL="0">
              <a:buNone/>
            </a:pPr>
            <a:r>
              <a:rPr lang="en-US" sz="3000" b="1" dirty="0">
                <a:solidFill>
                  <a:srgbClr val="15203A"/>
                </a:solidFill>
                <a:latin typeface="Malgun Gothic" pitchFamily="34" charset="0"/>
                <a:ea typeface="Malgun Gothic" pitchFamily="34" charset="-122"/>
                <a:cs typeface="Malgun Gothic" pitchFamily="34" charset="-120"/>
              </a:rPr>
              <a:t>왜 LoRA인가</a:t>
            </a:r>
            <a:endParaRPr lang="en-US" sz="3000" dirty="0"/>
          </a:p>
        </p:txBody>
      </p:sp>
      <p:sp>
        <p:nvSpPr>
          <p:cNvPr id="6" name="Text 3"/>
          <p:cNvSpPr txBox="1"/>
          <p:nvPr/>
        </p:nvSpPr>
        <p:spPr>
          <a:xfrm>
            <a:off x="566928" y="1349289"/>
            <a:ext cx="11057839" cy="339425"/>
          </a:xfrm>
          <a:prstGeom prst="rect">
            <a:avLst/>
          </a:prstGeom>
          <a:noFill/>
          <a:ln/>
        </p:spPr>
        <p:txBody>
          <a:bodyPr wrap="square" lIns="0" tIns="0" rIns="0" bIns="0" rtlCol="0" anchor="t"/>
          <a:lstStyle/>
          <a:p>
            <a:pPr indent="0" marL="0">
              <a:buNone/>
            </a:pPr>
            <a:r>
              <a:rPr lang="en-US" sz="1300" dirty="0">
                <a:solidFill>
                  <a:srgbClr val="64748B"/>
                </a:solidFill>
                <a:latin typeface="Malgun Gothic" pitchFamily="34" charset="0"/>
                <a:ea typeface="Malgun Gothic" pitchFamily="34" charset="-122"/>
                <a:cs typeface="Malgun Gothic" pitchFamily="34" charset="-120"/>
              </a:rPr>
              <a:t>Diagram 1 — Full Fine-Tuning과 LoRA의 학습 대상 차이</a:t>
            </a:r>
            <a:endParaRPr lang="en-US" sz="1300" dirty="0"/>
          </a:p>
        </p:txBody>
      </p:sp>
      <p:sp>
        <p:nvSpPr>
          <p:cNvPr id="7" name="Shape 4"/>
          <p:cNvSpPr/>
          <p:nvPr/>
        </p:nvSpPr>
        <p:spPr>
          <a:xfrm>
            <a:off x="566928" y="1975104"/>
            <a:ext cx="4617720" cy="2906329"/>
          </a:xfrm>
          <a:prstGeom prst="roundRect">
            <a:avLst>
              <a:gd name="adj" fmla="val 1888"/>
            </a:avLst>
          </a:prstGeom>
          <a:solidFill>
            <a:srgbClr val="FAFBFD"/>
          </a:solidFill>
          <a:ln w="12700">
            <a:solidFill>
              <a:srgbClr val="D8E0EC"/>
            </a:solidFill>
            <a:prstDash val="solid"/>
          </a:ln>
        </p:spPr>
      </p:sp>
      <p:sp>
        <p:nvSpPr>
          <p:cNvPr id="8" name="Text 5"/>
          <p:cNvSpPr txBox="1"/>
          <p:nvPr/>
        </p:nvSpPr>
        <p:spPr>
          <a:xfrm>
            <a:off x="804672" y="2144817"/>
            <a:ext cx="2743200" cy="318211"/>
          </a:xfrm>
          <a:prstGeom prst="rect">
            <a:avLst/>
          </a:prstGeom>
          <a:noFill/>
          <a:ln/>
        </p:spPr>
        <p:txBody>
          <a:bodyPr wrap="square" lIns="0" tIns="0" rIns="0" bIns="0" rtlCol="0" anchor="ctr"/>
          <a:lstStyle/>
          <a:p>
            <a:pPr indent="0" marL="0">
              <a:buNone/>
            </a:pPr>
            <a:r>
              <a:rPr lang="en-US" sz="1400" b="1" dirty="0">
                <a:solidFill>
                  <a:srgbClr val="55637F"/>
                </a:solidFill>
                <a:latin typeface="Malgun Gothic" pitchFamily="34" charset="0"/>
                <a:ea typeface="Malgun Gothic" pitchFamily="34" charset="-122"/>
                <a:cs typeface="Malgun Gothic" pitchFamily="34" charset="-120"/>
              </a:rPr>
              <a:t>Full Fine-Tuning</a:t>
            </a:r>
            <a:endParaRPr lang="en-US" sz="1400" dirty="0"/>
          </a:p>
        </p:txBody>
      </p:sp>
      <p:sp>
        <p:nvSpPr>
          <p:cNvPr id="9" name="Shape 6"/>
          <p:cNvSpPr/>
          <p:nvPr/>
        </p:nvSpPr>
        <p:spPr>
          <a:xfrm>
            <a:off x="841248" y="2653955"/>
            <a:ext cx="896112" cy="1357701"/>
          </a:xfrm>
          <a:prstGeom prst="roundRect">
            <a:avLst>
              <a:gd name="adj" fmla="val 5102"/>
            </a:avLst>
          </a:prstGeom>
          <a:solidFill>
            <a:srgbClr val="D9534F"/>
          </a:solidFill>
          <a:ln w="12700">
            <a:solidFill>
              <a:srgbClr val="D9534F"/>
            </a:solidFill>
            <a:prstDash val="solid"/>
          </a:ln>
        </p:spPr>
      </p:sp>
      <p:sp>
        <p:nvSpPr>
          <p:cNvPr id="10" name="Text 7"/>
          <p:cNvSpPr txBox="1"/>
          <p:nvPr/>
        </p:nvSpPr>
        <p:spPr>
          <a:xfrm>
            <a:off x="841248" y="3141878"/>
            <a:ext cx="896112" cy="318211"/>
          </a:xfrm>
          <a:prstGeom prst="rect">
            <a:avLst/>
          </a:prstGeom>
          <a:noFill/>
          <a:ln/>
        </p:spPr>
        <p:txBody>
          <a:bodyPr wrap="square" lIns="0" tIns="0" rIns="0" bIns="0" rtlCol="0" anchor="ctr"/>
          <a:lstStyle/>
          <a:p>
            <a:pPr algn="ctr" indent="0" marL="0">
              <a:buNone/>
            </a:pPr>
            <a:r>
              <a:rPr lang="en-US" sz="950" dirty="0">
                <a:solidFill>
                  <a:srgbClr val="FFFFFF"/>
                </a:solidFill>
                <a:latin typeface="Malgun Gothic" pitchFamily="34" charset="0"/>
                <a:ea typeface="Malgun Gothic" pitchFamily="34" charset="-122"/>
                <a:cs typeface="Malgun Gothic" pitchFamily="34" charset="-120"/>
              </a:rPr>
              <a:t>Layer 1</a:t>
            </a:r>
            <a:endParaRPr lang="en-US" sz="950" dirty="0"/>
          </a:p>
        </p:txBody>
      </p:sp>
      <p:sp>
        <p:nvSpPr>
          <p:cNvPr id="11" name="Shape 8"/>
          <p:cNvSpPr/>
          <p:nvPr/>
        </p:nvSpPr>
        <p:spPr>
          <a:xfrm>
            <a:off x="1874520" y="2653955"/>
            <a:ext cx="896112" cy="1357701"/>
          </a:xfrm>
          <a:prstGeom prst="roundRect">
            <a:avLst>
              <a:gd name="adj" fmla="val 5102"/>
            </a:avLst>
          </a:prstGeom>
          <a:solidFill>
            <a:srgbClr val="D9534F"/>
          </a:solidFill>
          <a:ln w="12700">
            <a:solidFill>
              <a:srgbClr val="D9534F"/>
            </a:solidFill>
            <a:prstDash val="solid"/>
          </a:ln>
        </p:spPr>
      </p:sp>
      <p:sp>
        <p:nvSpPr>
          <p:cNvPr id="12" name="Text 9"/>
          <p:cNvSpPr txBox="1"/>
          <p:nvPr/>
        </p:nvSpPr>
        <p:spPr>
          <a:xfrm>
            <a:off x="1874520" y="3141878"/>
            <a:ext cx="896112" cy="318211"/>
          </a:xfrm>
          <a:prstGeom prst="rect">
            <a:avLst/>
          </a:prstGeom>
          <a:noFill/>
          <a:ln/>
        </p:spPr>
        <p:txBody>
          <a:bodyPr wrap="square" lIns="0" tIns="0" rIns="0" bIns="0" rtlCol="0" anchor="ctr"/>
          <a:lstStyle/>
          <a:p>
            <a:pPr algn="ctr" indent="0" marL="0">
              <a:buNone/>
            </a:pPr>
            <a:r>
              <a:rPr lang="en-US" sz="950" dirty="0">
                <a:solidFill>
                  <a:srgbClr val="FFFFFF"/>
                </a:solidFill>
                <a:latin typeface="Malgun Gothic" pitchFamily="34" charset="0"/>
                <a:ea typeface="Malgun Gothic" pitchFamily="34" charset="-122"/>
                <a:cs typeface="Malgun Gothic" pitchFamily="34" charset="-120"/>
              </a:rPr>
              <a:t>Layer 2</a:t>
            </a:r>
            <a:endParaRPr lang="en-US" sz="950" dirty="0"/>
          </a:p>
        </p:txBody>
      </p:sp>
      <p:sp>
        <p:nvSpPr>
          <p:cNvPr id="13" name="Shape 10"/>
          <p:cNvSpPr/>
          <p:nvPr/>
        </p:nvSpPr>
        <p:spPr>
          <a:xfrm>
            <a:off x="2907792" y="2653955"/>
            <a:ext cx="896112" cy="1357701"/>
          </a:xfrm>
          <a:prstGeom prst="roundRect">
            <a:avLst>
              <a:gd name="adj" fmla="val 5102"/>
            </a:avLst>
          </a:prstGeom>
          <a:solidFill>
            <a:srgbClr val="D9534F"/>
          </a:solidFill>
          <a:ln w="12700">
            <a:solidFill>
              <a:srgbClr val="D9534F"/>
            </a:solidFill>
            <a:prstDash val="solid"/>
          </a:ln>
        </p:spPr>
      </p:sp>
      <p:sp>
        <p:nvSpPr>
          <p:cNvPr id="14" name="Text 11"/>
          <p:cNvSpPr txBox="1"/>
          <p:nvPr/>
        </p:nvSpPr>
        <p:spPr>
          <a:xfrm>
            <a:off x="2907792" y="3141878"/>
            <a:ext cx="896112" cy="318211"/>
          </a:xfrm>
          <a:prstGeom prst="rect">
            <a:avLst/>
          </a:prstGeom>
          <a:noFill/>
          <a:ln/>
        </p:spPr>
        <p:txBody>
          <a:bodyPr wrap="square" lIns="0" tIns="0" rIns="0" bIns="0" rtlCol="0" anchor="ctr"/>
          <a:lstStyle/>
          <a:p>
            <a:pPr algn="ctr" indent="0" marL="0">
              <a:buNone/>
            </a:pPr>
            <a:r>
              <a:rPr lang="en-US" sz="950" dirty="0">
                <a:solidFill>
                  <a:srgbClr val="FFFFFF"/>
                </a:solidFill>
                <a:latin typeface="Malgun Gothic" pitchFamily="34" charset="0"/>
                <a:ea typeface="Malgun Gothic" pitchFamily="34" charset="-122"/>
                <a:cs typeface="Malgun Gothic" pitchFamily="34" charset="-120"/>
              </a:rPr>
              <a:t>Layer 3</a:t>
            </a:r>
            <a:endParaRPr lang="en-US" sz="950" dirty="0"/>
          </a:p>
        </p:txBody>
      </p:sp>
      <p:sp>
        <p:nvSpPr>
          <p:cNvPr id="15" name="Shape 12"/>
          <p:cNvSpPr/>
          <p:nvPr/>
        </p:nvSpPr>
        <p:spPr>
          <a:xfrm>
            <a:off x="3941064" y="2653955"/>
            <a:ext cx="896112" cy="1357701"/>
          </a:xfrm>
          <a:prstGeom prst="roundRect">
            <a:avLst>
              <a:gd name="adj" fmla="val 5102"/>
            </a:avLst>
          </a:prstGeom>
          <a:solidFill>
            <a:srgbClr val="D9534F"/>
          </a:solidFill>
          <a:ln w="12700">
            <a:solidFill>
              <a:srgbClr val="D9534F"/>
            </a:solidFill>
            <a:prstDash val="solid"/>
          </a:ln>
        </p:spPr>
      </p:sp>
      <p:sp>
        <p:nvSpPr>
          <p:cNvPr id="16" name="Text 13"/>
          <p:cNvSpPr txBox="1"/>
          <p:nvPr/>
        </p:nvSpPr>
        <p:spPr>
          <a:xfrm>
            <a:off x="3941064" y="3141878"/>
            <a:ext cx="896112" cy="318211"/>
          </a:xfrm>
          <a:prstGeom prst="rect">
            <a:avLst/>
          </a:prstGeom>
          <a:noFill/>
          <a:ln/>
        </p:spPr>
        <p:txBody>
          <a:bodyPr wrap="square" lIns="0" tIns="0" rIns="0" bIns="0" rtlCol="0" anchor="ctr"/>
          <a:lstStyle/>
          <a:p>
            <a:pPr algn="ctr" indent="0" marL="0">
              <a:buNone/>
            </a:pPr>
            <a:r>
              <a:rPr lang="en-US" sz="950" dirty="0">
                <a:solidFill>
                  <a:srgbClr val="FFFFFF"/>
                </a:solidFill>
                <a:latin typeface="Malgun Gothic" pitchFamily="34" charset="0"/>
                <a:ea typeface="Malgun Gothic" pitchFamily="34" charset="-122"/>
                <a:cs typeface="Malgun Gothic" pitchFamily="34" charset="-120"/>
              </a:rPr>
              <a:t>Layer 4</a:t>
            </a:r>
            <a:endParaRPr lang="en-US" sz="950" dirty="0"/>
          </a:p>
        </p:txBody>
      </p:sp>
      <p:sp>
        <p:nvSpPr>
          <p:cNvPr id="17" name="Text 14"/>
          <p:cNvSpPr txBox="1"/>
          <p:nvPr/>
        </p:nvSpPr>
        <p:spPr>
          <a:xfrm>
            <a:off x="841248" y="4117726"/>
            <a:ext cx="4023360" cy="296997"/>
          </a:xfrm>
          <a:prstGeom prst="rect">
            <a:avLst/>
          </a:prstGeom>
          <a:noFill/>
          <a:ln/>
        </p:spPr>
        <p:txBody>
          <a:bodyPr wrap="square" lIns="0" tIns="0" rIns="0" bIns="0" rtlCol="0" anchor="ctr"/>
          <a:lstStyle/>
          <a:p>
            <a:pPr indent="0" marL="0">
              <a:buNone/>
            </a:pPr>
            <a:r>
              <a:rPr lang="en-US" sz="1100" dirty="0">
                <a:solidFill>
                  <a:srgbClr val="8F4340"/>
                </a:solidFill>
                <a:latin typeface="Malgun Gothic" pitchFamily="34" charset="0"/>
                <a:ea typeface="Malgun Gothic" pitchFamily="34" charset="-122"/>
                <a:cs typeface="Malgun Gothic" pitchFamily="34" charset="-120"/>
              </a:rPr>
              <a:t>전체 Parameter 업데이트  ·  약 1.7B개</a:t>
            </a:r>
            <a:endParaRPr lang="en-US" sz="1100" dirty="0"/>
          </a:p>
        </p:txBody>
      </p:sp>
      <p:sp>
        <p:nvSpPr>
          <p:cNvPr id="18" name="Text 15"/>
          <p:cNvSpPr txBox="1"/>
          <p:nvPr/>
        </p:nvSpPr>
        <p:spPr>
          <a:xfrm>
            <a:off x="841248" y="4393509"/>
            <a:ext cx="4023360" cy="296997"/>
          </a:xfrm>
          <a:prstGeom prst="rect">
            <a:avLst/>
          </a:prstGeom>
          <a:noFill/>
          <a:ln/>
        </p:spPr>
        <p:txBody>
          <a:bodyPr wrap="square" lIns="0" tIns="0" rIns="0" bIns="0" rtlCol="0" anchor="ctr"/>
          <a:lstStyle/>
          <a:p>
            <a:pPr indent="0" marL="0">
              <a:buNone/>
            </a:pPr>
            <a:r>
              <a:rPr lang="en-US" sz="1000" dirty="0">
                <a:solidFill>
                  <a:srgbClr val="64748B"/>
                </a:solidFill>
                <a:latin typeface="Malgun Gothic" pitchFamily="34" charset="0"/>
                <a:ea typeface="Malgun Gothic" pitchFamily="34" charset="-122"/>
                <a:cs typeface="Malgun Gothic" pitchFamily="34" charset="-120"/>
              </a:rPr>
              <a:t>optimizer state · gradient · activation 모두 전체 크기로 필요 → 높은 VRAM 비용</a:t>
            </a:r>
            <a:endParaRPr lang="en-US" sz="1000" dirty="0"/>
          </a:p>
        </p:txBody>
      </p:sp>
      <p:sp>
        <p:nvSpPr>
          <p:cNvPr id="19" name="Shape 16"/>
          <p:cNvSpPr/>
          <p:nvPr/>
        </p:nvSpPr>
        <p:spPr>
          <a:xfrm>
            <a:off x="5468112" y="1975104"/>
            <a:ext cx="4617720" cy="2906329"/>
          </a:xfrm>
          <a:prstGeom prst="roundRect">
            <a:avLst>
              <a:gd name="adj" fmla="val 1888"/>
            </a:avLst>
          </a:prstGeom>
          <a:solidFill>
            <a:srgbClr val="E4EDFE"/>
          </a:solidFill>
          <a:ln w="12700">
            <a:solidFill>
              <a:srgbClr val="C9DCFC"/>
            </a:solidFill>
            <a:prstDash val="solid"/>
          </a:ln>
        </p:spPr>
      </p:sp>
      <p:sp>
        <p:nvSpPr>
          <p:cNvPr id="20" name="Text 17"/>
          <p:cNvSpPr txBox="1"/>
          <p:nvPr/>
        </p:nvSpPr>
        <p:spPr>
          <a:xfrm>
            <a:off x="5705856" y="2144817"/>
            <a:ext cx="2743200" cy="318211"/>
          </a:xfrm>
          <a:prstGeom prst="rect">
            <a:avLst/>
          </a:prstGeom>
          <a:noFill/>
          <a:ln/>
        </p:spPr>
        <p:txBody>
          <a:bodyPr wrap="square" lIns="0" tIns="0" rIns="0" bIns="0" rtlCol="0" anchor="ctr"/>
          <a:lstStyle/>
          <a:p>
            <a:pPr indent="0" marL="0">
              <a:buNone/>
            </a:pPr>
            <a:r>
              <a:rPr lang="en-US" sz="1400" b="1" dirty="0">
                <a:solidFill>
                  <a:srgbClr val="2563EB"/>
                </a:solidFill>
                <a:latin typeface="Malgun Gothic" pitchFamily="34" charset="0"/>
                <a:ea typeface="Malgun Gothic" pitchFamily="34" charset="-122"/>
                <a:cs typeface="Malgun Gothic" pitchFamily="34" charset="-120"/>
              </a:rPr>
              <a:t>LoRA</a:t>
            </a:r>
            <a:endParaRPr lang="en-US" sz="1400" dirty="0"/>
          </a:p>
        </p:txBody>
      </p:sp>
      <p:sp>
        <p:nvSpPr>
          <p:cNvPr id="21" name="Shape 18"/>
          <p:cNvSpPr/>
          <p:nvPr/>
        </p:nvSpPr>
        <p:spPr>
          <a:xfrm>
            <a:off x="5742432" y="2653955"/>
            <a:ext cx="896112" cy="1357701"/>
          </a:xfrm>
          <a:prstGeom prst="roundRect">
            <a:avLst>
              <a:gd name="adj" fmla="val 5102"/>
            </a:avLst>
          </a:prstGeom>
          <a:solidFill>
            <a:srgbClr val="B9C4D6"/>
          </a:solidFill>
          <a:ln w="12700">
            <a:solidFill>
              <a:srgbClr val="B9C4D6"/>
            </a:solidFill>
            <a:prstDash val="solid"/>
          </a:ln>
        </p:spPr>
      </p:sp>
      <p:sp>
        <p:nvSpPr>
          <p:cNvPr id="22" name="Text 19"/>
          <p:cNvSpPr txBox="1"/>
          <p:nvPr/>
        </p:nvSpPr>
        <p:spPr>
          <a:xfrm>
            <a:off x="5742432" y="3141878"/>
            <a:ext cx="896112" cy="318211"/>
          </a:xfrm>
          <a:prstGeom prst="rect">
            <a:avLst/>
          </a:prstGeom>
          <a:noFill/>
          <a:ln/>
        </p:spPr>
        <p:txBody>
          <a:bodyPr wrap="square" lIns="0" tIns="0" rIns="0" bIns="0" rtlCol="0" anchor="ctr"/>
          <a:lstStyle/>
          <a:p>
            <a:pPr algn="ctr" indent="0" marL="0">
              <a:buNone/>
            </a:pPr>
            <a:r>
              <a:rPr lang="en-US" sz="950" dirty="0">
                <a:solidFill>
                  <a:srgbClr val="FFFFFF"/>
                </a:solidFill>
                <a:latin typeface="Malgun Gothic" pitchFamily="34" charset="0"/>
                <a:ea typeface="Malgun Gothic" pitchFamily="34" charset="-122"/>
                <a:cs typeface="Malgun Gothic" pitchFamily="34" charset="-120"/>
              </a:rPr>
              <a:t>Frozen</a:t>
            </a:r>
            <a:endParaRPr lang="en-US" sz="950" dirty="0"/>
          </a:p>
        </p:txBody>
      </p:sp>
      <p:sp>
        <p:nvSpPr>
          <p:cNvPr id="23" name="Shape 20"/>
          <p:cNvSpPr/>
          <p:nvPr/>
        </p:nvSpPr>
        <p:spPr>
          <a:xfrm>
            <a:off x="6309360" y="3438876"/>
            <a:ext cx="475488" cy="551566"/>
          </a:xfrm>
          <a:prstGeom prst="roundRect">
            <a:avLst>
              <a:gd name="adj" fmla="val 9615"/>
            </a:avLst>
          </a:prstGeom>
          <a:solidFill>
            <a:srgbClr val="2563EB"/>
          </a:solidFill>
          <a:ln w="12700">
            <a:solidFill>
              <a:srgbClr val="FFFFFF"/>
            </a:solidFill>
            <a:prstDash val="solid"/>
          </a:ln>
        </p:spPr>
      </p:sp>
      <p:sp>
        <p:nvSpPr>
          <p:cNvPr id="24" name="Text 21"/>
          <p:cNvSpPr txBox="1"/>
          <p:nvPr/>
        </p:nvSpPr>
        <p:spPr>
          <a:xfrm>
            <a:off x="6309360" y="3438876"/>
            <a:ext cx="475488" cy="551566"/>
          </a:xfrm>
          <a:prstGeom prst="rect">
            <a:avLst/>
          </a:prstGeom>
          <a:noFill/>
          <a:ln/>
        </p:spPr>
        <p:txBody>
          <a:bodyPr wrap="square" lIns="0" tIns="0" rIns="0" bIns="0" rtlCol="0" anchor="ctr"/>
          <a:lstStyle/>
          <a:p>
            <a:pPr algn="ctr" indent="0" marL="0">
              <a:buNone/>
            </a:pPr>
            <a:r>
              <a:rPr lang="en-US" sz="900" b="1" dirty="0">
                <a:solidFill>
                  <a:srgbClr val="FFFFFF"/>
                </a:solidFill>
                <a:latin typeface="Malgun Gothic" pitchFamily="34" charset="0"/>
                <a:ea typeface="Malgun Gothic" pitchFamily="34" charset="-122"/>
                <a:cs typeface="Malgun Gothic" pitchFamily="34" charset="-120"/>
              </a:rPr>
              <a:t>BA</a:t>
            </a:r>
            <a:endParaRPr lang="en-US" sz="900" dirty="0"/>
          </a:p>
        </p:txBody>
      </p:sp>
      <p:sp>
        <p:nvSpPr>
          <p:cNvPr id="25" name="Shape 22"/>
          <p:cNvSpPr/>
          <p:nvPr/>
        </p:nvSpPr>
        <p:spPr>
          <a:xfrm>
            <a:off x="6775704" y="2653955"/>
            <a:ext cx="896112" cy="1357701"/>
          </a:xfrm>
          <a:prstGeom prst="roundRect">
            <a:avLst>
              <a:gd name="adj" fmla="val 5102"/>
            </a:avLst>
          </a:prstGeom>
          <a:solidFill>
            <a:srgbClr val="B9C4D6"/>
          </a:solidFill>
          <a:ln w="12700">
            <a:solidFill>
              <a:srgbClr val="B9C4D6"/>
            </a:solidFill>
            <a:prstDash val="solid"/>
          </a:ln>
        </p:spPr>
      </p:sp>
      <p:sp>
        <p:nvSpPr>
          <p:cNvPr id="26" name="Text 23"/>
          <p:cNvSpPr txBox="1"/>
          <p:nvPr/>
        </p:nvSpPr>
        <p:spPr>
          <a:xfrm>
            <a:off x="6775704" y="3141878"/>
            <a:ext cx="896112" cy="318211"/>
          </a:xfrm>
          <a:prstGeom prst="rect">
            <a:avLst/>
          </a:prstGeom>
          <a:noFill/>
          <a:ln/>
        </p:spPr>
        <p:txBody>
          <a:bodyPr wrap="square" lIns="0" tIns="0" rIns="0" bIns="0" rtlCol="0" anchor="ctr"/>
          <a:lstStyle/>
          <a:p>
            <a:pPr algn="ctr" indent="0" marL="0">
              <a:buNone/>
            </a:pPr>
            <a:r>
              <a:rPr lang="en-US" sz="950" dirty="0">
                <a:solidFill>
                  <a:srgbClr val="FFFFFF"/>
                </a:solidFill>
                <a:latin typeface="Malgun Gothic" pitchFamily="34" charset="0"/>
                <a:ea typeface="Malgun Gothic" pitchFamily="34" charset="-122"/>
                <a:cs typeface="Malgun Gothic" pitchFamily="34" charset="-120"/>
              </a:rPr>
              <a:t>Frozen</a:t>
            </a:r>
            <a:endParaRPr lang="en-US" sz="950" dirty="0"/>
          </a:p>
        </p:txBody>
      </p:sp>
      <p:sp>
        <p:nvSpPr>
          <p:cNvPr id="27" name="Shape 24"/>
          <p:cNvSpPr/>
          <p:nvPr/>
        </p:nvSpPr>
        <p:spPr>
          <a:xfrm>
            <a:off x="7342632" y="3438876"/>
            <a:ext cx="475488" cy="551566"/>
          </a:xfrm>
          <a:prstGeom prst="roundRect">
            <a:avLst>
              <a:gd name="adj" fmla="val 9615"/>
            </a:avLst>
          </a:prstGeom>
          <a:solidFill>
            <a:srgbClr val="2563EB"/>
          </a:solidFill>
          <a:ln w="12700">
            <a:solidFill>
              <a:srgbClr val="FFFFFF"/>
            </a:solidFill>
            <a:prstDash val="solid"/>
          </a:ln>
        </p:spPr>
      </p:sp>
      <p:sp>
        <p:nvSpPr>
          <p:cNvPr id="28" name="Text 25"/>
          <p:cNvSpPr txBox="1"/>
          <p:nvPr/>
        </p:nvSpPr>
        <p:spPr>
          <a:xfrm>
            <a:off x="7342632" y="3438876"/>
            <a:ext cx="475488" cy="551566"/>
          </a:xfrm>
          <a:prstGeom prst="rect">
            <a:avLst/>
          </a:prstGeom>
          <a:noFill/>
          <a:ln/>
        </p:spPr>
        <p:txBody>
          <a:bodyPr wrap="square" lIns="0" tIns="0" rIns="0" bIns="0" rtlCol="0" anchor="ctr"/>
          <a:lstStyle/>
          <a:p>
            <a:pPr algn="ctr" indent="0" marL="0">
              <a:buNone/>
            </a:pPr>
            <a:r>
              <a:rPr lang="en-US" sz="900" b="1" dirty="0">
                <a:solidFill>
                  <a:srgbClr val="FFFFFF"/>
                </a:solidFill>
                <a:latin typeface="Malgun Gothic" pitchFamily="34" charset="0"/>
                <a:ea typeface="Malgun Gothic" pitchFamily="34" charset="-122"/>
                <a:cs typeface="Malgun Gothic" pitchFamily="34" charset="-120"/>
              </a:rPr>
              <a:t>BA</a:t>
            </a:r>
            <a:endParaRPr lang="en-US" sz="900" dirty="0"/>
          </a:p>
        </p:txBody>
      </p:sp>
      <p:sp>
        <p:nvSpPr>
          <p:cNvPr id="29" name="Shape 26"/>
          <p:cNvSpPr/>
          <p:nvPr/>
        </p:nvSpPr>
        <p:spPr>
          <a:xfrm>
            <a:off x="7808976" y="2653955"/>
            <a:ext cx="896112" cy="1357701"/>
          </a:xfrm>
          <a:prstGeom prst="roundRect">
            <a:avLst>
              <a:gd name="adj" fmla="val 5102"/>
            </a:avLst>
          </a:prstGeom>
          <a:solidFill>
            <a:srgbClr val="B9C4D6"/>
          </a:solidFill>
          <a:ln w="12700">
            <a:solidFill>
              <a:srgbClr val="B9C4D6"/>
            </a:solidFill>
            <a:prstDash val="solid"/>
          </a:ln>
        </p:spPr>
      </p:sp>
      <p:sp>
        <p:nvSpPr>
          <p:cNvPr id="30" name="Text 27"/>
          <p:cNvSpPr txBox="1"/>
          <p:nvPr/>
        </p:nvSpPr>
        <p:spPr>
          <a:xfrm>
            <a:off x="7808976" y="3141878"/>
            <a:ext cx="896112" cy="318211"/>
          </a:xfrm>
          <a:prstGeom prst="rect">
            <a:avLst/>
          </a:prstGeom>
          <a:noFill/>
          <a:ln/>
        </p:spPr>
        <p:txBody>
          <a:bodyPr wrap="square" lIns="0" tIns="0" rIns="0" bIns="0" rtlCol="0" anchor="ctr"/>
          <a:lstStyle/>
          <a:p>
            <a:pPr algn="ctr" indent="0" marL="0">
              <a:buNone/>
            </a:pPr>
            <a:r>
              <a:rPr lang="en-US" sz="950" dirty="0">
                <a:solidFill>
                  <a:srgbClr val="FFFFFF"/>
                </a:solidFill>
                <a:latin typeface="Malgun Gothic" pitchFamily="34" charset="0"/>
                <a:ea typeface="Malgun Gothic" pitchFamily="34" charset="-122"/>
                <a:cs typeface="Malgun Gothic" pitchFamily="34" charset="-120"/>
              </a:rPr>
              <a:t>Frozen</a:t>
            </a:r>
            <a:endParaRPr lang="en-US" sz="950" dirty="0"/>
          </a:p>
        </p:txBody>
      </p:sp>
      <p:sp>
        <p:nvSpPr>
          <p:cNvPr id="31" name="Shape 28"/>
          <p:cNvSpPr/>
          <p:nvPr/>
        </p:nvSpPr>
        <p:spPr>
          <a:xfrm>
            <a:off x="8375904" y="3438876"/>
            <a:ext cx="475488" cy="551566"/>
          </a:xfrm>
          <a:prstGeom prst="roundRect">
            <a:avLst>
              <a:gd name="adj" fmla="val 9615"/>
            </a:avLst>
          </a:prstGeom>
          <a:solidFill>
            <a:srgbClr val="2563EB"/>
          </a:solidFill>
          <a:ln w="12700">
            <a:solidFill>
              <a:srgbClr val="FFFFFF"/>
            </a:solidFill>
            <a:prstDash val="solid"/>
          </a:ln>
        </p:spPr>
      </p:sp>
      <p:sp>
        <p:nvSpPr>
          <p:cNvPr id="32" name="Text 29"/>
          <p:cNvSpPr txBox="1"/>
          <p:nvPr/>
        </p:nvSpPr>
        <p:spPr>
          <a:xfrm>
            <a:off x="8375904" y="3438876"/>
            <a:ext cx="475488" cy="551566"/>
          </a:xfrm>
          <a:prstGeom prst="rect">
            <a:avLst/>
          </a:prstGeom>
          <a:noFill/>
          <a:ln/>
        </p:spPr>
        <p:txBody>
          <a:bodyPr wrap="square" lIns="0" tIns="0" rIns="0" bIns="0" rtlCol="0" anchor="ctr"/>
          <a:lstStyle/>
          <a:p>
            <a:pPr algn="ctr" indent="0" marL="0">
              <a:buNone/>
            </a:pPr>
            <a:r>
              <a:rPr lang="en-US" sz="900" b="1" dirty="0">
                <a:solidFill>
                  <a:srgbClr val="FFFFFF"/>
                </a:solidFill>
                <a:latin typeface="Malgun Gothic" pitchFamily="34" charset="0"/>
                <a:ea typeface="Malgun Gothic" pitchFamily="34" charset="-122"/>
                <a:cs typeface="Malgun Gothic" pitchFamily="34" charset="-120"/>
              </a:rPr>
              <a:t>BA</a:t>
            </a:r>
            <a:endParaRPr lang="en-US" sz="900" dirty="0"/>
          </a:p>
        </p:txBody>
      </p:sp>
      <p:sp>
        <p:nvSpPr>
          <p:cNvPr id="33" name="Shape 30"/>
          <p:cNvSpPr/>
          <p:nvPr/>
        </p:nvSpPr>
        <p:spPr>
          <a:xfrm>
            <a:off x="8842248" y="2653955"/>
            <a:ext cx="896112" cy="1357701"/>
          </a:xfrm>
          <a:prstGeom prst="roundRect">
            <a:avLst>
              <a:gd name="adj" fmla="val 5102"/>
            </a:avLst>
          </a:prstGeom>
          <a:solidFill>
            <a:srgbClr val="B9C4D6"/>
          </a:solidFill>
          <a:ln w="12700">
            <a:solidFill>
              <a:srgbClr val="B9C4D6"/>
            </a:solidFill>
            <a:prstDash val="solid"/>
          </a:ln>
        </p:spPr>
      </p:sp>
      <p:sp>
        <p:nvSpPr>
          <p:cNvPr id="34" name="Text 31"/>
          <p:cNvSpPr txBox="1"/>
          <p:nvPr/>
        </p:nvSpPr>
        <p:spPr>
          <a:xfrm>
            <a:off x="8842248" y="3141878"/>
            <a:ext cx="896112" cy="318211"/>
          </a:xfrm>
          <a:prstGeom prst="rect">
            <a:avLst/>
          </a:prstGeom>
          <a:noFill/>
          <a:ln/>
        </p:spPr>
        <p:txBody>
          <a:bodyPr wrap="square" lIns="0" tIns="0" rIns="0" bIns="0" rtlCol="0" anchor="ctr"/>
          <a:lstStyle/>
          <a:p>
            <a:pPr algn="ctr" indent="0" marL="0">
              <a:buNone/>
            </a:pPr>
            <a:r>
              <a:rPr lang="en-US" sz="950" dirty="0">
                <a:solidFill>
                  <a:srgbClr val="FFFFFF"/>
                </a:solidFill>
                <a:latin typeface="Malgun Gothic" pitchFamily="34" charset="0"/>
                <a:ea typeface="Malgun Gothic" pitchFamily="34" charset="-122"/>
                <a:cs typeface="Malgun Gothic" pitchFamily="34" charset="-120"/>
              </a:rPr>
              <a:t>Frozen</a:t>
            </a:r>
            <a:endParaRPr lang="en-US" sz="950" dirty="0"/>
          </a:p>
        </p:txBody>
      </p:sp>
      <p:sp>
        <p:nvSpPr>
          <p:cNvPr id="35" name="Shape 32"/>
          <p:cNvSpPr/>
          <p:nvPr/>
        </p:nvSpPr>
        <p:spPr>
          <a:xfrm>
            <a:off x="9409176" y="3438876"/>
            <a:ext cx="475488" cy="551566"/>
          </a:xfrm>
          <a:prstGeom prst="roundRect">
            <a:avLst>
              <a:gd name="adj" fmla="val 9615"/>
            </a:avLst>
          </a:prstGeom>
          <a:solidFill>
            <a:srgbClr val="2563EB"/>
          </a:solidFill>
          <a:ln w="12700">
            <a:solidFill>
              <a:srgbClr val="FFFFFF"/>
            </a:solidFill>
            <a:prstDash val="solid"/>
          </a:ln>
        </p:spPr>
      </p:sp>
      <p:sp>
        <p:nvSpPr>
          <p:cNvPr id="36" name="Text 33"/>
          <p:cNvSpPr txBox="1"/>
          <p:nvPr/>
        </p:nvSpPr>
        <p:spPr>
          <a:xfrm>
            <a:off x="9409176" y="3438876"/>
            <a:ext cx="475488" cy="551566"/>
          </a:xfrm>
          <a:prstGeom prst="rect">
            <a:avLst/>
          </a:prstGeom>
          <a:noFill/>
          <a:ln/>
        </p:spPr>
        <p:txBody>
          <a:bodyPr wrap="square" lIns="0" tIns="0" rIns="0" bIns="0" rtlCol="0" anchor="ctr"/>
          <a:lstStyle/>
          <a:p>
            <a:pPr algn="ctr" indent="0" marL="0">
              <a:buNone/>
            </a:pPr>
            <a:r>
              <a:rPr lang="en-US" sz="900" b="1" dirty="0">
                <a:solidFill>
                  <a:srgbClr val="FFFFFF"/>
                </a:solidFill>
                <a:latin typeface="Malgun Gothic" pitchFamily="34" charset="0"/>
                <a:ea typeface="Malgun Gothic" pitchFamily="34" charset="-122"/>
                <a:cs typeface="Malgun Gothic" pitchFamily="34" charset="-120"/>
              </a:rPr>
              <a:t>BA</a:t>
            </a:r>
            <a:endParaRPr lang="en-US" sz="900" dirty="0"/>
          </a:p>
        </p:txBody>
      </p:sp>
      <p:sp>
        <p:nvSpPr>
          <p:cNvPr id="37" name="Text 34"/>
          <p:cNvSpPr txBox="1"/>
          <p:nvPr/>
        </p:nvSpPr>
        <p:spPr>
          <a:xfrm>
            <a:off x="5742432" y="4117726"/>
            <a:ext cx="4114800" cy="296997"/>
          </a:xfrm>
          <a:prstGeom prst="rect">
            <a:avLst/>
          </a:prstGeom>
          <a:noFill/>
          <a:ln/>
        </p:spPr>
        <p:txBody>
          <a:bodyPr wrap="square" lIns="0" tIns="0" rIns="0" bIns="0" rtlCol="0" anchor="ctr"/>
          <a:lstStyle/>
          <a:p>
            <a:pPr indent="0" marL="0">
              <a:buNone/>
            </a:pPr>
            <a:r>
              <a:rPr lang="en-US" sz="1100" dirty="0">
                <a:solidFill>
                  <a:srgbClr val="1A4FBF"/>
                </a:solidFill>
                <a:latin typeface="Malgun Gothic" pitchFamily="34" charset="0"/>
                <a:ea typeface="Malgun Gothic" pitchFamily="34" charset="-122"/>
                <a:cs typeface="Malgun Gothic" pitchFamily="34" charset="-120"/>
              </a:rPr>
              <a:t>Base Weight는 고정  ·  Low-Rank Adapter만 학습</a:t>
            </a:r>
            <a:endParaRPr lang="en-US" sz="1100" dirty="0"/>
          </a:p>
        </p:txBody>
      </p:sp>
      <p:sp>
        <p:nvSpPr>
          <p:cNvPr id="38" name="Text 35"/>
          <p:cNvSpPr txBox="1"/>
          <p:nvPr/>
        </p:nvSpPr>
        <p:spPr>
          <a:xfrm>
            <a:off x="5742432" y="4393509"/>
            <a:ext cx="4114800" cy="296997"/>
          </a:xfrm>
          <a:prstGeom prst="rect">
            <a:avLst/>
          </a:prstGeom>
          <a:noFill/>
          <a:ln/>
        </p:spPr>
        <p:txBody>
          <a:bodyPr wrap="square" lIns="0" tIns="0" rIns="0" bIns="0" rtlCol="0" anchor="ctr"/>
          <a:lstStyle/>
          <a:p>
            <a:pPr indent="0" marL="0">
              <a:buNone/>
            </a:pPr>
            <a:r>
              <a:rPr lang="en-US" sz="1000" dirty="0">
                <a:solidFill>
                  <a:srgbClr val="64748B"/>
                </a:solidFill>
                <a:latin typeface="Malgun Gothic" pitchFamily="34" charset="0"/>
                <a:ea typeface="Malgun Gothic" pitchFamily="34" charset="-122"/>
                <a:cs typeface="Malgun Gothic" pitchFamily="34" charset="-120"/>
              </a:rPr>
              <a:t>학습 대상이 작아 optimizer state와 gradient가 함께 줄어든다</a:t>
            </a:r>
            <a:endParaRPr lang="en-US" sz="1000" dirty="0"/>
          </a:p>
        </p:txBody>
      </p:sp>
      <p:sp>
        <p:nvSpPr>
          <p:cNvPr id="39" name="Shape 36"/>
          <p:cNvSpPr/>
          <p:nvPr/>
        </p:nvSpPr>
        <p:spPr>
          <a:xfrm>
            <a:off x="10296144" y="1975104"/>
            <a:ext cx="1316736" cy="2906329"/>
          </a:xfrm>
          <a:prstGeom prst="roundRect">
            <a:avLst>
              <a:gd name="adj" fmla="val 4167"/>
            </a:avLst>
          </a:prstGeom>
          <a:solidFill>
            <a:srgbClr val="0E1A33"/>
          </a:solidFill>
          <a:ln w="12700">
            <a:solidFill>
              <a:srgbClr val="0E1A33"/>
            </a:solidFill>
            <a:prstDash val="solid"/>
          </a:ln>
        </p:spPr>
      </p:sp>
      <p:sp>
        <p:nvSpPr>
          <p:cNvPr id="40" name="Text 37"/>
          <p:cNvSpPr txBox="1"/>
          <p:nvPr/>
        </p:nvSpPr>
        <p:spPr>
          <a:xfrm>
            <a:off x="10332720" y="2653955"/>
            <a:ext cx="1243584" cy="339425"/>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W′ = W + ΔW</a:t>
            </a:r>
            <a:endParaRPr lang="en-US" sz="1200" dirty="0"/>
          </a:p>
        </p:txBody>
      </p:sp>
      <p:sp>
        <p:nvSpPr>
          <p:cNvPr id="41" name="Text 38"/>
          <p:cNvSpPr txBox="1"/>
          <p:nvPr/>
        </p:nvSpPr>
        <p:spPr>
          <a:xfrm>
            <a:off x="10332720" y="3057022"/>
            <a:ext cx="1243584" cy="339425"/>
          </a:xfrm>
          <a:prstGeom prst="rect">
            <a:avLst/>
          </a:prstGeom>
          <a:noFill/>
          <a:ln/>
        </p:spPr>
        <p:txBody>
          <a:bodyPr wrap="square" lIns="0" tIns="0" rIns="0" bIns="0" rtlCol="0" anchor="ctr"/>
          <a:lstStyle/>
          <a:p>
            <a:pPr algn="ctr" indent="0" marL="0">
              <a:buNone/>
            </a:pPr>
            <a:r>
              <a:rPr lang="en-US" sz="1200" b="1" dirty="0">
                <a:solidFill>
                  <a:srgbClr val="6FA8FF"/>
                </a:solidFill>
                <a:latin typeface="Courier New" pitchFamily="34" charset="0"/>
                <a:ea typeface="Courier New" pitchFamily="34" charset="-122"/>
                <a:cs typeface="Courier New" pitchFamily="34" charset="-120"/>
              </a:rPr>
              <a:t>ΔW = B A</a:t>
            </a:r>
            <a:endParaRPr lang="en-US" sz="1200" dirty="0"/>
          </a:p>
        </p:txBody>
      </p:sp>
      <p:sp>
        <p:nvSpPr>
          <p:cNvPr id="42" name="Text 39"/>
          <p:cNvSpPr txBox="1"/>
          <p:nvPr/>
        </p:nvSpPr>
        <p:spPr>
          <a:xfrm>
            <a:off x="10332720" y="3566160"/>
            <a:ext cx="1243584" cy="742493"/>
          </a:xfrm>
          <a:prstGeom prst="rect">
            <a:avLst/>
          </a:prstGeom>
          <a:noFill/>
          <a:ln/>
        </p:spPr>
        <p:txBody>
          <a:bodyPr wrap="square" lIns="0" tIns="0" rIns="0" bIns="0" rtlCol="0" anchor="ctr"/>
          <a:lstStyle/>
          <a:p>
            <a:pPr algn="ctr" indent="0" marL="0">
              <a:lnSpc>
                <a:spcPts val="1600"/>
              </a:lnSpc>
              <a:buNone/>
            </a:pPr>
            <a:r>
              <a:rPr lang="en-US" sz="1000" dirty="0">
                <a:solidFill>
                  <a:srgbClr val="9BADCC"/>
                </a:solidFill>
                <a:latin typeface="Malgun Gothic" pitchFamily="34" charset="0"/>
                <a:ea typeface="Malgun Gothic" pitchFamily="34" charset="-122"/>
                <a:cs typeface="Malgun Gothic" pitchFamily="34" charset="-120"/>
              </a:rPr>
              <a:t>W는 고정</a:t>
            </a:r>
            <a:endParaRPr lang="en-US" sz="1000" dirty="0"/>
          </a:p>
          <a:p>
            <a:pPr algn="ctr" indent="0" marL="0">
              <a:lnSpc>
                <a:spcPts val="1600"/>
              </a:lnSpc>
              <a:buNone/>
            </a:pPr>
            <a:r>
              <a:rPr lang="en-US" sz="1000" dirty="0">
                <a:solidFill>
                  <a:srgbClr val="9BADCC"/>
                </a:solidFill>
                <a:latin typeface="Malgun Gothic" pitchFamily="34" charset="0"/>
                <a:ea typeface="Malgun Gothic" pitchFamily="34" charset="-122"/>
                <a:cs typeface="Malgun Gothic" pitchFamily="34" charset="-120"/>
              </a:rPr>
              <a:t>A, B만 학습</a:t>
            </a:r>
            <a:endParaRPr lang="en-US" sz="1000" dirty="0"/>
          </a:p>
        </p:txBody>
      </p:sp>
      <p:sp>
        <p:nvSpPr>
          <p:cNvPr id="43" name="Shape 40"/>
          <p:cNvSpPr/>
          <p:nvPr/>
        </p:nvSpPr>
        <p:spPr>
          <a:xfrm>
            <a:off x="566928" y="5114788"/>
            <a:ext cx="3584448" cy="1230417"/>
          </a:xfrm>
          <a:prstGeom prst="roundRect">
            <a:avLst>
              <a:gd name="adj" fmla="val 4459"/>
            </a:avLst>
          </a:prstGeom>
          <a:solidFill>
            <a:srgbClr val="F2F5FA"/>
          </a:solidFill>
          <a:ln w="12700">
            <a:solidFill>
              <a:srgbClr val="F2F5FA"/>
            </a:solidFill>
            <a:prstDash val="solid"/>
          </a:ln>
        </p:spPr>
      </p:sp>
      <p:sp>
        <p:nvSpPr>
          <p:cNvPr id="44" name="Text 41"/>
          <p:cNvSpPr txBox="1"/>
          <p:nvPr/>
        </p:nvSpPr>
        <p:spPr>
          <a:xfrm>
            <a:off x="768096" y="5263286"/>
            <a:ext cx="3182112" cy="487924"/>
          </a:xfrm>
          <a:prstGeom prst="rect">
            <a:avLst/>
          </a:prstGeom>
          <a:noFill/>
          <a:ln/>
        </p:spPr>
        <p:txBody>
          <a:bodyPr wrap="square" lIns="0" tIns="0" rIns="0" bIns="0" rtlCol="0" anchor="ctr"/>
          <a:lstStyle/>
          <a:p>
            <a:pPr indent="0" marL="0">
              <a:buNone/>
            </a:pPr>
            <a:r>
              <a:rPr lang="en-US" sz="2500" b="1" dirty="0">
                <a:solidFill>
                  <a:srgbClr val="2563EB"/>
                </a:solidFill>
                <a:latin typeface="Malgun Gothic" pitchFamily="34" charset="0"/>
                <a:ea typeface="Malgun Gothic" pitchFamily="34" charset="-122"/>
                <a:cs typeface="Malgun Gothic" pitchFamily="34" charset="-120"/>
              </a:rPr>
              <a:t>17,432,576</a:t>
            </a:r>
            <a:endParaRPr lang="en-US" sz="2500" dirty="0"/>
          </a:p>
        </p:txBody>
      </p:sp>
      <p:sp>
        <p:nvSpPr>
          <p:cNvPr id="45" name="Text 42"/>
          <p:cNvSpPr txBox="1"/>
          <p:nvPr/>
        </p:nvSpPr>
        <p:spPr>
          <a:xfrm>
            <a:off x="768096" y="5772424"/>
            <a:ext cx="3182112" cy="466710"/>
          </a:xfrm>
          <a:prstGeom prst="rect">
            <a:avLst/>
          </a:prstGeom>
          <a:noFill/>
          <a:ln/>
        </p:spPr>
        <p:txBody>
          <a:bodyPr wrap="square" lIns="0" tIns="0" rIns="0" bIns="0" rtlCol="0" anchor="ctr"/>
          <a:lstStyle/>
          <a:p>
            <a:pPr indent="0" marL="0">
              <a:lnSpc>
                <a:spcPts val="1300"/>
              </a:lnSpc>
              <a:buNone/>
            </a:pPr>
            <a:r>
              <a:rPr lang="en-US" sz="1000" dirty="0">
                <a:solidFill>
                  <a:srgbClr val="64748B"/>
                </a:solidFill>
                <a:latin typeface="Malgun Gothic" pitchFamily="34" charset="0"/>
                <a:ea typeface="Malgun Gothic" pitchFamily="34" charset="-122"/>
                <a:cs typeface="Malgun Gothic" pitchFamily="34" charset="-120"/>
              </a:rPr>
              <a:t>학습된 LoRA Parameter</a:t>
            </a:r>
            <a:endParaRPr lang="en-US" sz="1000" dirty="0"/>
          </a:p>
        </p:txBody>
      </p:sp>
      <p:sp>
        <p:nvSpPr>
          <p:cNvPr id="46" name="Shape 43"/>
          <p:cNvSpPr/>
          <p:nvPr/>
        </p:nvSpPr>
        <p:spPr>
          <a:xfrm>
            <a:off x="4480560" y="5114788"/>
            <a:ext cx="3584448" cy="1230417"/>
          </a:xfrm>
          <a:prstGeom prst="roundRect">
            <a:avLst>
              <a:gd name="adj" fmla="val 4459"/>
            </a:avLst>
          </a:prstGeom>
          <a:solidFill>
            <a:srgbClr val="F2F5FA"/>
          </a:solidFill>
          <a:ln w="12700">
            <a:solidFill>
              <a:srgbClr val="F2F5FA"/>
            </a:solidFill>
            <a:prstDash val="solid"/>
          </a:ln>
        </p:spPr>
      </p:sp>
      <p:sp>
        <p:nvSpPr>
          <p:cNvPr id="47" name="Text 44"/>
          <p:cNvSpPr txBox="1"/>
          <p:nvPr/>
        </p:nvSpPr>
        <p:spPr>
          <a:xfrm>
            <a:off x="4681728" y="5263286"/>
            <a:ext cx="3182112" cy="487924"/>
          </a:xfrm>
          <a:prstGeom prst="rect">
            <a:avLst/>
          </a:prstGeom>
          <a:noFill/>
          <a:ln/>
        </p:spPr>
        <p:txBody>
          <a:bodyPr wrap="square" lIns="0" tIns="0" rIns="0" bIns="0" rtlCol="0" anchor="ctr"/>
          <a:lstStyle/>
          <a:p>
            <a:pPr indent="0" marL="0">
              <a:buNone/>
            </a:pPr>
            <a:r>
              <a:rPr lang="en-US" sz="2500" b="1" dirty="0">
                <a:solidFill>
                  <a:srgbClr val="15203A"/>
                </a:solidFill>
                <a:latin typeface="Malgun Gothic" pitchFamily="34" charset="0"/>
                <a:ea typeface="Malgun Gothic" pitchFamily="34" charset="-122"/>
                <a:cs typeface="Malgun Gothic" pitchFamily="34" charset="-120"/>
              </a:rPr>
              <a:t>1.0030%</a:t>
            </a:r>
            <a:endParaRPr lang="en-US" sz="2500" dirty="0"/>
          </a:p>
        </p:txBody>
      </p:sp>
      <p:sp>
        <p:nvSpPr>
          <p:cNvPr id="48" name="Text 45"/>
          <p:cNvSpPr txBox="1"/>
          <p:nvPr/>
        </p:nvSpPr>
        <p:spPr>
          <a:xfrm>
            <a:off x="4681728" y="5772424"/>
            <a:ext cx="3182112" cy="466710"/>
          </a:xfrm>
          <a:prstGeom prst="rect">
            <a:avLst/>
          </a:prstGeom>
          <a:noFill/>
          <a:ln/>
        </p:spPr>
        <p:txBody>
          <a:bodyPr wrap="square" lIns="0" tIns="0" rIns="0" bIns="0" rtlCol="0" anchor="ctr"/>
          <a:lstStyle/>
          <a:p>
            <a:pPr indent="0" marL="0">
              <a:lnSpc>
                <a:spcPts val="1300"/>
              </a:lnSpc>
              <a:buNone/>
            </a:pPr>
            <a:r>
              <a:rPr lang="en-US" sz="1000" dirty="0">
                <a:solidFill>
                  <a:srgbClr val="64748B"/>
                </a:solidFill>
                <a:latin typeface="Malgun Gothic" pitchFamily="34" charset="0"/>
                <a:ea typeface="Malgun Gothic" pitchFamily="34" charset="-122"/>
                <a:cs typeface="Malgun Gothic" pitchFamily="34" charset="-120"/>
              </a:rPr>
              <a:t>LoRA 노트북 기준 trainable 비율</a:t>
            </a:r>
            <a:endParaRPr lang="en-US" sz="1000" dirty="0"/>
          </a:p>
          <a:p>
            <a:pPr indent="0" marL="0">
              <a:lnSpc>
                <a:spcPts val="1300"/>
              </a:lnSpc>
              <a:buNone/>
            </a:pPr>
            <a:r>
              <a:rPr lang="en-US" sz="1000" dirty="0">
                <a:solidFill>
                  <a:srgbClr val="64748B"/>
                </a:solidFill>
                <a:latin typeface="Malgun Gothic" pitchFamily="34" charset="0"/>
                <a:ea typeface="Malgun Gothic" pitchFamily="34" charset="-122"/>
                <a:cs typeface="Malgun Gothic" pitchFamily="34" charset="-120"/>
              </a:rPr>
              <a:t>(17.4M / 1,738,007,552)</a:t>
            </a:r>
            <a:endParaRPr lang="en-US" sz="1000" dirty="0"/>
          </a:p>
        </p:txBody>
      </p:sp>
      <p:sp>
        <p:nvSpPr>
          <p:cNvPr id="49" name="Shape 46"/>
          <p:cNvSpPr/>
          <p:nvPr/>
        </p:nvSpPr>
        <p:spPr>
          <a:xfrm>
            <a:off x="8394192" y="5114788"/>
            <a:ext cx="3584448" cy="1230417"/>
          </a:xfrm>
          <a:prstGeom prst="roundRect">
            <a:avLst>
              <a:gd name="adj" fmla="val 4459"/>
            </a:avLst>
          </a:prstGeom>
          <a:solidFill>
            <a:srgbClr val="F2F5FA"/>
          </a:solidFill>
          <a:ln w="12700">
            <a:solidFill>
              <a:srgbClr val="F2F5FA"/>
            </a:solidFill>
            <a:prstDash val="solid"/>
          </a:ln>
        </p:spPr>
      </p:sp>
      <p:sp>
        <p:nvSpPr>
          <p:cNvPr id="50" name="Text 47"/>
          <p:cNvSpPr txBox="1"/>
          <p:nvPr/>
        </p:nvSpPr>
        <p:spPr>
          <a:xfrm>
            <a:off x="8595360" y="5263286"/>
            <a:ext cx="3182112" cy="487924"/>
          </a:xfrm>
          <a:prstGeom prst="rect">
            <a:avLst/>
          </a:prstGeom>
          <a:noFill/>
          <a:ln/>
        </p:spPr>
        <p:txBody>
          <a:bodyPr wrap="square" lIns="0" tIns="0" rIns="0" bIns="0" rtlCol="0" anchor="ctr"/>
          <a:lstStyle/>
          <a:p>
            <a:pPr indent="0" marL="0">
              <a:buNone/>
            </a:pPr>
            <a:r>
              <a:rPr lang="en-US" sz="2500" b="1" dirty="0">
                <a:solidFill>
                  <a:srgbClr val="15203A"/>
                </a:solidFill>
                <a:latin typeface="Malgun Gothic" pitchFamily="34" charset="0"/>
                <a:ea typeface="Malgun Gothic" pitchFamily="34" charset="-122"/>
                <a:cs typeface="Malgun Gothic" pitchFamily="34" charset="-120"/>
              </a:rPr>
              <a:t>r = 16</a:t>
            </a:r>
            <a:endParaRPr lang="en-US" sz="2500" dirty="0"/>
          </a:p>
        </p:txBody>
      </p:sp>
      <p:sp>
        <p:nvSpPr>
          <p:cNvPr id="51" name="Text 48"/>
          <p:cNvSpPr txBox="1"/>
          <p:nvPr/>
        </p:nvSpPr>
        <p:spPr>
          <a:xfrm>
            <a:off x="8595360" y="5772424"/>
            <a:ext cx="3182112" cy="466710"/>
          </a:xfrm>
          <a:prstGeom prst="rect">
            <a:avLst/>
          </a:prstGeom>
          <a:noFill/>
          <a:ln/>
        </p:spPr>
        <p:txBody>
          <a:bodyPr wrap="square" lIns="0" tIns="0" rIns="0" bIns="0" rtlCol="0" anchor="ctr"/>
          <a:lstStyle/>
          <a:p>
            <a:pPr indent="0" marL="0">
              <a:lnSpc>
                <a:spcPts val="1300"/>
              </a:lnSpc>
              <a:buNone/>
            </a:pPr>
            <a:r>
              <a:rPr lang="en-US" sz="1000" dirty="0">
                <a:solidFill>
                  <a:srgbClr val="64748B"/>
                </a:solidFill>
                <a:latin typeface="Malgun Gothic" pitchFamily="34" charset="0"/>
                <a:ea typeface="Malgun Gothic" pitchFamily="34" charset="-122"/>
                <a:cs typeface="Malgun Gothic" pitchFamily="34" charset="-120"/>
              </a:rPr>
              <a:t>Low-Rank 차원 · alpha 32 · dropout 0.05</a:t>
            </a:r>
            <a:endParaRPr lang="en-US" sz="1000" dirty="0"/>
          </a:p>
        </p:txBody>
      </p:sp>
      <p:sp>
        <p:nvSpPr>
          <p:cNvPr id="52" name="Text 49"/>
          <p:cNvSpPr txBox="1"/>
          <p:nvPr/>
        </p:nvSpPr>
        <p:spPr>
          <a:xfrm>
            <a:off x="11277295" y="6355080"/>
            <a:ext cx="457200" cy="274320"/>
          </a:xfrm>
          <a:prstGeom prst="rect">
            <a:avLst/>
          </a:prstGeom>
          <a:noFill/>
          <a:ln/>
        </p:spPr>
        <p:txBody>
          <a:bodyPr wrap="square" lIns="0" tIns="0" rIns="0" bIns="0" rtlCol="0" anchor="ctr"/>
          <a:lstStyle/>
          <a:p>
            <a:pPr algn="r" indent="0" marL="0">
              <a:buNone/>
            </a:pPr>
            <a:r>
              <a:rPr lang="en-US" sz="1000" dirty="0">
                <a:solidFill>
                  <a:srgbClr val="9AA6BC"/>
                </a:solidFill>
                <a:latin typeface="Malgun Gothic" pitchFamily="34" charset="0"/>
                <a:ea typeface="Malgun Gothic" pitchFamily="34" charset="-122"/>
                <a:cs typeface="Malgun Gothic"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66928" y="384048"/>
            <a:ext cx="1243584" cy="318211"/>
          </a:xfrm>
          <a:prstGeom prst="roundRect">
            <a:avLst>
              <a:gd name="adj" fmla="val 43103"/>
            </a:avLst>
          </a:prstGeom>
          <a:solidFill>
            <a:srgbClr val="E4EDFE"/>
          </a:solidFill>
          <a:ln w="12700">
            <a:solidFill>
              <a:srgbClr val="E4EDFE"/>
            </a:solidFill>
            <a:prstDash val="solid"/>
          </a:ln>
        </p:spPr>
      </p:sp>
      <p:sp>
        <p:nvSpPr>
          <p:cNvPr id="4" name="Text 1"/>
          <p:cNvSpPr txBox="1"/>
          <p:nvPr/>
        </p:nvSpPr>
        <p:spPr>
          <a:xfrm>
            <a:off x="566928" y="384048"/>
            <a:ext cx="1243584" cy="318211"/>
          </a:xfrm>
          <a:prstGeom prst="rect">
            <a:avLst/>
          </a:prstGeom>
          <a:noFill/>
          <a:ln/>
        </p:spPr>
        <p:txBody>
          <a:bodyPr wrap="square" lIns="0" tIns="0" rIns="0" bIns="0" rtlCol="0" anchor="ctr"/>
          <a:lstStyle/>
          <a:p>
            <a:pPr algn="ctr" indent="0" marL="0">
              <a:buNone/>
            </a:pPr>
            <a:r>
              <a:rPr lang="en-US" sz="1050" b="1" spc="60" kern="0" dirty="0">
                <a:solidFill>
                  <a:srgbClr val="1D4ED8"/>
                </a:solidFill>
                <a:latin typeface="Malgun Gothic" pitchFamily="34" charset="0"/>
                <a:ea typeface="Malgun Gothic" pitchFamily="34" charset="-122"/>
                <a:cs typeface="Malgun Gothic" pitchFamily="34" charset="-120"/>
              </a:rPr>
              <a:t>03  DESIGN</a:t>
            </a:r>
            <a:endParaRPr lang="en-US" sz="1050" dirty="0"/>
          </a:p>
        </p:txBody>
      </p:sp>
      <p:sp>
        <p:nvSpPr>
          <p:cNvPr id="5" name="Text 2"/>
          <p:cNvSpPr txBox="1"/>
          <p:nvPr/>
        </p:nvSpPr>
        <p:spPr>
          <a:xfrm>
            <a:off x="566928" y="765901"/>
            <a:ext cx="11057839" cy="593994"/>
          </a:xfrm>
          <a:prstGeom prst="rect">
            <a:avLst/>
          </a:prstGeom>
          <a:noFill/>
          <a:ln/>
        </p:spPr>
        <p:txBody>
          <a:bodyPr wrap="square" lIns="0" tIns="0" rIns="0" bIns="0" rtlCol="0" anchor="ctr"/>
          <a:lstStyle/>
          <a:p>
            <a:pPr indent="0" marL="0">
              <a:buNone/>
            </a:pPr>
            <a:r>
              <a:rPr lang="en-US" sz="3000" b="1" dirty="0">
                <a:solidFill>
                  <a:srgbClr val="15203A"/>
                </a:solidFill>
                <a:latin typeface="Malgun Gothic" pitchFamily="34" charset="0"/>
                <a:ea typeface="Malgun Gothic" pitchFamily="34" charset="-122"/>
                <a:cs typeface="Malgun Gothic" pitchFamily="34" charset="-120"/>
              </a:rPr>
              <a:t>QLoRA는 무엇을 추가하는가</a:t>
            </a:r>
            <a:endParaRPr lang="en-US" sz="3000" dirty="0"/>
          </a:p>
        </p:txBody>
      </p:sp>
      <p:sp>
        <p:nvSpPr>
          <p:cNvPr id="6" name="Text 3"/>
          <p:cNvSpPr txBox="1"/>
          <p:nvPr/>
        </p:nvSpPr>
        <p:spPr>
          <a:xfrm>
            <a:off x="566928" y="1349289"/>
            <a:ext cx="11057839" cy="339425"/>
          </a:xfrm>
          <a:prstGeom prst="rect">
            <a:avLst/>
          </a:prstGeom>
          <a:noFill/>
          <a:ln/>
        </p:spPr>
        <p:txBody>
          <a:bodyPr wrap="square" lIns="0" tIns="0" rIns="0" bIns="0" rtlCol="0" anchor="t"/>
          <a:lstStyle/>
          <a:p>
            <a:pPr indent="0" marL="0">
              <a:buNone/>
            </a:pPr>
            <a:r>
              <a:rPr lang="en-US" sz="1300" dirty="0">
                <a:solidFill>
                  <a:srgbClr val="64748B"/>
                </a:solidFill>
                <a:latin typeface="Malgun Gothic" pitchFamily="34" charset="0"/>
                <a:ea typeface="Malgun Gothic" pitchFamily="34" charset="-122"/>
                <a:cs typeface="Malgun Gothic" pitchFamily="34" charset="-120"/>
              </a:rPr>
              <a:t>Diagram 2 — 두 방식은 Adapter 구조가 같고, Base Weight의 저장 정밀도만 다르다</a:t>
            </a:r>
            <a:endParaRPr lang="en-US" sz="1300" dirty="0"/>
          </a:p>
        </p:txBody>
      </p:sp>
      <p:sp>
        <p:nvSpPr>
          <p:cNvPr id="7" name="Shape 4"/>
          <p:cNvSpPr/>
          <p:nvPr/>
        </p:nvSpPr>
        <p:spPr>
          <a:xfrm>
            <a:off x="566928" y="1932676"/>
            <a:ext cx="3584448" cy="3033613"/>
          </a:xfrm>
          <a:prstGeom prst="roundRect">
            <a:avLst>
              <a:gd name="adj" fmla="val 1809"/>
            </a:avLst>
          </a:prstGeom>
          <a:solidFill>
            <a:srgbClr val="E4EDFE"/>
          </a:solidFill>
          <a:ln w="12700">
            <a:solidFill>
              <a:srgbClr val="C9DCFC"/>
            </a:solidFill>
            <a:prstDash val="solid"/>
          </a:ln>
        </p:spPr>
      </p:sp>
      <p:sp>
        <p:nvSpPr>
          <p:cNvPr id="8" name="Text 5"/>
          <p:cNvSpPr txBox="1"/>
          <p:nvPr/>
        </p:nvSpPr>
        <p:spPr>
          <a:xfrm>
            <a:off x="786384" y="2081174"/>
            <a:ext cx="1828800" cy="360639"/>
          </a:xfrm>
          <a:prstGeom prst="rect">
            <a:avLst/>
          </a:prstGeom>
          <a:noFill/>
          <a:ln/>
        </p:spPr>
        <p:txBody>
          <a:bodyPr wrap="square" lIns="0" tIns="0" rIns="0" bIns="0" rtlCol="0" anchor="ctr"/>
          <a:lstStyle/>
          <a:p>
            <a:pPr indent="0" marL="0">
              <a:buNone/>
            </a:pPr>
            <a:r>
              <a:rPr lang="en-US" sz="1700" b="1" dirty="0">
                <a:solidFill>
                  <a:srgbClr val="2563EB"/>
                </a:solidFill>
                <a:latin typeface="Malgun Gothic" pitchFamily="34" charset="0"/>
                <a:ea typeface="Malgun Gothic" pitchFamily="34" charset="-122"/>
                <a:cs typeface="Malgun Gothic" pitchFamily="34" charset="-120"/>
              </a:rPr>
              <a:t>LoRA</a:t>
            </a:r>
            <a:endParaRPr lang="en-US" sz="1700" dirty="0"/>
          </a:p>
        </p:txBody>
      </p:sp>
      <p:sp>
        <p:nvSpPr>
          <p:cNvPr id="9" name="Shape 6"/>
          <p:cNvSpPr/>
          <p:nvPr/>
        </p:nvSpPr>
        <p:spPr>
          <a:xfrm>
            <a:off x="786384" y="2590312"/>
            <a:ext cx="3145536" cy="509138"/>
          </a:xfrm>
          <a:prstGeom prst="roundRect">
            <a:avLst>
              <a:gd name="adj" fmla="val 8980"/>
            </a:avLst>
          </a:prstGeom>
          <a:solidFill>
            <a:srgbClr val="FFFFFF"/>
          </a:solidFill>
          <a:ln w="12700">
            <a:solidFill>
              <a:srgbClr val="FFFFFF"/>
            </a:solidFill>
            <a:prstDash val="solid"/>
          </a:ln>
        </p:spPr>
      </p:sp>
      <p:sp>
        <p:nvSpPr>
          <p:cNvPr id="10" name="Text 7"/>
          <p:cNvSpPr txBox="1"/>
          <p:nvPr/>
        </p:nvSpPr>
        <p:spPr>
          <a:xfrm>
            <a:off x="914400" y="2590312"/>
            <a:ext cx="1298448" cy="509138"/>
          </a:xfrm>
          <a:prstGeom prst="rect">
            <a:avLst/>
          </a:prstGeom>
          <a:noFill/>
          <a:ln/>
        </p:spPr>
        <p:txBody>
          <a:bodyPr wrap="square" lIns="0" tIns="0" rIns="0" bIns="0" rtlCol="0" anchor="ctr"/>
          <a:lstStyle/>
          <a:p>
            <a:pPr indent="0" marL="0">
              <a:buNone/>
            </a:pPr>
            <a:r>
              <a:rPr lang="en-US" sz="1050" dirty="0">
                <a:solidFill>
                  <a:srgbClr val="64748B"/>
                </a:solidFill>
                <a:latin typeface="Malgun Gothic" pitchFamily="34" charset="0"/>
                <a:ea typeface="Malgun Gothic" pitchFamily="34" charset="-122"/>
                <a:cs typeface="Malgun Gothic" pitchFamily="34" charset="-120"/>
              </a:rPr>
              <a:t>Base Model</a:t>
            </a:r>
            <a:endParaRPr lang="en-US" sz="1050" dirty="0"/>
          </a:p>
        </p:txBody>
      </p:sp>
      <p:sp>
        <p:nvSpPr>
          <p:cNvPr id="11" name="Text 8"/>
          <p:cNvSpPr txBox="1"/>
          <p:nvPr/>
        </p:nvSpPr>
        <p:spPr>
          <a:xfrm>
            <a:off x="2212848" y="2590312"/>
            <a:ext cx="1645920" cy="509138"/>
          </a:xfrm>
          <a:prstGeom prst="rect">
            <a:avLst/>
          </a:prstGeom>
          <a:noFill/>
          <a:ln/>
        </p:spPr>
        <p:txBody>
          <a:bodyPr wrap="square" lIns="0" tIns="0" rIns="0" bIns="0" rtlCol="0" anchor="ctr"/>
          <a:lstStyle/>
          <a:p>
            <a:pPr indent="0" marL="0">
              <a:buNone/>
            </a:pPr>
            <a:r>
              <a:rPr lang="en-US" sz="1050" b="1" dirty="0">
                <a:solidFill>
                  <a:srgbClr val="15203A"/>
                </a:solidFill>
                <a:latin typeface="Malgun Gothic" pitchFamily="34" charset="0"/>
                <a:ea typeface="Malgun Gothic" pitchFamily="34" charset="-122"/>
                <a:cs typeface="Malgun Gothic" pitchFamily="34" charset="-120"/>
              </a:rPr>
              <a:t>BF16 / FP16</a:t>
            </a:r>
            <a:endParaRPr lang="en-US" sz="1050" dirty="0"/>
          </a:p>
        </p:txBody>
      </p:sp>
      <p:sp>
        <p:nvSpPr>
          <p:cNvPr id="12" name="Shape 9"/>
          <p:cNvSpPr/>
          <p:nvPr/>
        </p:nvSpPr>
        <p:spPr>
          <a:xfrm>
            <a:off x="786384" y="3184307"/>
            <a:ext cx="3145536" cy="509138"/>
          </a:xfrm>
          <a:prstGeom prst="roundRect">
            <a:avLst>
              <a:gd name="adj" fmla="val 8980"/>
            </a:avLst>
          </a:prstGeom>
          <a:solidFill>
            <a:srgbClr val="FFFFFF"/>
          </a:solidFill>
          <a:ln w="12700">
            <a:solidFill>
              <a:srgbClr val="FFFFFF"/>
            </a:solidFill>
            <a:prstDash val="solid"/>
          </a:ln>
        </p:spPr>
      </p:sp>
      <p:sp>
        <p:nvSpPr>
          <p:cNvPr id="13" name="Text 10"/>
          <p:cNvSpPr txBox="1"/>
          <p:nvPr/>
        </p:nvSpPr>
        <p:spPr>
          <a:xfrm>
            <a:off x="914400" y="3184307"/>
            <a:ext cx="1298448" cy="509138"/>
          </a:xfrm>
          <a:prstGeom prst="rect">
            <a:avLst/>
          </a:prstGeom>
          <a:noFill/>
          <a:ln/>
        </p:spPr>
        <p:txBody>
          <a:bodyPr wrap="square" lIns="0" tIns="0" rIns="0" bIns="0" rtlCol="0" anchor="ctr"/>
          <a:lstStyle/>
          <a:p>
            <a:pPr indent="0" marL="0">
              <a:buNone/>
            </a:pPr>
            <a:r>
              <a:rPr lang="en-US" sz="1050" dirty="0">
                <a:solidFill>
                  <a:srgbClr val="64748B"/>
                </a:solidFill>
                <a:latin typeface="Malgun Gothic" pitchFamily="34" charset="0"/>
                <a:ea typeface="Malgun Gothic" pitchFamily="34" charset="-122"/>
                <a:cs typeface="Malgun Gothic" pitchFamily="34" charset="-120"/>
              </a:rPr>
              <a:t>Base Weight</a:t>
            </a:r>
            <a:endParaRPr lang="en-US" sz="1050" dirty="0"/>
          </a:p>
        </p:txBody>
      </p:sp>
      <p:sp>
        <p:nvSpPr>
          <p:cNvPr id="14" name="Text 11"/>
          <p:cNvSpPr txBox="1"/>
          <p:nvPr/>
        </p:nvSpPr>
        <p:spPr>
          <a:xfrm>
            <a:off x="2212848" y="3184307"/>
            <a:ext cx="1645920" cy="509138"/>
          </a:xfrm>
          <a:prstGeom prst="rect">
            <a:avLst/>
          </a:prstGeom>
          <a:noFill/>
          <a:ln/>
        </p:spPr>
        <p:txBody>
          <a:bodyPr wrap="square" lIns="0" tIns="0" rIns="0" bIns="0" rtlCol="0" anchor="ctr"/>
          <a:lstStyle/>
          <a:p>
            <a:pPr indent="0" marL="0">
              <a:buNone/>
            </a:pPr>
            <a:r>
              <a:rPr lang="en-US" sz="1050" b="1" dirty="0">
                <a:solidFill>
                  <a:srgbClr val="15203A"/>
                </a:solidFill>
                <a:latin typeface="Malgun Gothic" pitchFamily="34" charset="0"/>
                <a:ea typeface="Malgun Gothic" pitchFamily="34" charset="-122"/>
                <a:cs typeface="Malgun Gothic" pitchFamily="34" charset="-120"/>
              </a:rPr>
              <a:t>Frozen</a:t>
            </a:r>
            <a:endParaRPr lang="en-US" sz="1050" dirty="0"/>
          </a:p>
        </p:txBody>
      </p:sp>
      <p:sp>
        <p:nvSpPr>
          <p:cNvPr id="15" name="Shape 12"/>
          <p:cNvSpPr/>
          <p:nvPr/>
        </p:nvSpPr>
        <p:spPr>
          <a:xfrm>
            <a:off x="786384" y="3778301"/>
            <a:ext cx="3145536" cy="509138"/>
          </a:xfrm>
          <a:prstGeom prst="roundRect">
            <a:avLst>
              <a:gd name="adj" fmla="val 8980"/>
            </a:avLst>
          </a:prstGeom>
          <a:solidFill>
            <a:srgbClr val="FFFFFF"/>
          </a:solidFill>
          <a:ln w="12700">
            <a:solidFill>
              <a:srgbClr val="FFFFFF"/>
            </a:solidFill>
            <a:prstDash val="solid"/>
          </a:ln>
        </p:spPr>
      </p:sp>
      <p:sp>
        <p:nvSpPr>
          <p:cNvPr id="16" name="Text 13"/>
          <p:cNvSpPr txBox="1"/>
          <p:nvPr/>
        </p:nvSpPr>
        <p:spPr>
          <a:xfrm>
            <a:off x="914400" y="3778301"/>
            <a:ext cx="1298448" cy="509138"/>
          </a:xfrm>
          <a:prstGeom prst="rect">
            <a:avLst/>
          </a:prstGeom>
          <a:noFill/>
          <a:ln/>
        </p:spPr>
        <p:txBody>
          <a:bodyPr wrap="square" lIns="0" tIns="0" rIns="0" bIns="0" rtlCol="0" anchor="ctr"/>
          <a:lstStyle/>
          <a:p>
            <a:pPr indent="0" marL="0">
              <a:buNone/>
            </a:pPr>
            <a:r>
              <a:rPr lang="en-US" sz="1050" dirty="0">
                <a:solidFill>
                  <a:srgbClr val="64748B"/>
                </a:solidFill>
                <a:latin typeface="Malgun Gothic" pitchFamily="34" charset="0"/>
                <a:ea typeface="Malgun Gothic" pitchFamily="34" charset="-122"/>
                <a:cs typeface="Malgun Gothic" pitchFamily="34" charset="-120"/>
              </a:rPr>
              <a:t>Compute</a:t>
            </a:r>
            <a:endParaRPr lang="en-US" sz="1050" dirty="0"/>
          </a:p>
        </p:txBody>
      </p:sp>
      <p:sp>
        <p:nvSpPr>
          <p:cNvPr id="17" name="Text 14"/>
          <p:cNvSpPr txBox="1"/>
          <p:nvPr/>
        </p:nvSpPr>
        <p:spPr>
          <a:xfrm>
            <a:off x="2212848" y="3778301"/>
            <a:ext cx="1645920" cy="509138"/>
          </a:xfrm>
          <a:prstGeom prst="rect">
            <a:avLst/>
          </a:prstGeom>
          <a:noFill/>
          <a:ln/>
        </p:spPr>
        <p:txBody>
          <a:bodyPr wrap="square" lIns="0" tIns="0" rIns="0" bIns="0" rtlCol="0" anchor="ctr"/>
          <a:lstStyle/>
          <a:p>
            <a:pPr indent="0" marL="0">
              <a:buNone/>
            </a:pPr>
            <a:r>
              <a:rPr lang="en-US" sz="1050" b="1" dirty="0">
                <a:solidFill>
                  <a:srgbClr val="15203A"/>
                </a:solidFill>
                <a:latin typeface="Malgun Gothic" pitchFamily="34" charset="0"/>
                <a:ea typeface="Malgun Gothic" pitchFamily="34" charset="-122"/>
                <a:cs typeface="Malgun Gothic" pitchFamily="34" charset="-120"/>
              </a:rPr>
              <a:t>BF16 / FP16</a:t>
            </a:r>
            <a:endParaRPr lang="en-US" sz="1050" dirty="0"/>
          </a:p>
        </p:txBody>
      </p:sp>
      <p:sp>
        <p:nvSpPr>
          <p:cNvPr id="18" name="Shape 15"/>
          <p:cNvSpPr/>
          <p:nvPr/>
        </p:nvSpPr>
        <p:spPr>
          <a:xfrm>
            <a:off x="786384" y="4372295"/>
            <a:ext cx="3145536" cy="509138"/>
          </a:xfrm>
          <a:prstGeom prst="roundRect">
            <a:avLst>
              <a:gd name="adj" fmla="val 8980"/>
            </a:avLst>
          </a:prstGeom>
          <a:solidFill>
            <a:srgbClr val="FFFFFF"/>
          </a:solidFill>
          <a:ln w="12700">
            <a:solidFill>
              <a:srgbClr val="FFFFFF"/>
            </a:solidFill>
            <a:prstDash val="solid"/>
          </a:ln>
        </p:spPr>
      </p:sp>
      <p:sp>
        <p:nvSpPr>
          <p:cNvPr id="19" name="Text 16"/>
          <p:cNvSpPr txBox="1"/>
          <p:nvPr/>
        </p:nvSpPr>
        <p:spPr>
          <a:xfrm>
            <a:off x="914400" y="4372295"/>
            <a:ext cx="1298448" cy="509138"/>
          </a:xfrm>
          <a:prstGeom prst="rect">
            <a:avLst/>
          </a:prstGeom>
          <a:noFill/>
          <a:ln/>
        </p:spPr>
        <p:txBody>
          <a:bodyPr wrap="square" lIns="0" tIns="0" rIns="0" bIns="0" rtlCol="0" anchor="ctr"/>
          <a:lstStyle/>
          <a:p>
            <a:pPr indent="0" marL="0">
              <a:buNone/>
            </a:pPr>
            <a:r>
              <a:rPr lang="en-US" sz="1050" dirty="0">
                <a:solidFill>
                  <a:srgbClr val="64748B"/>
                </a:solidFill>
                <a:latin typeface="Malgun Gothic" pitchFamily="34" charset="0"/>
                <a:ea typeface="Malgun Gothic" pitchFamily="34" charset="-122"/>
                <a:cs typeface="Malgun Gothic" pitchFamily="34" charset="-120"/>
              </a:rPr>
              <a:t>LoRA Adapter</a:t>
            </a:r>
            <a:endParaRPr lang="en-US" sz="1050" dirty="0"/>
          </a:p>
        </p:txBody>
      </p:sp>
      <p:sp>
        <p:nvSpPr>
          <p:cNvPr id="20" name="Text 17"/>
          <p:cNvSpPr txBox="1"/>
          <p:nvPr/>
        </p:nvSpPr>
        <p:spPr>
          <a:xfrm>
            <a:off x="2212848" y="4372295"/>
            <a:ext cx="1645920" cy="509138"/>
          </a:xfrm>
          <a:prstGeom prst="rect">
            <a:avLst/>
          </a:prstGeom>
          <a:noFill/>
          <a:ln/>
        </p:spPr>
        <p:txBody>
          <a:bodyPr wrap="square" lIns="0" tIns="0" rIns="0" bIns="0" rtlCol="0" anchor="ctr"/>
          <a:lstStyle/>
          <a:p>
            <a:pPr indent="0" marL="0">
              <a:buNone/>
            </a:pPr>
            <a:r>
              <a:rPr lang="en-US" sz="1050" b="1" dirty="0">
                <a:solidFill>
                  <a:srgbClr val="15203A"/>
                </a:solidFill>
                <a:latin typeface="Malgun Gothic" pitchFamily="34" charset="0"/>
                <a:ea typeface="Malgun Gothic" pitchFamily="34" charset="-122"/>
                <a:cs typeface="Malgun Gothic" pitchFamily="34" charset="-120"/>
              </a:rPr>
              <a:t>Trainable</a:t>
            </a:r>
            <a:endParaRPr lang="en-US" sz="1050" dirty="0"/>
          </a:p>
        </p:txBody>
      </p:sp>
      <p:sp>
        <p:nvSpPr>
          <p:cNvPr id="21" name="Shape 18"/>
          <p:cNvSpPr/>
          <p:nvPr/>
        </p:nvSpPr>
        <p:spPr>
          <a:xfrm>
            <a:off x="4334256" y="1932676"/>
            <a:ext cx="3584448" cy="3033613"/>
          </a:xfrm>
          <a:prstGeom prst="roundRect">
            <a:avLst>
              <a:gd name="adj" fmla="val 1809"/>
            </a:avLst>
          </a:prstGeom>
          <a:solidFill>
            <a:srgbClr val="FAEEDD"/>
          </a:solidFill>
          <a:ln w="12700">
            <a:solidFill>
              <a:srgbClr val="EED9B9"/>
            </a:solidFill>
            <a:prstDash val="solid"/>
          </a:ln>
        </p:spPr>
      </p:sp>
      <p:sp>
        <p:nvSpPr>
          <p:cNvPr id="22" name="Text 19"/>
          <p:cNvSpPr txBox="1"/>
          <p:nvPr/>
        </p:nvSpPr>
        <p:spPr>
          <a:xfrm>
            <a:off x="4553712" y="2081174"/>
            <a:ext cx="1828800" cy="360639"/>
          </a:xfrm>
          <a:prstGeom prst="rect">
            <a:avLst/>
          </a:prstGeom>
          <a:noFill/>
          <a:ln/>
        </p:spPr>
        <p:txBody>
          <a:bodyPr wrap="square" lIns="0" tIns="0" rIns="0" bIns="0" rtlCol="0" anchor="ctr"/>
          <a:lstStyle/>
          <a:p>
            <a:pPr indent="0" marL="0">
              <a:buNone/>
            </a:pPr>
            <a:r>
              <a:rPr lang="en-US" sz="1700" b="1" dirty="0">
                <a:solidFill>
                  <a:srgbClr val="C2690B"/>
                </a:solidFill>
                <a:latin typeface="Malgun Gothic" pitchFamily="34" charset="0"/>
                <a:ea typeface="Malgun Gothic" pitchFamily="34" charset="-122"/>
                <a:cs typeface="Malgun Gothic" pitchFamily="34" charset="-120"/>
              </a:rPr>
              <a:t>QLoRA</a:t>
            </a:r>
            <a:endParaRPr lang="en-US" sz="1700" dirty="0"/>
          </a:p>
        </p:txBody>
      </p:sp>
      <p:sp>
        <p:nvSpPr>
          <p:cNvPr id="23" name="Shape 20"/>
          <p:cNvSpPr/>
          <p:nvPr/>
        </p:nvSpPr>
        <p:spPr>
          <a:xfrm>
            <a:off x="4553712" y="2590312"/>
            <a:ext cx="3145536" cy="509138"/>
          </a:xfrm>
          <a:prstGeom prst="roundRect">
            <a:avLst>
              <a:gd name="adj" fmla="val 8980"/>
            </a:avLst>
          </a:prstGeom>
          <a:solidFill>
            <a:srgbClr val="FFFFFF"/>
          </a:solidFill>
          <a:ln w="12700">
            <a:solidFill>
              <a:srgbClr val="FFFFFF"/>
            </a:solidFill>
            <a:prstDash val="solid"/>
          </a:ln>
        </p:spPr>
      </p:sp>
      <p:sp>
        <p:nvSpPr>
          <p:cNvPr id="24" name="Text 21"/>
          <p:cNvSpPr txBox="1"/>
          <p:nvPr/>
        </p:nvSpPr>
        <p:spPr>
          <a:xfrm>
            <a:off x="4681728" y="2590312"/>
            <a:ext cx="1298448" cy="509138"/>
          </a:xfrm>
          <a:prstGeom prst="rect">
            <a:avLst/>
          </a:prstGeom>
          <a:noFill/>
          <a:ln/>
        </p:spPr>
        <p:txBody>
          <a:bodyPr wrap="square" lIns="0" tIns="0" rIns="0" bIns="0" rtlCol="0" anchor="ctr"/>
          <a:lstStyle/>
          <a:p>
            <a:pPr indent="0" marL="0">
              <a:buNone/>
            </a:pPr>
            <a:r>
              <a:rPr lang="en-US" sz="1050" dirty="0">
                <a:solidFill>
                  <a:srgbClr val="64748B"/>
                </a:solidFill>
                <a:latin typeface="Malgun Gothic" pitchFamily="34" charset="0"/>
                <a:ea typeface="Malgun Gothic" pitchFamily="34" charset="-122"/>
                <a:cs typeface="Malgun Gothic" pitchFamily="34" charset="-120"/>
              </a:rPr>
              <a:t>Base Model</a:t>
            </a:r>
            <a:endParaRPr lang="en-US" sz="1050" dirty="0"/>
          </a:p>
        </p:txBody>
      </p:sp>
      <p:sp>
        <p:nvSpPr>
          <p:cNvPr id="25" name="Text 22"/>
          <p:cNvSpPr txBox="1"/>
          <p:nvPr/>
        </p:nvSpPr>
        <p:spPr>
          <a:xfrm>
            <a:off x="5980176" y="2590312"/>
            <a:ext cx="1645920" cy="509138"/>
          </a:xfrm>
          <a:prstGeom prst="rect">
            <a:avLst/>
          </a:prstGeom>
          <a:noFill/>
          <a:ln/>
        </p:spPr>
        <p:txBody>
          <a:bodyPr wrap="square" lIns="0" tIns="0" rIns="0" bIns="0" rtlCol="0" anchor="ctr"/>
          <a:lstStyle/>
          <a:p>
            <a:pPr indent="0" marL="0">
              <a:buNone/>
            </a:pPr>
            <a:r>
              <a:rPr lang="en-US" sz="1050" b="1" dirty="0">
                <a:solidFill>
                  <a:srgbClr val="15203A"/>
                </a:solidFill>
                <a:latin typeface="Malgun Gothic" pitchFamily="34" charset="0"/>
                <a:ea typeface="Malgun Gothic" pitchFamily="34" charset="-122"/>
                <a:cs typeface="Malgun Gothic" pitchFamily="34" charset="-120"/>
              </a:rPr>
              <a:t>NF4 4bit Quantization</a:t>
            </a:r>
            <a:endParaRPr lang="en-US" sz="1050" dirty="0"/>
          </a:p>
        </p:txBody>
      </p:sp>
      <p:sp>
        <p:nvSpPr>
          <p:cNvPr id="26" name="Shape 23"/>
          <p:cNvSpPr/>
          <p:nvPr/>
        </p:nvSpPr>
        <p:spPr>
          <a:xfrm>
            <a:off x="4553712" y="3184307"/>
            <a:ext cx="3145536" cy="509138"/>
          </a:xfrm>
          <a:prstGeom prst="roundRect">
            <a:avLst>
              <a:gd name="adj" fmla="val 8980"/>
            </a:avLst>
          </a:prstGeom>
          <a:solidFill>
            <a:srgbClr val="FFFFFF"/>
          </a:solidFill>
          <a:ln w="12700">
            <a:solidFill>
              <a:srgbClr val="FFFFFF"/>
            </a:solidFill>
            <a:prstDash val="solid"/>
          </a:ln>
        </p:spPr>
      </p:sp>
      <p:sp>
        <p:nvSpPr>
          <p:cNvPr id="27" name="Text 24"/>
          <p:cNvSpPr txBox="1"/>
          <p:nvPr/>
        </p:nvSpPr>
        <p:spPr>
          <a:xfrm>
            <a:off x="4681728" y="3184307"/>
            <a:ext cx="1298448" cy="509138"/>
          </a:xfrm>
          <a:prstGeom prst="rect">
            <a:avLst/>
          </a:prstGeom>
          <a:noFill/>
          <a:ln/>
        </p:spPr>
        <p:txBody>
          <a:bodyPr wrap="square" lIns="0" tIns="0" rIns="0" bIns="0" rtlCol="0" anchor="ctr"/>
          <a:lstStyle/>
          <a:p>
            <a:pPr indent="0" marL="0">
              <a:buNone/>
            </a:pPr>
            <a:r>
              <a:rPr lang="en-US" sz="1050" dirty="0">
                <a:solidFill>
                  <a:srgbClr val="64748B"/>
                </a:solidFill>
                <a:latin typeface="Malgun Gothic" pitchFamily="34" charset="0"/>
                <a:ea typeface="Malgun Gothic" pitchFamily="34" charset="-122"/>
                <a:cs typeface="Malgun Gothic" pitchFamily="34" charset="-120"/>
              </a:rPr>
              <a:t>4bit Base Weight</a:t>
            </a:r>
            <a:endParaRPr lang="en-US" sz="1050" dirty="0"/>
          </a:p>
        </p:txBody>
      </p:sp>
      <p:sp>
        <p:nvSpPr>
          <p:cNvPr id="28" name="Text 25"/>
          <p:cNvSpPr txBox="1"/>
          <p:nvPr/>
        </p:nvSpPr>
        <p:spPr>
          <a:xfrm>
            <a:off x="5980176" y="3184307"/>
            <a:ext cx="1645920" cy="509138"/>
          </a:xfrm>
          <a:prstGeom prst="rect">
            <a:avLst/>
          </a:prstGeom>
          <a:noFill/>
          <a:ln/>
        </p:spPr>
        <p:txBody>
          <a:bodyPr wrap="square" lIns="0" tIns="0" rIns="0" bIns="0" rtlCol="0" anchor="ctr"/>
          <a:lstStyle/>
          <a:p>
            <a:pPr indent="0" marL="0">
              <a:buNone/>
            </a:pPr>
            <a:r>
              <a:rPr lang="en-US" sz="1050" b="1" dirty="0">
                <a:solidFill>
                  <a:srgbClr val="15203A"/>
                </a:solidFill>
                <a:latin typeface="Malgun Gothic" pitchFamily="34" charset="0"/>
                <a:ea typeface="Malgun Gothic" pitchFamily="34" charset="-122"/>
                <a:cs typeface="Malgun Gothic" pitchFamily="34" charset="-120"/>
              </a:rPr>
              <a:t>Frozen</a:t>
            </a:r>
            <a:endParaRPr lang="en-US" sz="1050" dirty="0"/>
          </a:p>
        </p:txBody>
      </p:sp>
      <p:sp>
        <p:nvSpPr>
          <p:cNvPr id="29" name="Shape 26"/>
          <p:cNvSpPr/>
          <p:nvPr/>
        </p:nvSpPr>
        <p:spPr>
          <a:xfrm>
            <a:off x="4553712" y="3778301"/>
            <a:ext cx="3145536" cy="509138"/>
          </a:xfrm>
          <a:prstGeom prst="roundRect">
            <a:avLst>
              <a:gd name="adj" fmla="val 8980"/>
            </a:avLst>
          </a:prstGeom>
          <a:solidFill>
            <a:srgbClr val="FFFFFF"/>
          </a:solidFill>
          <a:ln w="12700">
            <a:solidFill>
              <a:srgbClr val="FFFFFF"/>
            </a:solidFill>
            <a:prstDash val="solid"/>
          </a:ln>
        </p:spPr>
      </p:sp>
      <p:sp>
        <p:nvSpPr>
          <p:cNvPr id="30" name="Text 27"/>
          <p:cNvSpPr txBox="1"/>
          <p:nvPr/>
        </p:nvSpPr>
        <p:spPr>
          <a:xfrm>
            <a:off x="4681728" y="3778301"/>
            <a:ext cx="1298448" cy="509138"/>
          </a:xfrm>
          <a:prstGeom prst="rect">
            <a:avLst/>
          </a:prstGeom>
          <a:noFill/>
          <a:ln/>
        </p:spPr>
        <p:txBody>
          <a:bodyPr wrap="square" lIns="0" tIns="0" rIns="0" bIns="0" rtlCol="0" anchor="ctr"/>
          <a:lstStyle/>
          <a:p>
            <a:pPr indent="0" marL="0">
              <a:buNone/>
            </a:pPr>
            <a:r>
              <a:rPr lang="en-US" sz="1050" dirty="0">
                <a:solidFill>
                  <a:srgbClr val="64748B"/>
                </a:solidFill>
                <a:latin typeface="Malgun Gothic" pitchFamily="34" charset="0"/>
                <a:ea typeface="Malgun Gothic" pitchFamily="34" charset="-122"/>
                <a:cs typeface="Malgun Gothic" pitchFamily="34" charset="-120"/>
              </a:rPr>
              <a:t>Compute</a:t>
            </a:r>
            <a:endParaRPr lang="en-US" sz="1050" dirty="0"/>
          </a:p>
        </p:txBody>
      </p:sp>
      <p:sp>
        <p:nvSpPr>
          <p:cNvPr id="31" name="Text 28"/>
          <p:cNvSpPr txBox="1"/>
          <p:nvPr/>
        </p:nvSpPr>
        <p:spPr>
          <a:xfrm>
            <a:off x="5980176" y="3778301"/>
            <a:ext cx="1645920" cy="509138"/>
          </a:xfrm>
          <a:prstGeom prst="rect">
            <a:avLst/>
          </a:prstGeom>
          <a:noFill/>
          <a:ln/>
        </p:spPr>
        <p:txBody>
          <a:bodyPr wrap="square" lIns="0" tIns="0" rIns="0" bIns="0" rtlCol="0" anchor="ctr"/>
          <a:lstStyle/>
          <a:p>
            <a:pPr indent="0" marL="0">
              <a:buNone/>
            </a:pPr>
            <a:r>
              <a:rPr lang="en-US" sz="1050" b="1" dirty="0">
                <a:solidFill>
                  <a:srgbClr val="15203A"/>
                </a:solidFill>
                <a:latin typeface="Malgun Gothic" pitchFamily="34" charset="0"/>
                <a:ea typeface="Malgun Gothic" pitchFamily="34" charset="-122"/>
                <a:cs typeface="Malgun Gothic" pitchFamily="34" charset="-120"/>
              </a:rPr>
              <a:t>BF16 / FP16 로 역양자화 후 연산</a:t>
            </a:r>
            <a:endParaRPr lang="en-US" sz="1050" dirty="0"/>
          </a:p>
        </p:txBody>
      </p:sp>
      <p:sp>
        <p:nvSpPr>
          <p:cNvPr id="32" name="Shape 29"/>
          <p:cNvSpPr/>
          <p:nvPr/>
        </p:nvSpPr>
        <p:spPr>
          <a:xfrm>
            <a:off x="4553712" y="4372295"/>
            <a:ext cx="3145536" cy="509138"/>
          </a:xfrm>
          <a:prstGeom prst="roundRect">
            <a:avLst>
              <a:gd name="adj" fmla="val 8980"/>
            </a:avLst>
          </a:prstGeom>
          <a:solidFill>
            <a:srgbClr val="FFFFFF"/>
          </a:solidFill>
          <a:ln w="12700">
            <a:solidFill>
              <a:srgbClr val="FFFFFF"/>
            </a:solidFill>
            <a:prstDash val="solid"/>
          </a:ln>
        </p:spPr>
      </p:sp>
      <p:sp>
        <p:nvSpPr>
          <p:cNvPr id="33" name="Text 30"/>
          <p:cNvSpPr txBox="1"/>
          <p:nvPr/>
        </p:nvSpPr>
        <p:spPr>
          <a:xfrm>
            <a:off x="4681728" y="4372295"/>
            <a:ext cx="1298448" cy="509138"/>
          </a:xfrm>
          <a:prstGeom prst="rect">
            <a:avLst/>
          </a:prstGeom>
          <a:noFill/>
          <a:ln/>
        </p:spPr>
        <p:txBody>
          <a:bodyPr wrap="square" lIns="0" tIns="0" rIns="0" bIns="0" rtlCol="0" anchor="ctr"/>
          <a:lstStyle/>
          <a:p>
            <a:pPr indent="0" marL="0">
              <a:buNone/>
            </a:pPr>
            <a:r>
              <a:rPr lang="en-US" sz="1050" dirty="0">
                <a:solidFill>
                  <a:srgbClr val="64748B"/>
                </a:solidFill>
                <a:latin typeface="Malgun Gothic" pitchFamily="34" charset="0"/>
                <a:ea typeface="Malgun Gothic" pitchFamily="34" charset="-122"/>
                <a:cs typeface="Malgun Gothic" pitchFamily="34" charset="-120"/>
              </a:rPr>
              <a:t>LoRA Adapter</a:t>
            </a:r>
            <a:endParaRPr lang="en-US" sz="1050" dirty="0"/>
          </a:p>
        </p:txBody>
      </p:sp>
      <p:sp>
        <p:nvSpPr>
          <p:cNvPr id="34" name="Text 31"/>
          <p:cNvSpPr txBox="1"/>
          <p:nvPr/>
        </p:nvSpPr>
        <p:spPr>
          <a:xfrm>
            <a:off x="5980176" y="4372295"/>
            <a:ext cx="1645920" cy="509138"/>
          </a:xfrm>
          <a:prstGeom prst="rect">
            <a:avLst/>
          </a:prstGeom>
          <a:noFill/>
          <a:ln/>
        </p:spPr>
        <p:txBody>
          <a:bodyPr wrap="square" lIns="0" tIns="0" rIns="0" bIns="0" rtlCol="0" anchor="ctr"/>
          <a:lstStyle/>
          <a:p>
            <a:pPr indent="0" marL="0">
              <a:buNone/>
            </a:pPr>
            <a:r>
              <a:rPr lang="en-US" sz="1050" b="1" dirty="0">
                <a:solidFill>
                  <a:srgbClr val="15203A"/>
                </a:solidFill>
                <a:latin typeface="Malgun Gothic" pitchFamily="34" charset="0"/>
                <a:ea typeface="Malgun Gothic" pitchFamily="34" charset="-122"/>
                <a:cs typeface="Malgun Gothic" pitchFamily="34" charset="-120"/>
              </a:rPr>
              <a:t>Trainable</a:t>
            </a:r>
            <a:endParaRPr lang="en-US" sz="1050" dirty="0"/>
          </a:p>
        </p:txBody>
      </p:sp>
      <p:sp>
        <p:nvSpPr>
          <p:cNvPr id="35" name="Shape 32"/>
          <p:cNvSpPr/>
          <p:nvPr/>
        </p:nvSpPr>
        <p:spPr>
          <a:xfrm>
            <a:off x="8101584" y="1932676"/>
            <a:ext cx="3511296" cy="3033613"/>
          </a:xfrm>
          <a:prstGeom prst="roundRect">
            <a:avLst>
              <a:gd name="adj" fmla="val 1809"/>
            </a:avLst>
          </a:prstGeom>
          <a:solidFill>
            <a:srgbClr val="0E1A33"/>
          </a:solidFill>
          <a:ln w="12700">
            <a:solidFill>
              <a:srgbClr val="0E1A33"/>
            </a:solidFill>
            <a:prstDash val="solid"/>
          </a:ln>
        </p:spPr>
      </p:sp>
      <p:sp>
        <p:nvSpPr>
          <p:cNvPr id="36" name="Text 33"/>
          <p:cNvSpPr txBox="1"/>
          <p:nvPr/>
        </p:nvSpPr>
        <p:spPr>
          <a:xfrm>
            <a:off x="8302752" y="2081174"/>
            <a:ext cx="3108960" cy="296997"/>
          </a:xfrm>
          <a:prstGeom prst="rect">
            <a:avLst/>
          </a:prstGeom>
          <a:noFill/>
          <a:ln/>
        </p:spPr>
        <p:txBody>
          <a:bodyPr wrap="square" lIns="0" tIns="0" rIns="0" bIns="0" rtlCol="0" anchor="ctr"/>
          <a:lstStyle/>
          <a:p>
            <a:pPr indent="0" marL="0">
              <a:buNone/>
            </a:pPr>
            <a:r>
              <a:rPr lang="en-US" sz="1050" b="1" spc="80" kern="0" dirty="0">
                <a:solidFill>
                  <a:srgbClr val="6FA8FF"/>
                </a:solidFill>
                <a:latin typeface="Malgun Gothic" pitchFamily="34" charset="0"/>
                <a:ea typeface="Malgun Gothic" pitchFamily="34" charset="-122"/>
                <a:cs typeface="Malgun Gothic" pitchFamily="34" charset="-120"/>
              </a:rPr>
              <a:t>BitsAndBytesConfig</a:t>
            </a:r>
            <a:endParaRPr lang="en-US" sz="1050" dirty="0"/>
          </a:p>
        </p:txBody>
      </p:sp>
      <p:sp>
        <p:nvSpPr>
          <p:cNvPr id="37" name="Text 34"/>
          <p:cNvSpPr txBox="1"/>
          <p:nvPr/>
        </p:nvSpPr>
        <p:spPr>
          <a:xfrm>
            <a:off x="8302752" y="2484242"/>
            <a:ext cx="3145536" cy="1591056"/>
          </a:xfrm>
          <a:prstGeom prst="rect">
            <a:avLst/>
          </a:prstGeom>
          <a:noFill/>
          <a:ln/>
        </p:spPr>
        <p:txBody>
          <a:bodyPr wrap="square" lIns="0" tIns="0" rIns="0" bIns="0" rtlCol="0" anchor="ctr"/>
          <a:lstStyle/>
          <a:p>
            <a:pPr indent="0" marL="0">
              <a:lnSpc>
                <a:spcPts val="1500"/>
              </a:lnSpc>
              <a:buNone/>
            </a:pPr>
            <a:r>
              <a:rPr lang="en-US" sz="950" dirty="0">
                <a:solidFill>
                  <a:srgbClr val="D7E3F8"/>
                </a:solidFill>
                <a:latin typeface="Courier New" pitchFamily="34" charset="0"/>
                <a:ea typeface="Courier New" pitchFamily="34" charset="-122"/>
                <a:cs typeface="Courier New" pitchFamily="34" charset="-120"/>
              </a:rPr>
              <a:t>BitsAndBytesConfig(</a:t>
            </a:r>
            <a:endParaRPr lang="en-US" sz="950" dirty="0"/>
          </a:p>
          <a:p>
            <a:pPr indent="0" marL="0">
              <a:lnSpc>
                <a:spcPts val="1500"/>
              </a:lnSpc>
              <a:buNone/>
            </a:pPr>
            <a:r>
              <a:rPr lang="en-US" sz="950" dirty="0">
                <a:solidFill>
                  <a:srgbClr val="F0B96A"/>
                </a:solidFill>
                <a:latin typeface="Courier New" pitchFamily="34" charset="0"/>
                <a:ea typeface="Courier New" pitchFamily="34" charset="-122"/>
                <a:cs typeface="Courier New" pitchFamily="34" charset="-120"/>
              </a:rPr>
              <a:t>    load_in_4bit=True,</a:t>
            </a:r>
            <a:endParaRPr lang="en-US" sz="950" dirty="0"/>
          </a:p>
          <a:p>
            <a:pPr indent="0" marL="0">
              <a:lnSpc>
                <a:spcPts val="1500"/>
              </a:lnSpc>
              <a:buNone/>
            </a:pPr>
            <a:r>
              <a:rPr lang="en-US" sz="950" dirty="0">
                <a:solidFill>
                  <a:srgbClr val="F0B96A"/>
                </a:solidFill>
                <a:latin typeface="Courier New" pitchFamily="34" charset="0"/>
                <a:ea typeface="Courier New" pitchFamily="34" charset="-122"/>
                <a:cs typeface="Courier New" pitchFamily="34" charset="-120"/>
              </a:rPr>
              <a:t>    bnb_4bit_quant_type='nf4',</a:t>
            </a:r>
            <a:endParaRPr lang="en-US" sz="950" dirty="0"/>
          </a:p>
          <a:p>
            <a:pPr indent="0" marL="0">
              <a:lnSpc>
                <a:spcPts val="1500"/>
              </a:lnSpc>
              <a:buNone/>
            </a:pPr>
            <a:r>
              <a:rPr lang="en-US" sz="950" dirty="0">
                <a:solidFill>
                  <a:srgbClr val="D7E3F8"/>
                </a:solidFill>
                <a:latin typeface="Courier New" pitchFamily="34" charset="0"/>
                <a:ea typeface="Courier New" pitchFamily="34" charset="-122"/>
                <a:cs typeface="Courier New" pitchFamily="34" charset="-120"/>
              </a:rPr>
              <a:t>    bnb_4bit_compute_dtype=</a:t>
            </a:r>
            <a:endParaRPr lang="en-US" sz="950" dirty="0"/>
          </a:p>
          <a:p>
            <a:pPr indent="0" marL="0">
              <a:lnSpc>
                <a:spcPts val="1500"/>
              </a:lnSpc>
              <a:buNone/>
            </a:pPr>
            <a:r>
              <a:rPr lang="en-US" sz="950" dirty="0">
                <a:solidFill>
                  <a:srgbClr val="D7E3F8"/>
                </a:solidFill>
                <a:latin typeface="Courier New" pitchFamily="34" charset="0"/>
                <a:ea typeface="Courier New" pitchFamily="34" charset="-122"/>
                <a:cs typeface="Courier New" pitchFamily="34" charset="-120"/>
              </a:rPr>
              <a:t>        COMPUTE_DTYPE,</a:t>
            </a:r>
            <a:endParaRPr lang="en-US" sz="950" dirty="0"/>
          </a:p>
          <a:p>
            <a:pPr indent="0" marL="0">
              <a:lnSpc>
                <a:spcPts val="1500"/>
              </a:lnSpc>
              <a:buNone/>
            </a:pPr>
            <a:r>
              <a:rPr lang="en-US" sz="950" dirty="0">
                <a:solidFill>
                  <a:srgbClr val="F0B96A"/>
                </a:solidFill>
                <a:latin typeface="Courier New" pitchFamily="34" charset="0"/>
                <a:ea typeface="Courier New" pitchFamily="34" charset="-122"/>
                <a:cs typeface="Courier New" pitchFamily="34" charset="-120"/>
              </a:rPr>
              <a:t>    bnb_4bit_use_double_quant=True,</a:t>
            </a:r>
            <a:endParaRPr lang="en-US" sz="950" dirty="0"/>
          </a:p>
          <a:p>
            <a:pPr indent="0" marL="0">
              <a:lnSpc>
                <a:spcPts val="1500"/>
              </a:lnSpc>
              <a:buNone/>
            </a:pPr>
            <a:r>
              <a:rPr lang="en-US" sz="950" dirty="0">
                <a:solidFill>
                  <a:srgbClr val="D7E3F8"/>
                </a:solidFill>
                <a:latin typeface="Courier New" pitchFamily="34" charset="0"/>
                <a:ea typeface="Courier New" pitchFamily="34" charset="-122"/>
                <a:cs typeface="Courier New" pitchFamily="34" charset="-120"/>
              </a:rPr>
              <a:t>)</a:t>
            </a:r>
            <a:endParaRPr lang="en-US" sz="950" dirty="0"/>
          </a:p>
        </p:txBody>
      </p:sp>
      <p:sp>
        <p:nvSpPr>
          <p:cNvPr id="38" name="Text 35"/>
          <p:cNvSpPr txBox="1"/>
          <p:nvPr/>
        </p:nvSpPr>
        <p:spPr>
          <a:xfrm>
            <a:off x="8302752" y="4096512"/>
            <a:ext cx="3145536" cy="403068"/>
          </a:xfrm>
          <a:prstGeom prst="rect">
            <a:avLst/>
          </a:prstGeom>
          <a:noFill/>
          <a:ln/>
        </p:spPr>
        <p:txBody>
          <a:bodyPr wrap="square" lIns="0" tIns="0" rIns="0" bIns="0" rtlCol="0" anchor="ctr"/>
          <a:lstStyle/>
          <a:p>
            <a:pPr indent="0" marL="0">
              <a:lnSpc>
                <a:spcPts val="1300"/>
              </a:lnSpc>
              <a:buNone/>
            </a:pPr>
            <a:r>
              <a:rPr lang="en-US" sz="950" dirty="0">
                <a:solidFill>
                  <a:srgbClr val="9BADCC"/>
                </a:solidFill>
                <a:latin typeface="Malgun Gothic" pitchFamily="34" charset="0"/>
                <a:ea typeface="Malgun Gothic" pitchFamily="34" charset="-122"/>
                <a:cs typeface="Malgun Gothic" pitchFamily="34" charset="-120"/>
              </a:rPr>
              <a:t>NF4      정규분포를 이루는 LLM Weight를 효율적으로 표현하는 4bit 양자화 방식</a:t>
            </a:r>
            <a:endParaRPr lang="en-US" sz="950" dirty="0"/>
          </a:p>
        </p:txBody>
      </p:sp>
      <p:sp>
        <p:nvSpPr>
          <p:cNvPr id="39" name="Text 36"/>
          <p:cNvSpPr txBox="1"/>
          <p:nvPr/>
        </p:nvSpPr>
        <p:spPr>
          <a:xfrm>
            <a:off x="8302752" y="4478365"/>
            <a:ext cx="3145536" cy="403068"/>
          </a:xfrm>
          <a:prstGeom prst="rect">
            <a:avLst/>
          </a:prstGeom>
          <a:noFill/>
          <a:ln/>
        </p:spPr>
        <p:txBody>
          <a:bodyPr wrap="square" lIns="0" tIns="0" rIns="0" bIns="0" rtlCol="0" anchor="ctr"/>
          <a:lstStyle/>
          <a:p>
            <a:pPr indent="0" marL="0">
              <a:lnSpc>
                <a:spcPts val="1300"/>
              </a:lnSpc>
              <a:buNone/>
            </a:pPr>
            <a:r>
              <a:rPr lang="en-US" sz="950" dirty="0">
                <a:solidFill>
                  <a:srgbClr val="9BADCC"/>
                </a:solidFill>
                <a:latin typeface="Malgun Gothic" pitchFamily="34" charset="0"/>
                <a:ea typeface="Malgun Gothic" pitchFamily="34" charset="-122"/>
                <a:cs typeface="Malgun Gothic" pitchFamily="34" charset="-120"/>
              </a:rPr>
              <a:t>Double Quant      양자화 scale 정보까지 다시 양자화해 메모리를 추가로 절약</a:t>
            </a:r>
            <a:endParaRPr lang="en-US" sz="950" dirty="0"/>
          </a:p>
        </p:txBody>
      </p:sp>
      <p:sp>
        <p:nvSpPr>
          <p:cNvPr id="40" name="Shape 37"/>
          <p:cNvSpPr/>
          <p:nvPr/>
        </p:nvSpPr>
        <p:spPr>
          <a:xfrm>
            <a:off x="566928" y="5242072"/>
            <a:ext cx="11045952" cy="1103132"/>
          </a:xfrm>
          <a:prstGeom prst="roundRect">
            <a:avLst>
              <a:gd name="adj" fmla="val 4973"/>
            </a:avLst>
          </a:prstGeom>
          <a:solidFill>
            <a:srgbClr val="FBF3E7"/>
          </a:solidFill>
          <a:ln w="12700">
            <a:solidFill>
              <a:srgbClr val="EED9B9"/>
            </a:solidFill>
            <a:prstDash val="solid"/>
          </a:ln>
        </p:spPr>
      </p:sp>
      <p:sp>
        <p:nvSpPr>
          <p:cNvPr id="41" name="Text 38"/>
          <p:cNvSpPr txBox="1"/>
          <p:nvPr/>
        </p:nvSpPr>
        <p:spPr>
          <a:xfrm>
            <a:off x="804672" y="5454213"/>
            <a:ext cx="548640" cy="318211"/>
          </a:xfrm>
          <a:prstGeom prst="rect">
            <a:avLst/>
          </a:prstGeom>
          <a:noFill/>
          <a:ln/>
        </p:spPr>
        <p:txBody>
          <a:bodyPr wrap="square" lIns="0" tIns="0" rIns="0" bIns="0" rtlCol="0" anchor="ctr"/>
          <a:lstStyle/>
          <a:p>
            <a:pPr indent="0" marL="0">
              <a:buNone/>
            </a:pPr>
            <a:r>
              <a:rPr lang="en-US" sz="1150" b="1" dirty="0">
                <a:solidFill>
                  <a:srgbClr val="C2690B"/>
                </a:solidFill>
                <a:latin typeface="Malgun Gothic" pitchFamily="34" charset="0"/>
                <a:ea typeface="Malgun Gothic" pitchFamily="34" charset="-122"/>
                <a:cs typeface="Malgun Gothic" pitchFamily="34" charset="-120"/>
              </a:rPr>
              <a:t>주의</a:t>
            </a:r>
            <a:endParaRPr lang="en-US" sz="1150" dirty="0"/>
          </a:p>
        </p:txBody>
      </p:sp>
      <p:sp>
        <p:nvSpPr>
          <p:cNvPr id="42" name="Text 39"/>
          <p:cNvSpPr txBox="1"/>
          <p:nvPr/>
        </p:nvSpPr>
        <p:spPr>
          <a:xfrm>
            <a:off x="1408176" y="5411785"/>
            <a:ext cx="10058400" cy="763707"/>
          </a:xfrm>
          <a:prstGeom prst="rect">
            <a:avLst/>
          </a:prstGeom>
          <a:noFill/>
          <a:ln/>
        </p:spPr>
        <p:txBody>
          <a:bodyPr wrap="square" lIns="0" tIns="0" rIns="0" bIns="0" rtlCol="0" anchor="ctr"/>
          <a:lstStyle/>
          <a:p>
            <a:pPr indent="0" marL="0">
              <a:lnSpc>
                <a:spcPts val="1800"/>
              </a:lnSpc>
              <a:buNone/>
            </a:pPr>
            <a:r>
              <a:rPr lang="en-US" sz="1150" dirty="0">
                <a:solidFill>
                  <a:srgbClr val="5C4526"/>
                </a:solidFill>
                <a:latin typeface="Malgun Gothic" pitchFamily="34" charset="0"/>
                <a:ea typeface="Malgun Gothic" pitchFamily="34" charset="-122"/>
                <a:cs typeface="Malgun Gothic" pitchFamily="34" charset="-120"/>
              </a:rPr>
              <a:t>QLoRA에서 4bit가 되는 것은 주로 저장되는 Base Model Weight이며, LoRA 학습 자체를 4bit 연산으로 수행하는 것은 아니다. 실제 순전파·역전파 연산은 compute dtype(BF16/FP16)으로 복원해 수행되고, LoRA Adapter 역시 4bit가 아니다.</a:t>
            </a:r>
            <a:endParaRPr lang="en-US" sz="1150" dirty="0"/>
          </a:p>
        </p:txBody>
      </p:sp>
      <p:sp>
        <p:nvSpPr>
          <p:cNvPr id="43" name="Text 40"/>
          <p:cNvSpPr txBox="1"/>
          <p:nvPr/>
        </p:nvSpPr>
        <p:spPr>
          <a:xfrm>
            <a:off x="11277295" y="6355080"/>
            <a:ext cx="457200" cy="274320"/>
          </a:xfrm>
          <a:prstGeom prst="rect">
            <a:avLst/>
          </a:prstGeom>
          <a:noFill/>
          <a:ln/>
        </p:spPr>
        <p:txBody>
          <a:bodyPr wrap="square" lIns="0" tIns="0" rIns="0" bIns="0" rtlCol="0" anchor="ctr"/>
          <a:lstStyle/>
          <a:p>
            <a:pPr algn="r" indent="0" marL="0">
              <a:buNone/>
            </a:pPr>
            <a:r>
              <a:rPr lang="en-US" sz="1000" dirty="0">
                <a:solidFill>
                  <a:srgbClr val="9AA6BC"/>
                </a:solidFill>
                <a:latin typeface="Malgun Gothic" pitchFamily="34" charset="0"/>
                <a:ea typeface="Malgun Gothic" pitchFamily="34" charset="-122"/>
                <a:cs typeface="Malgun Gothic"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66928" y="384048"/>
            <a:ext cx="1243584" cy="294805"/>
          </a:xfrm>
          <a:prstGeom prst="roundRect">
            <a:avLst>
              <a:gd name="adj" fmla="val 46526"/>
            </a:avLst>
          </a:prstGeom>
          <a:solidFill>
            <a:srgbClr val="E4EDFE"/>
          </a:solidFill>
          <a:ln w="12700">
            <a:solidFill>
              <a:srgbClr val="E4EDFE"/>
            </a:solidFill>
            <a:prstDash val="solid"/>
          </a:ln>
        </p:spPr>
      </p:sp>
      <p:sp>
        <p:nvSpPr>
          <p:cNvPr id="4" name="Text 1"/>
          <p:cNvSpPr txBox="1"/>
          <p:nvPr/>
        </p:nvSpPr>
        <p:spPr>
          <a:xfrm>
            <a:off x="566928" y="384048"/>
            <a:ext cx="1243584" cy="294805"/>
          </a:xfrm>
          <a:prstGeom prst="rect">
            <a:avLst/>
          </a:prstGeom>
          <a:noFill/>
          <a:ln/>
        </p:spPr>
        <p:txBody>
          <a:bodyPr wrap="square" lIns="0" tIns="0" rIns="0" bIns="0" rtlCol="0" anchor="ctr"/>
          <a:lstStyle/>
          <a:p>
            <a:pPr algn="ctr" indent="0" marL="0">
              <a:buNone/>
            </a:pPr>
            <a:r>
              <a:rPr lang="en-US" sz="1050" b="1" spc="60" kern="0" dirty="0">
                <a:solidFill>
                  <a:srgbClr val="1D4ED8"/>
                </a:solidFill>
                <a:latin typeface="Malgun Gothic" pitchFamily="34" charset="0"/>
                <a:ea typeface="Malgun Gothic" pitchFamily="34" charset="-122"/>
                <a:cs typeface="Malgun Gothic" pitchFamily="34" charset="-120"/>
              </a:rPr>
              <a:t>03  DESIGN</a:t>
            </a:r>
            <a:endParaRPr lang="en-US" sz="1050" dirty="0"/>
          </a:p>
        </p:txBody>
      </p:sp>
      <p:sp>
        <p:nvSpPr>
          <p:cNvPr id="5" name="Text 2"/>
          <p:cNvSpPr txBox="1"/>
          <p:nvPr/>
        </p:nvSpPr>
        <p:spPr>
          <a:xfrm>
            <a:off x="566928" y="737814"/>
            <a:ext cx="11057839" cy="550303"/>
          </a:xfrm>
          <a:prstGeom prst="rect">
            <a:avLst/>
          </a:prstGeom>
          <a:noFill/>
          <a:ln/>
        </p:spPr>
        <p:txBody>
          <a:bodyPr wrap="square" lIns="0" tIns="0" rIns="0" bIns="0" rtlCol="0" anchor="ctr"/>
          <a:lstStyle/>
          <a:p>
            <a:pPr indent="0" marL="0">
              <a:buNone/>
            </a:pPr>
            <a:r>
              <a:rPr lang="en-US" sz="3000" b="1" dirty="0">
                <a:solidFill>
                  <a:srgbClr val="15203A"/>
                </a:solidFill>
                <a:latin typeface="Malgun Gothic" pitchFamily="34" charset="0"/>
                <a:ea typeface="Malgun Gothic" pitchFamily="34" charset="-122"/>
                <a:cs typeface="Malgun Gothic" pitchFamily="34" charset="-120"/>
              </a:rPr>
              <a:t>전체 해결안 설계</a:t>
            </a:r>
            <a:endParaRPr lang="en-US" sz="3000" dirty="0"/>
          </a:p>
        </p:txBody>
      </p:sp>
      <p:sp>
        <p:nvSpPr>
          <p:cNvPr id="6" name="Text 3"/>
          <p:cNvSpPr txBox="1"/>
          <p:nvPr/>
        </p:nvSpPr>
        <p:spPr>
          <a:xfrm>
            <a:off x="566928" y="1278290"/>
            <a:ext cx="11057839" cy="314459"/>
          </a:xfrm>
          <a:prstGeom prst="rect">
            <a:avLst/>
          </a:prstGeom>
          <a:noFill/>
          <a:ln/>
        </p:spPr>
        <p:txBody>
          <a:bodyPr wrap="square" lIns="0" tIns="0" rIns="0" bIns="0" rtlCol="0" anchor="t"/>
          <a:lstStyle/>
          <a:p>
            <a:pPr indent="0" marL="0">
              <a:buNone/>
            </a:pPr>
            <a:r>
              <a:rPr lang="en-US" sz="1300" dirty="0">
                <a:solidFill>
                  <a:srgbClr val="64748B"/>
                </a:solidFill>
                <a:latin typeface="Malgun Gothic" pitchFamily="34" charset="0"/>
                <a:ea typeface="Malgun Gothic" pitchFamily="34" charset="-122"/>
                <a:cs typeface="Malgun Gothic" pitchFamily="34" charset="-120"/>
              </a:rPr>
              <a:t>Diagram 3 — AI Interviewer Training Pipeline</a:t>
            </a:r>
            <a:endParaRPr lang="en-US" sz="1300" dirty="0"/>
          </a:p>
        </p:txBody>
      </p:sp>
      <p:sp>
        <p:nvSpPr>
          <p:cNvPr id="7" name="Shape 4"/>
          <p:cNvSpPr/>
          <p:nvPr/>
        </p:nvSpPr>
        <p:spPr>
          <a:xfrm>
            <a:off x="566928" y="1838419"/>
            <a:ext cx="2331720" cy="904068"/>
          </a:xfrm>
          <a:prstGeom prst="roundRect">
            <a:avLst>
              <a:gd name="adj" fmla="val 6069"/>
            </a:avLst>
          </a:prstGeom>
          <a:solidFill>
            <a:srgbClr val="F2F5FA"/>
          </a:solidFill>
          <a:ln w="12700">
            <a:solidFill>
              <a:srgbClr val="D8E0EC"/>
            </a:solidFill>
            <a:prstDash val="solid"/>
          </a:ln>
        </p:spPr>
      </p:sp>
      <p:sp>
        <p:nvSpPr>
          <p:cNvPr id="8" name="Text 5"/>
          <p:cNvSpPr txBox="1"/>
          <p:nvPr/>
        </p:nvSpPr>
        <p:spPr>
          <a:xfrm>
            <a:off x="676656" y="1966168"/>
            <a:ext cx="2112264" cy="294805"/>
          </a:xfrm>
          <a:prstGeom prst="rect">
            <a:avLst/>
          </a:prstGeom>
          <a:noFill/>
          <a:ln/>
        </p:spPr>
        <p:txBody>
          <a:bodyPr wrap="square" lIns="0" tIns="0" rIns="0" bIns="0" rtlCol="0" anchor="ctr"/>
          <a:lstStyle/>
          <a:p>
            <a:pPr algn="ctr" indent="0" marL="0">
              <a:buNone/>
            </a:pPr>
            <a:r>
              <a:rPr lang="en-US" sz="1200" b="1" dirty="0">
                <a:solidFill>
                  <a:srgbClr val="15203A"/>
                </a:solidFill>
                <a:latin typeface="Malgun Gothic" pitchFamily="34" charset="0"/>
                <a:ea typeface="Malgun Gothic" pitchFamily="34" charset="-122"/>
                <a:cs typeface="Malgun Gothic" pitchFamily="34" charset="-120"/>
              </a:rPr>
              <a:t>Raw Dataset</a:t>
            </a:r>
            <a:endParaRPr lang="en-US" sz="1200" dirty="0"/>
          </a:p>
        </p:txBody>
      </p:sp>
      <p:sp>
        <p:nvSpPr>
          <p:cNvPr id="9" name="Text 6"/>
          <p:cNvSpPr txBox="1"/>
          <p:nvPr/>
        </p:nvSpPr>
        <p:spPr>
          <a:xfrm>
            <a:off x="658368" y="2260973"/>
            <a:ext cx="2148840" cy="412727"/>
          </a:xfrm>
          <a:prstGeom prst="rect">
            <a:avLst/>
          </a:prstGeom>
          <a:noFill/>
          <a:ln/>
        </p:spPr>
        <p:txBody>
          <a:bodyPr wrap="square" lIns="0" tIns="0" rIns="0" bIns="0" rtlCol="0" anchor="ctr"/>
          <a:lstStyle/>
          <a:p>
            <a:pPr algn="ctr" indent="0" marL="0">
              <a:lnSpc>
                <a:spcPts val="1200"/>
              </a:lnSpc>
              <a:buNone/>
            </a:pPr>
            <a:r>
              <a:rPr lang="en-US" sz="850" dirty="0">
                <a:solidFill>
                  <a:srgbClr val="64748B"/>
                </a:solidFill>
                <a:latin typeface="Courier New" pitchFamily="34" charset="0"/>
                <a:ea typeface="Courier New" pitchFamily="34" charset="-122"/>
                <a:cs typeface="Courier New" pitchFamily="34" charset="-120"/>
              </a:rPr>
              <a:t>instruction + input</a:t>
            </a:r>
            <a:endParaRPr lang="en-US" sz="850" dirty="0"/>
          </a:p>
          <a:p>
            <a:pPr algn="ctr" indent="0" marL="0">
              <a:lnSpc>
                <a:spcPts val="1200"/>
              </a:lnSpc>
              <a:buNone/>
            </a:pPr>
            <a:r>
              <a:rPr lang="en-US" sz="850" dirty="0">
                <a:solidFill>
                  <a:srgbClr val="64748B"/>
                </a:solidFill>
                <a:latin typeface="Courier New" pitchFamily="34" charset="0"/>
                <a:ea typeface="Courier New" pitchFamily="34" charset="-122"/>
                <a:cs typeface="Courier New" pitchFamily="34" charset="-120"/>
              </a:rPr>
              <a:t>+ output  ·  31건</a:t>
            </a:r>
            <a:endParaRPr lang="en-US" sz="850" dirty="0"/>
          </a:p>
        </p:txBody>
      </p:sp>
      <p:sp>
        <p:nvSpPr>
          <p:cNvPr id="10" name="Text 7"/>
          <p:cNvSpPr txBox="1"/>
          <p:nvPr/>
        </p:nvSpPr>
        <p:spPr>
          <a:xfrm>
            <a:off x="1508760" y="2781795"/>
            <a:ext cx="457200" cy="255498"/>
          </a:xfrm>
          <a:prstGeom prst="rect">
            <a:avLst/>
          </a:prstGeom>
          <a:noFill/>
          <a:ln/>
        </p:spPr>
        <p:txBody>
          <a:bodyPr wrap="square" lIns="0" tIns="0" rIns="0" bIns="0" rtlCol="0" anchor="ctr"/>
          <a:lstStyle/>
          <a:p>
            <a:pPr algn="ctr" indent="0" marL="0">
              <a:buNone/>
            </a:pPr>
            <a:r>
              <a:rPr lang="en-US" sz="1400" dirty="0">
                <a:solidFill>
                  <a:srgbClr val="9FB0CC"/>
                </a:solidFill>
                <a:latin typeface="Malgun Gothic" pitchFamily="34" charset="0"/>
                <a:ea typeface="Malgun Gothic" pitchFamily="34" charset="-122"/>
                <a:cs typeface="Malgun Gothic" pitchFamily="34" charset="-120"/>
              </a:rPr>
              <a:t>↓</a:t>
            </a:r>
            <a:endParaRPr lang="en-US" sz="1400" dirty="0"/>
          </a:p>
        </p:txBody>
      </p:sp>
      <p:sp>
        <p:nvSpPr>
          <p:cNvPr id="11" name="Shape 8"/>
          <p:cNvSpPr/>
          <p:nvPr/>
        </p:nvSpPr>
        <p:spPr>
          <a:xfrm>
            <a:off x="566928" y="3076600"/>
            <a:ext cx="2331720" cy="904068"/>
          </a:xfrm>
          <a:prstGeom prst="roundRect">
            <a:avLst>
              <a:gd name="adj" fmla="val 6069"/>
            </a:avLst>
          </a:prstGeom>
          <a:solidFill>
            <a:srgbClr val="F2F5FA"/>
          </a:solidFill>
          <a:ln w="12700">
            <a:solidFill>
              <a:srgbClr val="D8E0EC"/>
            </a:solidFill>
            <a:prstDash val="solid"/>
          </a:ln>
        </p:spPr>
      </p:sp>
      <p:sp>
        <p:nvSpPr>
          <p:cNvPr id="12" name="Text 9"/>
          <p:cNvSpPr txBox="1"/>
          <p:nvPr/>
        </p:nvSpPr>
        <p:spPr>
          <a:xfrm>
            <a:off x="676656" y="3204349"/>
            <a:ext cx="2112264" cy="294805"/>
          </a:xfrm>
          <a:prstGeom prst="rect">
            <a:avLst/>
          </a:prstGeom>
          <a:noFill/>
          <a:ln/>
        </p:spPr>
        <p:txBody>
          <a:bodyPr wrap="square" lIns="0" tIns="0" rIns="0" bIns="0" rtlCol="0" anchor="ctr"/>
          <a:lstStyle/>
          <a:p>
            <a:pPr algn="ctr" indent="0" marL="0">
              <a:buNone/>
            </a:pPr>
            <a:r>
              <a:rPr lang="en-US" sz="1200" b="1" dirty="0">
                <a:solidFill>
                  <a:srgbClr val="15203A"/>
                </a:solidFill>
                <a:latin typeface="Malgun Gothic" pitchFamily="34" charset="0"/>
                <a:ea typeface="Malgun Gothic" pitchFamily="34" charset="-122"/>
                <a:cs typeface="Malgun Gothic" pitchFamily="34" charset="-120"/>
              </a:rPr>
              <a:t>HF Dataset</a:t>
            </a:r>
            <a:endParaRPr lang="en-US" sz="1200" dirty="0"/>
          </a:p>
        </p:txBody>
      </p:sp>
      <p:sp>
        <p:nvSpPr>
          <p:cNvPr id="13" name="Text 10"/>
          <p:cNvSpPr txBox="1"/>
          <p:nvPr/>
        </p:nvSpPr>
        <p:spPr>
          <a:xfrm>
            <a:off x="658368" y="3499153"/>
            <a:ext cx="2148840" cy="412727"/>
          </a:xfrm>
          <a:prstGeom prst="rect">
            <a:avLst/>
          </a:prstGeom>
          <a:noFill/>
          <a:ln/>
        </p:spPr>
        <p:txBody>
          <a:bodyPr wrap="square" lIns="0" tIns="0" rIns="0" bIns="0" rtlCol="0" anchor="ctr"/>
          <a:lstStyle/>
          <a:p>
            <a:pPr algn="ctr" indent="0" marL="0">
              <a:lnSpc>
                <a:spcPts val="1200"/>
              </a:lnSpc>
              <a:buNone/>
            </a:pPr>
            <a:r>
              <a:rPr lang="en-US" sz="850" dirty="0">
                <a:solidFill>
                  <a:srgbClr val="64748B"/>
                </a:solidFill>
                <a:latin typeface="Courier New" pitchFamily="34" charset="0"/>
                <a:ea typeface="Courier New" pitchFamily="34" charset="-122"/>
                <a:cs typeface="Courier New" pitchFamily="34" charset="-120"/>
              </a:rPr>
              <a:t>datasets.load_dataset</a:t>
            </a:r>
            <a:endParaRPr lang="en-US" sz="850" dirty="0"/>
          </a:p>
        </p:txBody>
      </p:sp>
      <p:sp>
        <p:nvSpPr>
          <p:cNvPr id="14" name="Text 11"/>
          <p:cNvSpPr txBox="1"/>
          <p:nvPr/>
        </p:nvSpPr>
        <p:spPr>
          <a:xfrm>
            <a:off x="1508760" y="4019976"/>
            <a:ext cx="457200" cy="255498"/>
          </a:xfrm>
          <a:prstGeom prst="rect">
            <a:avLst/>
          </a:prstGeom>
          <a:noFill/>
          <a:ln/>
        </p:spPr>
        <p:txBody>
          <a:bodyPr wrap="square" lIns="0" tIns="0" rIns="0" bIns="0" rtlCol="0" anchor="ctr"/>
          <a:lstStyle/>
          <a:p>
            <a:pPr algn="ctr" indent="0" marL="0">
              <a:buNone/>
            </a:pPr>
            <a:r>
              <a:rPr lang="en-US" sz="1400" dirty="0">
                <a:solidFill>
                  <a:srgbClr val="9FB0CC"/>
                </a:solidFill>
                <a:latin typeface="Malgun Gothic" pitchFamily="34" charset="0"/>
                <a:ea typeface="Malgun Gothic" pitchFamily="34" charset="-122"/>
                <a:cs typeface="Malgun Gothic" pitchFamily="34" charset="-120"/>
              </a:rPr>
              <a:t>↓</a:t>
            </a:r>
            <a:endParaRPr lang="en-US" sz="1400" dirty="0"/>
          </a:p>
        </p:txBody>
      </p:sp>
      <p:sp>
        <p:nvSpPr>
          <p:cNvPr id="15" name="Shape 12"/>
          <p:cNvSpPr/>
          <p:nvPr/>
        </p:nvSpPr>
        <p:spPr>
          <a:xfrm>
            <a:off x="566928" y="4314780"/>
            <a:ext cx="2331720" cy="963029"/>
          </a:xfrm>
          <a:prstGeom prst="roundRect">
            <a:avLst>
              <a:gd name="adj" fmla="val 5697"/>
            </a:avLst>
          </a:prstGeom>
          <a:solidFill>
            <a:srgbClr val="F2F5FA"/>
          </a:solidFill>
          <a:ln w="12700">
            <a:solidFill>
              <a:srgbClr val="D8E0EC"/>
            </a:solidFill>
            <a:prstDash val="solid"/>
          </a:ln>
        </p:spPr>
      </p:sp>
      <p:sp>
        <p:nvSpPr>
          <p:cNvPr id="16" name="Text 13"/>
          <p:cNvSpPr txBox="1"/>
          <p:nvPr/>
        </p:nvSpPr>
        <p:spPr>
          <a:xfrm>
            <a:off x="676656" y="4442529"/>
            <a:ext cx="2112264" cy="294805"/>
          </a:xfrm>
          <a:prstGeom prst="rect">
            <a:avLst/>
          </a:prstGeom>
          <a:noFill/>
          <a:ln/>
        </p:spPr>
        <p:txBody>
          <a:bodyPr wrap="square" lIns="0" tIns="0" rIns="0" bIns="0" rtlCol="0" anchor="ctr"/>
          <a:lstStyle/>
          <a:p>
            <a:pPr algn="ctr" indent="0" marL="0">
              <a:buNone/>
            </a:pPr>
            <a:r>
              <a:rPr lang="en-US" sz="1200" b="1" dirty="0">
                <a:solidFill>
                  <a:srgbClr val="15203A"/>
                </a:solidFill>
                <a:latin typeface="Malgun Gothic" pitchFamily="34" charset="0"/>
                <a:ea typeface="Malgun Gothic" pitchFamily="34" charset="-122"/>
                <a:cs typeface="Malgun Gothic" pitchFamily="34" charset="-120"/>
              </a:rPr>
              <a:t>Chat Template</a:t>
            </a:r>
            <a:endParaRPr lang="en-US" sz="1200" dirty="0"/>
          </a:p>
        </p:txBody>
      </p:sp>
      <p:sp>
        <p:nvSpPr>
          <p:cNvPr id="17" name="Text 14"/>
          <p:cNvSpPr txBox="1"/>
          <p:nvPr/>
        </p:nvSpPr>
        <p:spPr>
          <a:xfrm>
            <a:off x="658368" y="4737334"/>
            <a:ext cx="2148840" cy="412727"/>
          </a:xfrm>
          <a:prstGeom prst="rect">
            <a:avLst/>
          </a:prstGeom>
          <a:noFill/>
          <a:ln/>
        </p:spPr>
        <p:txBody>
          <a:bodyPr wrap="square" lIns="0" tIns="0" rIns="0" bIns="0" rtlCol="0" anchor="ctr"/>
          <a:lstStyle/>
          <a:p>
            <a:pPr algn="ctr" indent="0" marL="0">
              <a:lnSpc>
                <a:spcPts val="1200"/>
              </a:lnSpc>
              <a:buNone/>
            </a:pPr>
            <a:r>
              <a:rPr lang="en-US" sz="850" dirty="0">
                <a:solidFill>
                  <a:srgbClr val="64748B"/>
                </a:solidFill>
                <a:latin typeface="Courier New" pitchFamily="34" charset="0"/>
                <a:ea typeface="Courier New" pitchFamily="34" charset="-122"/>
                <a:cs typeface="Courier New" pitchFamily="34" charset="-120"/>
              </a:rPr>
              <a:t>apply_chat_template</a:t>
            </a:r>
            <a:endParaRPr lang="en-US" sz="850" dirty="0"/>
          </a:p>
          <a:p>
            <a:pPr algn="ctr" indent="0" marL="0">
              <a:lnSpc>
                <a:spcPts val="1200"/>
              </a:lnSpc>
              <a:buNone/>
            </a:pPr>
            <a:r>
              <a:rPr lang="en-US" sz="850" dirty="0">
                <a:solidFill>
                  <a:srgbClr val="64748B"/>
                </a:solidFill>
                <a:latin typeface="Courier New" pitchFamily="34" charset="0"/>
                <a:ea typeface="Courier New" pitchFamily="34" charset="-122"/>
                <a:cs typeface="Courier New" pitchFamily="34" charset="-120"/>
              </a:rPr>
              <a:t>enable_thinking=False</a:t>
            </a:r>
            <a:endParaRPr lang="en-US" sz="850" dirty="0"/>
          </a:p>
        </p:txBody>
      </p:sp>
      <p:sp>
        <p:nvSpPr>
          <p:cNvPr id="18" name="Text 15"/>
          <p:cNvSpPr txBox="1"/>
          <p:nvPr/>
        </p:nvSpPr>
        <p:spPr>
          <a:xfrm>
            <a:off x="2944368" y="3076600"/>
            <a:ext cx="384048" cy="904068"/>
          </a:xfrm>
          <a:prstGeom prst="rect">
            <a:avLst/>
          </a:prstGeom>
          <a:noFill/>
          <a:ln/>
        </p:spPr>
        <p:txBody>
          <a:bodyPr wrap="square" lIns="0" tIns="0" rIns="0" bIns="0" rtlCol="0" anchor="ctr"/>
          <a:lstStyle/>
          <a:p>
            <a:pPr algn="ctr" indent="0" marL="0">
              <a:buNone/>
            </a:pPr>
            <a:r>
              <a:rPr lang="en-US" sz="1700" dirty="0">
                <a:solidFill>
                  <a:srgbClr val="9FB0CC"/>
                </a:solidFill>
                <a:latin typeface="Malgun Gothic" pitchFamily="34" charset="0"/>
                <a:ea typeface="Malgun Gothic" pitchFamily="34" charset="-122"/>
                <a:cs typeface="Malgun Gothic" pitchFamily="34" charset="-120"/>
              </a:rPr>
              <a:t>→</a:t>
            </a:r>
            <a:endParaRPr lang="en-US" sz="1700" dirty="0"/>
          </a:p>
        </p:txBody>
      </p:sp>
      <p:sp>
        <p:nvSpPr>
          <p:cNvPr id="19" name="Shape 16"/>
          <p:cNvSpPr/>
          <p:nvPr/>
        </p:nvSpPr>
        <p:spPr>
          <a:xfrm>
            <a:off x="3383280" y="1838419"/>
            <a:ext cx="2395728" cy="904068"/>
          </a:xfrm>
          <a:prstGeom prst="roundRect">
            <a:avLst>
              <a:gd name="adj" fmla="val 6069"/>
            </a:avLst>
          </a:prstGeom>
          <a:solidFill>
            <a:srgbClr val="0E1A33"/>
          </a:solidFill>
          <a:ln w="12700">
            <a:solidFill>
              <a:srgbClr val="0E1A33"/>
            </a:solidFill>
            <a:prstDash val="solid"/>
          </a:ln>
        </p:spPr>
      </p:sp>
      <p:sp>
        <p:nvSpPr>
          <p:cNvPr id="20" name="Text 17"/>
          <p:cNvSpPr txBox="1"/>
          <p:nvPr/>
        </p:nvSpPr>
        <p:spPr>
          <a:xfrm>
            <a:off x="3493008" y="1966168"/>
            <a:ext cx="2176272" cy="294805"/>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prompt / completion</a:t>
            </a:r>
            <a:endParaRPr lang="en-US" sz="1200" dirty="0"/>
          </a:p>
        </p:txBody>
      </p:sp>
      <p:sp>
        <p:nvSpPr>
          <p:cNvPr id="21" name="Text 18"/>
          <p:cNvSpPr txBox="1"/>
          <p:nvPr/>
        </p:nvSpPr>
        <p:spPr>
          <a:xfrm>
            <a:off x="3474720" y="2260973"/>
            <a:ext cx="2212848" cy="412727"/>
          </a:xfrm>
          <a:prstGeom prst="rect">
            <a:avLst/>
          </a:prstGeom>
          <a:noFill/>
          <a:ln/>
        </p:spPr>
        <p:txBody>
          <a:bodyPr wrap="square" lIns="0" tIns="0" rIns="0" bIns="0" rtlCol="0" anchor="ctr"/>
          <a:lstStyle/>
          <a:p>
            <a:pPr algn="ctr" indent="0" marL="0">
              <a:lnSpc>
                <a:spcPts val="1200"/>
              </a:lnSpc>
              <a:buNone/>
            </a:pPr>
            <a:r>
              <a:rPr lang="en-US" sz="850" dirty="0">
                <a:solidFill>
                  <a:srgbClr val="A9BEE4"/>
                </a:solidFill>
                <a:latin typeface="Courier New" pitchFamily="34" charset="0"/>
                <a:ea typeface="Courier New" pitchFamily="34" charset="-122"/>
                <a:cs typeface="Courier New" pitchFamily="34" charset="-120"/>
              </a:rPr>
              <a:t>completion = 질문3개 + EOS</a:t>
            </a:r>
            <a:endParaRPr lang="en-US" sz="850" dirty="0"/>
          </a:p>
        </p:txBody>
      </p:sp>
      <p:sp>
        <p:nvSpPr>
          <p:cNvPr id="22" name="Text 19"/>
          <p:cNvSpPr txBox="1"/>
          <p:nvPr/>
        </p:nvSpPr>
        <p:spPr>
          <a:xfrm>
            <a:off x="4352544" y="2781795"/>
            <a:ext cx="457200" cy="255498"/>
          </a:xfrm>
          <a:prstGeom prst="rect">
            <a:avLst/>
          </a:prstGeom>
          <a:noFill/>
          <a:ln/>
        </p:spPr>
        <p:txBody>
          <a:bodyPr wrap="square" lIns="0" tIns="0" rIns="0" bIns="0" rtlCol="0" anchor="ctr"/>
          <a:lstStyle/>
          <a:p>
            <a:pPr algn="ctr" indent="0" marL="0">
              <a:buNone/>
            </a:pPr>
            <a:r>
              <a:rPr lang="en-US" sz="1400" dirty="0">
                <a:solidFill>
                  <a:srgbClr val="9FB0CC"/>
                </a:solidFill>
                <a:latin typeface="Malgun Gothic" pitchFamily="34" charset="0"/>
                <a:ea typeface="Malgun Gothic" pitchFamily="34" charset="-122"/>
                <a:cs typeface="Malgun Gothic" pitchFamily="34" charset="-120"/>
              </a:rPr>
              <a:t>↓</a:t>
            </a:r>
            <a:endParaRPr lang="en-US" sz="1400" dirty="0"/>
          </a:p>
        </p:txBody>
      </p:sp>
      <p:sp>
        <p:nvSpPr>
          <p:cNvPr id="23" name="Shape 20"/>
          <p:cNvSpPr/>
          <p:nvPr/>
        </p:nvSpPr>
        <p:spPr>
          <a:xfrm>
            <a:off x="3383280" y="3076600"/>
            <a:ext cx="2395728" cy="904068"/>
          </a:xfrm>
          <a:prstGeom prst="roundRect">
            <a:avLst>
              <a:gd name="adj" fmla="val 6069"/>
            </a:avLst>
          </a:prstGeom>
          <a:solidFill>
            <a:srgbClr val="F2F5FA"/>
          </a:solidFill>
          <a:ln w="12700">
            <a:solidFill>
              <a:srgbClr val="D8E0EC"/>
            </a:solidFill>
            <a:prstDash val="solid"/>
          </a:ln>
        </p:spPr>
      </p:sp>
      <p:sp>
        <p:nvSpPr>
          <p:cNvPr id="24" name="Text 21"/>
          <p:cNvSpPr txBox="1"/>
          <p:nvPr/>
        </p:nvSpPr>
        <p:spPr>
          <a:xfrm>
            <a:off x="3493008" y="3204349"/>
            <a:ext cx="2176272" cy="294805"/>
          </a:xfrm>
          <a:prstGeom prst="rect">
            <a:avLst/>
          </a:prstGeom>
          <a:noFill/>
          <a:ln/>
        </p:spPr>
        <p:txBody>
          <a:bodyPr wrap="square" lIns="0" tIns="0" rIns="0" bIns="0" rtlCol="0" anchor="ctr"/>
          <a:lstStyle/>
          <a:p>
            <a:pPr algn="ctr" indent="0" marL="0">
              <a:buNone/>
            </a:pPr>
            <a:r>
              <a:rPr lang="en-US" sz="1200" b="1" dirty="0">
                <a:solidFill>
                  <a:srgbClr val="15203A"/>
                </a:solidFill>
                <a:latin typeface="Malgun Gothic" pitchFamily="34" charset="0"/>
                <a:ea typeface="Malgun Gothic" pitchFamily="34" charset="-122"/>
                <a:cs typeface="Malgun Gothic" pitchFamily="34" charset="-120"/>
              </a:rPr>
              <a:t>Qwen3-1.7B</a:t>
            </a:r>
            <a:endParaRPr lang="en-US" sz="1200" dirty="0"/>
          </a:p>
        </p:txBody>
      </p:sp>
      <p:sp>
        <p:nvSpPr>
          <p:cNvPr id="25" name="Text 22"/>
          <p:cNvSpPr txBox="1"/>
          <p:nvPr/>
        </p:nvSpPr>
        <p:spPr>
          <a:xfrm>
            <a:off x="3474720" y="3499153"/>
            <a:ext cx="2212848" cy="412727"/>
          </a:xfrm>
          <a:prstGeom prst="rect">
            <a:avLst/>
          </a:prstGeom>
          <a:noFill/>
          <a:ln/>
        </p:spPr>
        <p:txBody>
          <a:bodyPr wrap="square" lIns="0" tIns="0" rIns="0" bIns="0" rtlCol="0" anchor="ctr"/>
          <a:lstStyle/>
          <a:p>
            <a:pPr algn="ctr" indent="0" marL="0">
              <a:lnSpc>
                <a:spcPts val="1200"/>
              </a:lnSpc>
              <a:buNone/>
            </a:pPr>
            <a:r>
              <a:rPr lang="en-US" sz="850" dirty="0">
                <a:solidFill>
                  <a:srgbClr val="64748B"/>
                </a:solidFill>
                <a:latin typeface="Courier New" pitchFamily="34" charset="0"/>
                <a:ea typeface="Courier New" pitchFamily="34" charset="-122"/>
                <a:cs typeface="Courier New" pitchFamily="34" charset="-120"/>
              </a:rPr>
              <a:t>AutoModelForCausalLM</a:t>
            </a:r>
            <a:endParaRPr lang="en-US" sz="850" dirty="0"/>
          </a:p>
        </p:txBody>
      </p:sp>
      <p:sp>
        <p:nvSpPr>
          <p:cNvPr id="26" name="Text 23"/>
          <p:cNvSpPr txBox="1"/>
          <p:nvPr/>
        </p:nvSpPr>
        <p:spPr>
          <a:xfrm>
            <a:off x="3383280" y="4039629"/>
            <a:ext cx="2395728" cy="255498"/>
          </a:xfrm>
          <a:prstGeom prst="rect">
            <a:avLst/>
          </a:prstGeom>
          <a:noFill/>
          <a:ln/>
        </p:spPr>
        <p:txBody>
          <a:bodyPr wrap="square" lIns="0" tIns="0" rIns="0" bIns="0" rtlCol="0" anchor="ctr"/>
          <a:lstStyle/>
          <a:p>
            <a:pPr algn="ctr" indent="0" marL="0">
              <a:buNone/>
            </a:pPr>
            <a:r>
              <a:rPr lang="en-US" sz="950" dirty="0">
                <a:solidFill>
                  <a:srgbClr val="64748B"/>
                </a:solidFill>
                <a:latin typeface="Malgun Gothic" pitchFamily="34" charset="0"/>
                <a:ea typeface="Malgun Gothic" pitchFamily="34" charset="-122"/>
                <a:cs typeface="Malgun Gothic" pitchFamily="34" charset="-120"/>
              </a:rPr>
              <a:t>분기 — Base Weight 로드 정밀도</a:t>
            </a:r>
            <a:endParaRPr lang="en-US" sz="950" dirty="0"/>
          </a:p>
        </p:txBody>
      </p:sp>
      <p:sp>
        <p:nvSpPr>
          <p:cNvPr id="27" name="Shape 24"/>
          <p:cNvSpPr/>
          <p:nvPr/>
        </p:nvSpPr>
        <p:spPr>
          <a:xfrm>
            <a:off x="3383280" y="4314780"/>
            <a:ext cx="1133856" cy="963029"/>
          </a:xfrm>
          <a:prstGeom prst="roundRect">
            <a:avLst>
              <a:gd name="adj" fmla="val 5697"/>
            </a:avLst>
          </a:prstGeom>
          <a:solidFill>
            <a:srgbClr val="E4EDFE"/>
          </a:solidFill>
          <a:ln w="12700">
            <a:solidFill>
              <a:srgbClr val="C9DCFC"/>
            </a:solidFill>
            <a:prstDash val="solid"/>
          </a:ln>
        </p:spPr>
      </p:sp>
      <p:sp>
        <p:nvSpPr>
          <p:cNvPr id="28" name="Text 25"/>
          <p:cNvSpPr txBox="1"/>
          <p:nvPr/>
        </p:nvSpPr>
        <p:spPr>
          <a:xfrm>
            <a:off x="3493008" y="4442529"/>
            <a:ext cx="914400" cy="294805"/>
          </a:xfrm>
          <a:prstGeom prst="rect">
            <a:avLst/>
          </a:prstGeom>
          <a:noFill/>
          <a:ln/>
        </p:spPr>
        <p:txBody>
          <a:bodyPr wrap="square" lIns="0" tIns="0" rIns="0" bIns="0" rtlCol="0" anchor="ctr"/>
          <a:lstStyle/>
          <a:p>
            <a:pPr algn="ctr" indent="0" marL="0">
              <a:buNone/>
            </a:pPr>
            <a:r>
              <a:rPr lang="en-US" sz="1200" b="1" dirty="0">
                <a:solidFill>
                  <a:srgbClr val="2563EB"/>
                </a:solidFill>
                <a:latin typeface="Malgun Gothic" pitchFamily="34" charset="0"/>
                <a:ea typeface="Malgun Gothic" pitchFamily="34" charset="-122"/>
                <a:cs typeface="Malgun Gothic" pitchFamily="34" charset="-120"/>
              </a:rPr>
              <a:t>LoRA</a:t>
            </a:r>
            <a:endParaRPr lang="en-US" sz="1200" dirty="0"/>
          </a:p>
        </p:txBody>
      </p:sp>
      <p:sp>
        <p:nvSpPr>
          <p:cNvPr id="29" name="Text 26"/>
          <p:cNvSpPr txBox="1"/>
          <p:nvPr/>
        </p:nvSpPr>
        <p:spPr>
          <a:xfrm>
            <a:off x="3474720" y="4737334"/>
            <a:ext cx="950976" cy="412727"/>
          </a:xfrm>
          <a:prstGeom prst="rect">
            <a:avLst/>
          </a:prstGeom>
          <a:noFill/>
          <a:ln/>
        </p:spPr>
        <p:txBody>
          <a:bodyPr wrap="square" lIns="0" tIns="0" rIns="0" bIns="0" rtlCol="0" anchor="ctr"/>
          <a:lstStyle/>
          <a:p>
            <a:pPr algn="ctr" indent="0" marL="0">
              <a:lnSpc>
                <a:spcPts val="1200"/>
              </a:lnSpc>
              <a:buNone/>
            </a:pPr>
            <a:r>
              <a:rPr lang="en-US" sz="850" dirty="0">
                <a:solidFill>
                  <a:srgbClr val="3F6FC4"/>
                </a:solidFill>
                <a:latin typeface="Courier New" pitchFamily="34" charset="0"/>
                <a:ea typeface="Courier New" pitchFamily="34" charset="-122"/>
                <a:cs typeface="Courier New" pitchFamily="34" charset="-120"/>
              </a:rPr>
              <a:t>BF16/FP16</a:t>
            </a:r>
            <a:endParaRPr lang="en-US" sz="850" dirty="0"/>
          </a:p>
          <a:p>
            <a:pPr algn="ctr" indent="0" marL="0">
              <a:lnSpc>
                <a:spcPts val="1200"/>
              </a:lnSpc>
              <a:buNone/>
            </a:pPr>
            <a:r>
              <a:rPr lang="en-US" sz="850" dirty="0">
                <a:solidFill>
                  <a:srgbClr val="3F6FC4"/>
                </a:solidFill>
                <a:latin typeface="Courier New" pitchFamily="34" charset="0"/>
                <a:ea typeface="Courier New" pitchFamily="34" charset="-122"/>
                <a:cs typeface="Courier New" pitchFamily="34" charset="-120"/>
              </a:rPr>
              <a:t>Base Model</a:t>
            </a:r>
            <a:endParaRPr lang="en-US" sz="850" dirty="0"/>
          </a:p>
        </p:txBody>
      </p:sp>
      <p:sp>
        <p:nvSpPr>
          <p:cNvPr id="30" name="Shape 27"/>
          <p:cNvSpPr/>
          <p:nvPr/>
        </p:nvSpPr>
        <p:spPr>
          <a:xfrm>
            <a:off x="4645152" y="4314780"/>
            <a:ext cx="1133856" cy="963029"/>
          </a:xfrm>
          <a:prstGeom prst="roundRect">
            <a:avLst>
              <a:gd name="adj" fmla="val 5697"/>
            </a:avLst>
          </a:prstGeom>
          <a:solidFill>
            <a:srgbClr val="FAEEDD"/>
          </a:solidFill>
          <a:ln w="12700">
            <a:solidFill>
              <a:srgbClr val="EED9B9"/>
            </a:solidFill>
            <a:prstDash val="solid"/>
          </a:ln>
        </p:spPr>
      </p:sp>
      <p:sp>
        <p:nvSpPr>
          <p:cNvPr id="31" name="Text 28"/>
          <p:cNvSpPr txBox="1"/>
          <p:nvPr/>
        </p:nvSpPr>
        <p:spPr>
          <a:xfrm>
            <a:off x="4754880" y="4442529"/>
            <a:ext cx="914400" cy="294805"/>
          </a:xfrm>
          <a:prstGeom prst="rect">
            <a:avLst/>
          </a:prstGeom>
          <a:noFill/>
          <a:ln/>
        </p:spPr>
        <p:txBody>
          <a:bodyPr wrap="square" lIns="0" tIns="0" rIns="0" bIns="0" rtlCol="0" anchor="ctr"/>
          <a:lstStyle/>
          <a:p>
            <a:pPr algn="ctr" indent="0" marL="0">
              <a:buNone/>
            </a:pPr>
            <a:r>
              <a:rPr lang="en-US" sz="1200" b="1" dirty="0">
                <a:solidFill>
                  <a:srgbClr val="C2690B"/>
                </a:solidFill>
                <a:latin typeface="Malgun Gothic" pitchFamily="34" charset="0"/>
                <a:ea typeface="Malgun Gothic" pitchFamily="34" charset="-122"/>
                <a:cs typeface="Malgun Gothic" pitchFamily="34" charset="-120"/>
              </a:rPr>
              <a:t>QLoRA</a:t>
            </a:r>
            <a:endParaRPr lang="en-US" sz="1200" dirty="0"/>
          </a:p>
        </p:txBody>
      </p:sp>
      <p:sp>
        <p:nvSpPr>
          <p:cNvPr id="32" name="Text 29"/>
          <p:cNvSpPr txBox="1"/>
          <p:nvPr/>
        </p:nvSpPr>
        <p:spPr>
          <a:xfrm>
            <a:off x="4736592" y="4737334"/>
            <a:ext cx="950976" cy="412727"/>
          </a:xfrm>
          <a:prstGeom prst="rect">
            <a:avLst/>
          </a:prstGeom>
          <a:noFill/>
          <a:ln/>
        </p:spPr>
        <p:txBody>
          <a:bodyPr wrap="square" lIns="0" tIns="0" rIns="0" bIns="0" rtlCol="0" anchor="ctr"/>
          <a:lstStyle/>
          <a:p>
            <a:pPr algn="ctr" indent="0" marL="0">
              <a:lnSpc>
                <a:spcPts val="1200"/>
              </a:lnSpc>
              <a:buNone/>
            </a:pPr>
            <a:r>
              <a:rPr lang="en-US" sz="850" dirty="0">
                <a:solidFill>
                  <a:srgbClr val="97621B"/>
                </a:solidFill>
                <a:latin typeface="Courier New" pitchFamily="34" charset="0"/>
                <a:ea typeface="Courier New" pitchFamily="34" charset="-122"/>
                <a:cs typeface="Courier New" pitchFamily="34" charset="-120"/>
              </a:rPr>
              <a:t>NF4 4bit</a:t>
            </a:r>
            <a:endParaRPr lang="en-US" sz="850" dirty="0"/>
          </a:p>
          <a:p>
            <a:pPr algn="ctr" indent="0" marL="0">
              <a:lnSpc>
                <a:spcPts val="1200"/>
              </a:lnSpc>
              <a:buNone/>
            </a:pPr>
            <a:r>
              <a:rPr lang="en-US" sz="850" dirty="0">
                <a:solidFill>
                  <a:srgbClr val="97621B"/>
                </a:solidFill>
                <a:latin typeface="Courier New" pitchFamily="34" charset="0"/>
                <a:ea typeface="Courier New" pitchFamily="34" charset="-122"/>
                <a:cs typeface="Courier New" pitchFamily="34" charset="-120"/>
              </a:rPr>
              <a:t>Base Model</a:t>
            </a:r>
            <a:endParaRPr lang="en-US" sz="850" dirty="0"/>
          </a:p>
        </p:txBody>
      </p:sp>
      <p:sp>
        <p:nvSpPr>
          <p:cNvPr id="33" name="Text 30"/>
          <p:cNvSpPr txBox="1"/>
          <p:nvPr/>
        </p:nvSpPr>
        <p:spPr>
          <a:xfrm>
            <a:off x="5943600" y="3076600"/>
            <a:ext cx="384048" cy="904068"/>
          </a:xfrm>
          <a:prstGeom prst="rect">
            <a:avLst/>
          </a:prstGeom>
          <a:noFill/>
          <a:ln/>
        </p:spPr>
        <p:txBody>
          <a:bodyPr wrap="square" lIns="0" tIns="0" rIns="0" bIns="0" rtlCol="0" anchor="ctr"/>
          <a:lstStyle/>
          <a:p>
            <a:pPr algn="ctr" indent="0" marL="0">
              <a:buNone/>
            </a:pPr>
            <a:r>
              <a:rPr lang="en-US" sz="1700" dirty="0">
                <a:solidFill>
                  <a:srgbClr val="9FB0CC"/>
                </a:solidFill>
                <a:latin typeface="Malgun Gothic" pitchFamily="34" charset="0"/>
                <a:ea typeface="Malgun Gothic" pitchFamily="34" charset="-122"/>
                <a:cs typeface="Malgun Gothic" pitchFamily="34" charset="-120"/>
              </a:rPr>
              <a:t>→</a:t>
            </a:r>
            <a:endParaRPr lang="en-US" sz="1700" dirty="0"/>
          </a:p>
        </p:txBody>
      </p:sp>
      <p:sp>
        <p:nvSpPr>
          <p:cNvPr id="34" name="Shape 31"/>
          <p:cNvSpPr/>
          <p:nvPr/>
        </p:nvSpPr>
        <p:spPr>
          <a:xfrm>
            <a:off x="6382512" y="1838419"/>
            <a:ext cx="2395728" cy="904068"/>
          </a:xfrm>
          <a:prstGeom prst="roundRect">
            <a:avLst>
              <a:gd name="adj" fmla="val 6069"/>
            </a:avLst>
          </a:prstGeom>
          <a:solidFill>
            <a:srgbClr val="F2F5FA"/>
          </a:solidFill>
          <a:ln w="12700">
            <a:solidFill>
              <a:srgbClr val="D8E0EC"/>
            </a:solidFill>
            <a:prstDash val="solid"/>
          </a:ln>
        </p:spPr>
      </p:sp>
      <p:sp>
        <p:nvSpPr>
          <p:cNvPr id="35" name="Text 32"/>
          <p:cNvSpPr txBox="1"/>
          <p:nvPr/>
        </p:nvSpPr>
        <p:spPr>
          <a:xfrm>
            <a:off x="6492240" y="1966168"/>
            <a:ext cx="2176272" cy="294805"/>
          </a:xfrm>
          <a:prstGeom prst="rect">
            <a:avLst/>
          </a:prstGeom>
          <a:noFill/>
          <a:ln/>
        </p:spPr>
        <p:txBody>
          <a:bodyPr wrap="square" lIns="0" tIns="0" rIns="0" bIns="0" rtlCol="0" anchor="ctr"/>
          <a:lstStyle/>
          <a:p>
            <a:pPr algn="ctr" indent="0" marL="0">
              <a:buNone/>
            </a:pPr>
            <a:r>
              <a:rPr lang="en-US" sz="1200" b="1" dirty="0">
                <a:solidFill>
                  <a:srgbClr val="15203A"/>
                </a:solidFill>
                <a:latin typeface="Malgun Gothic" pitchFamily="34" charset="0"/>
                <a:ea typeface="Malgun Gothic" pitchFamily="34" charset="-122"/>
                <a:cs typeface="Malgun Gothic" pitchFamily="34" charset="-120"/>
              </a:rPr>
              <a:t>LoRA Adapter</a:t>
            </a:r>
            <a:endParaRPr lang="en-US" sz="1200" dirty="0"/>
          </a:p>
        </p:txBody>
      </p:sp>
      <p:sp>
        <p:nvSpPr>
          <p:cNvPr id="36" name="Text 33"/>
          <p:cNvSpPr txBox="1"/>
          <p:nvPr/>
        </p:nvSpPr>
        <p:spPr>
          <a:xfrm>
            <a:off x="6473952" y="2260973"/>
            <a:ext cx="2212848" cy="412727"/>
          </a:xfrm>
          <a:prstGeom prst="rect">
            <a:avLst/>
          </a:prstGeom>
          <a:noFill/>
          <a:ln/>
        </p:spPr>
        <p:txBody>
          <a:bodyPr wrap="square" lIns="0" tIns="0" rIns="0" bIns="0" rtlCol="0" anchor="ctr"/>
          <a:lstStyle/>
          <a:p>
            <a:pPr algn="ctr" indent="0" marL="0">
              <a:lnSpc>
                <a:spcPts val="1200"/>
              </a:lnSpc>
              <a:buNone/>
            </a:pPr>
            <a:r>
              <a:rPr lang="en-US" sz="850" dirty="0">
                <a:solidFill>
                  <a:srgbClr val="64748B"/>
                </a:solidFill>
                <a:latin typeface="Courier New" pitchFamily="34" charset="0"/>
                <a:ea typeface="Courier New" pitchFamily="34" charset="-122"/>
                <a:cs typeface="Courier New" pitchFamily="34" charset="-120"/>
              </a:rPr>
              <a:t>r=16 · alpha=32 · 7 modules</a:t>
            </a:r>
            <a:endParaRPr lang="en-US" sz="850" dirty="0"/>
          </a:p>
        </p:txBody>
      </p:sp>
      <p:sp>
        <p:nvSpPr>
          <p:cNvPr id="37" name="Text 34"/>
          <p:cNvSpPr txBox="1"/>
          <p:nvPr/>
        </p:nvSpPr>
        <p:spPr>
          <a:xfrm>
            <a:off x="7351776" y="2781795"/>
            <a:ext cx="457200" cy="255498"/>
          </a:xfrm>
          <a:prstGeom prst="rect">
            <a:avLst/>
          </a:prstGeom>
          <a:noFill/>
          <a:ln/>
        </p:spPr>
        <p:txBody>
          <a:bodyPr wrap="square" lIns="0" tIns="0" rIns="0" bIns="0" rtlCol="0" anchor="ctr"/>
          <a:lstStyle/>
          <a:p>
            <a:pPr algn="ctr" indent="0" marL="0">
              <a:buNone/>
            </a:pPr>
            <a:r>
              <a:rPr lang="en-US" sz="1400" dirty="0">
                <a:solidFill>
                  <a:srgbClr val="9FB0CC"/>
                </a:solidFill>
                <a:latin typeface="Malgun Gothic" pitchFamily="34" charset="0"/>
                <a:ea typeface="Malgun Gothic" pitchFamily="34" charset="-122"/>
                <a:cs typeface="Malgun Gothic" pitchFamily="34" charset="-120"/>
              </a:rPr>
              <a:t>↓</a:t>
            </a:r>
            <a:endParaRPr lang="en-US" sz="1400" dirty="0"/>
          </a:p>
        </p:txBody>
      </p:sp>
      <p:sp>
        <p:nvSpPr>
          <p:cNvPr id="38" name="Shape 35"/>
          <p:cNvSpPr/>
          <p:nvPr/>
        </p:nvSpPr>
        <p:spPr>
          <a:xfrm>
            <a:off x="6382512" y="3076600"/>
            <a:ext cx="2395728" cy="904068"/>
          </a:xfrm>
          <a:prstGeom prst="roundRect">
            <a:avLst>
              <a:gd name="adj" fmla="val 6069"/>
            </a:avLst>
          </a:prstGeom>
          <a:solidFill>
            <a:srgbClr val="0E1A33"/>
          </a:solidFill>
          <a:ln w="12700">
            <a:solidFill>
              <a:srgbClr val="0E1A33"/>
            </a:solidFill>
            <a:prstDash val="solid"/>
          </a:ln>
        </p:spPr>
      </p:sp>
      <p:sp>
        <p:nvSpPr>
          <p:cNvPr id="39" name="Text 36"/>
          <p:cNvSpPr txBox="1"/>
          <p:nvPr/>
        </p:nvSpPr>
        <p:spPr>
          <a:xfrm>
            <a:off x="6492240" y="3204349"/>
            <a:ext cx="2176272" cy="294805"/>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SFTTrainer</a:t>
            </a:r>
            <a:endParaRPr lang="en-US" sz="1200" dirty="0"/>
          </a:p>
        </p:txBody>
      </p:sp>
      <p:sp>
        <p:nvSpPr>
          <p:cNvPr id="40" name="Text 37"/>
          <p:cNvSpPr txBox="1"/>
          <p:nvPr/>
        </p:nvSpPr>
        <p:spPr>
          <a:xfrm>
            <a:off x="6473952" y="3499153"/>
            <a:ext cx="2212848" cy="412727"/>
          </a:xfrm>
          <a:prstGeom prst="rect">
            <a:avLst/>
          </a:prstGeom>
          <a:noFill/>
          <a:ln/>
        </p:spPr>
        <p:txBody>
          <a:bodyPr wrap="square" lIns="0" tIns="0" rIns="0" bIns="0" rtlCol="0" anchor="ctr"/>
          <a:lstStyle/>
          <a:p>
            <a:pPr algn="ctr" indent="0" marL="0">
              <a:lnSpc>
                <a:spcPts val="1200"/>
              </a:lnSpc>
              <a:buNone/>
            </a:pPr>
            <a:r>
              <a:rPr lang="en-US" sz="850" dirty="0">
                <a:solidFill>
                  <a:srgbClr val="A9BEE4"/>
                </a:solidFill>
                <a:latin typeface="Courier New" pitchFamily="34" charset="0"/>
                <a:ea typeface="Courier New" pitchFamily="34" charset="-122"/>
                <a:cs typeface="Courier New" pitchFamily="34" charset="-120"/>
              </a:rPr>
              <a:t>max_steps=80 · eff. batch 8</a:t>
            </a:r>
            <a:endParaRPr lang="en-US" sz="850" dirty="0"/>
          </a:p>
        </p:txBody>
      </p:sp>
      <p:sp>
        <p:nvSpPr>
          <p:cNvPr id="41" name="Text 38"/>
          <p:cNvSpPr txBox="1"/>
          <p:nvPr/>
        </p:nvSpPr>
        <p:spPr>
          <a:xfrm>
            <a:off x="7351776" y="4019976"/>
            <a:ext cx="457200" cy="255498"/>
          </a:xfrm>
          <a:prstGeom prst="rect">
            <a:avLst/>
          </a:prstGeom>
          <a:noFill/>
          <a:ln/>
        </p:spPr>
        <p:txBody>
          <a:bodyPr wrap="square" lIns="0" tIns="0" rIns="0" bIns="0" rtlCol="0" anchor="ctr"/>
          <a:lstStyle/>
          <a:p>
            <a:pPr algn="ctr" indent="0" marL="0">
              <a:buNone/>
            </a:pPr>
            <a:r>
              <a:rPr lang="en-US" sz="1400" dirty="0">
                <a:solidFill>
                  <a:srgbClr val="9FB0CC"/>
                </a:solidFill>
                <a:latin typeface="Malgun Gothic" pitchFamily="34" charset="0"/>
                <a:ea typeface="Malgun Gothic" pitchFamily="34" charset="-122"/>
                <a:cs typeface="Malgun Gothic" pitchFamily="34" charset="-120"/>
              </a:rPr>
              <a:t>↓</a:t>
            </a:r>
            <a:endParaRPr lang="en-US" sz="1400" dirty="0"/>
          </a:p>
        </p:txBody>
      </p:sp>
      <p:sp>
        <p:nvSpPr>
          <p:cNvPr id="42" name="Shape 39"/>
          <p:cNvSpPr/>
          <p:nvPr/>
        </p:nvSpPr>
        <p:spPr>
          <a:xfrm>
            <a:off x="6382512" y="4314780"/>
            <a:ext cx="2395728" cy="963029"/>
          </a:xfrm>
          <a:prstGeom prst="roundRect">
            <a:avLst>
              <a:gd name="adj" fmla="val 5697"/>
            </a:avLst>
          </a:prstGeom>
          <a:solidFill>
            <a:srgbClr val="F2F5FA"/>
          </a:solidFill>
          <a:ln w="12700">
            <a:solidFill>
              <a:srgbClr val="D8E0EC"/>
            </a:solidFill>
            <a:prstDash val="solid"/>
          </a:ln>
        </p:spPr>
      </p:sp>
      <p:sp>
        <p:nvSpPr>
          <p:cNvPr id="43" name="Text 40"/>
          <p:cNvSpPr txBox="1"/>
          <p:nvPr/>
        </p:nvSpPr>
        <p:spPr>
          <a:xfrm>
            <a:off x="6492240" y="4442529"/>
            <a:ext cx="2176272" cy="294805"/>
          </a:xfrm>
          <a:prstGeom prst="rect">
            <a:avLst/>
          </a:prstGeom>
          <a:noFill/>
          <a:ln/>
        </p:spPr>
        <p:txBody>
          <a:bodyPr wrap="square" lIns="0" tIns="0" rIns="0" bIns="0" rtlCol="0" anchor="ctr"/>
          <a:lstStyle/>
          <a:p>
            <a:pPr algn="ctr" indent="0" marL="0">
              <a:buNone/>
            </a:pPr>
            <a:r>
              <a:rPr lang="en-US" sz="1200" b="1" dirty="0">
                <a:solidFill>
                  <a:srgbClr val="15203A"/>
                </a:solidFill>
                <a:latin typeface="Malgun Gothic" pitchFamily="34" charset="0"/>
                <a:ea typeface="Malgun Gothic" pitchFamily="34" charset="-122"/>
                <a:cs typeface="Malgun Gothic" pitchFamily="34" charset="-120"/>
              </a:rPr>
              <a:t>Trained Adapter</a:t>
            </a:r>
            <a:endParaRPr lang="en-US" sz="1200" dirty="0"/>
          </a:p>
        </p:txBody>
      </p:sp>
      <p:sp>
        <p:nvSpPr>
          <p:cNvPr id="44" name="Text 41"/>
          <p:cNvSpPr txBox="1"/>
          <p:nvPr/>
        </p:nvSpPr>
        <p:spPr>
          <a:xfrm>
            <a:off x="6473952" y="4737334"/>
            <a:ext cx="2212848" cy="412727"/>
          </a:xfrm>
          <a:prstGeom prst="rect">
            <a:avLst/>
          </a:prstGeom>
          <a:noFill/>
          <a:ln/>
        </p:spPr>
        <p:txBody>
          <a:bodyPr wrap="square" lIns="0" tIns="0" rIns="0" bIns="0" rtlCol="0" anchor="ctr"/>
          <a:lstStyle/>
          <a:p>
            <a:pPr algn="ctr" indent="0" marL="0">
              <a:lnSpc>
                <a:spcPts val="1200"/>
              </a:lnSpc>
              <a:buNone/>
            </a:pPr>
            <a:r>
              <a:rPr lang="en-US" sz="850" dirty="0">
                <a:solidFill>
                  <a:srgbClr val="64748B"/>
                </a:solidFill>
                <a:latin typeface="Courier New" pitchFamily="34" charset="0"/>
                <a:ea typeface="Courier New" pitchFamily="34" charset="-122"/>
                <a:cs typeface="Courier New" pitchFamily="34" charset="-120"/>
              </a:rPr>
              <a:t>save_pretrained()</a:t>
            </a:r>
            <a:endParaRPr lang="en-US" sz="850" dirty="0"/>
          </a:p>
          <a:p>
            <a:pPr algn="ctr" indent="0" marL="0">
              <a:lnSpc>
                <a:spcPts val="1200"/>
              </a:lnSpc>
              <a:buNone/>
            </a:pPr>
            <a:r>
              <a:rPr lang="en-US" sz="850" dirty="0">
                <a:solidFill>
                  <a:srgbClr val="64748B"/>
                </a:solidFill>
                <a:latin typeface="Courier New" pitchFamily="34" charset="0"/>
                <a:ea typeface="Courier New" pitchFamily="34" charset="-122"/>
                <a:cs typeface="Courier New" pitchFamily="34" charset="-120"/>
              </a:rPr>
              <a:t>어댑터만 저장</a:t>
            </a:r>
            <a:endParaRPr lang="en-US" sz="850" dirty="0"/>
          </a:p>
        </p:txBody>
      </p:sp>
      <p:sp>
        <p:nvSpPr>
          <p:cNvPr id="45" name="Text 42"/>
          <p:cNvSpPr txBox="1"/>
          <p:nvPr/>
        </p:nvSpPr>
        <p:spPr>
          <a:xfrm>
            <a:off x="8942832" y="3076600"/>
            <a:ext cx="384048" cy="904068"/>
          </a:xfrm>
          <a:prstGeom prst="rect">
            <a:avLst/>
          </a:prstGeom>
          <a:noFill/>
          <a:ln/>
        </p:spPr>
        <p:txBody>
          <a:bodyPr wrap="square" lIns="0" tIns="0" rIns="0" bIns="0" rtlCol="0" anchor="ctr"/>
          <a:lstStyle/>
          <a:p>
            <a:pPr algn="ctr" indent="0" marL="0">
              <a:buNone/>
            </a:pPr>
            <a:r>
              <a:rPr lang="en-US" sz="1700" dirty="0">
                <a:solidFill>
                  <a:srgbClr val="9FB0CC"/>
                </a:solidFill>
                <a:latin typeface="Malgun Gothic" pitchFamily="34" charset="0"/>
                <a:ea typeface="Malgun Gothic" pitchFamily="34" charset="-122"/>
                <a:cs typeface="Malgun Gothic" pitchFamily="34" charset="-120"/>
              </a:rPr>
              <a:t>→</a:t>
            </a:r>
            <a:endParaRPr lang="en-US" sz="1700" dirty="0"/>
          </a:p>
        </p:txBody>
      </p:sp>
      <p:sp>
        <p:nvSpPr>
          <p:cNvPr id="46" name="Shape 43"/>
          <p:cNvSpPr/>
          <p:nvPr/>
        </p:nvSpPr>
        <p:spPr>
          <a:xfrm>
            <a:off x="9290304" y="1838419"/>
            <a:ext cx="2322576" cy="904068"/>
          </a:xfrm>
          <a:prstGeom prst="roundRect">
            <a:avLst>
              <a:gd name="adj" fmla="val 6069"/>
            </a:avLst>
          </a:prstGeom>
          <a:solidFill>
            <a:srgbClr val="F2F5FA"/>
          </a:solidFill>
          <a:ln w="12700">
            <a:solidFill>
              <a:srgbClr val="D8E0EC"/>
            </a:solidFill>
            <a:prstDash val="solid"/>
          </a:ln>
        </p:spPr>
      </p:sp>
      <p:sp>
        <p:nvSpPr>
          <p:cNvPr id="47" name="Text 44"/>
          <p:cNvSpPr txBox="1"/>
          <p:nvPr/>
        </p:nvSpPr>
        <p:spPr>
          <a:xfrm>
            <a:off x="9400032" y="1966168"/>
            <a:ext cx="2103120" cy="294805"/>
          </a:xfrm>
          <a:prstGeom prst="rect">
            <a:avLst/>
          </a:prstGeom>
          <a:noFill/>
          <a:ln/>
        </p:spPr>
        <p:txBody>
          <a:bodyPr wrap="square" lIns="0" tIns="0" rIns="0" bIns="0" rtlCol="0" anchor="ctr"/>
          <a:lstStyle/>
          <a:p>
            <a:pPr algn="ctr" indent="0" marL="0">
              <a:buNone/>
            </a:pPr>
            <a:r>
              <a:rPr lang="en-US" sz="1200" b="1" dirty="0">
                <a:solidFill>
                  <a:srgbClr val="15203A"/>
                </a:solidFill>
                <a:latin typeface="Malgun Gothic" pitchFamily="34" charset="0"/>
                <a:ea typeface="Malgun Gothic" pitchFamily="34" charset="-122"/>
                <a:cs typeface="Malgun Gothic" pitchFamily="34" charset="-120"/>
              </a:rPr>
              <a:t>Before / After</a:t>
            </a:r>
            <a:endParaRPr lang="en-US" sz="1200" dirty="0"/>
          </a:p>
        </p:txBody>
      </p:sp>
      <p:sp>
        <p:nvSpPr>
          <p:cNvPr id="48" name="Text 45"/>
          <p:cNvSpPr txBox="1"/>
          <p:nvPr/>
        </p:nvSpPr>
        <p:spPr>
          <a:xfrm>
            <a:off x="9381744" y="2260973"/>
            <a:ext cx="2139696" cy="412727"/>
          </a:xfrm>
          <a:prstGeom prst="rect">
            <a:avLst/>
          </a:prstGeom>
          <a:noFill/>
          <a:ln/>
        </p:spPr>
        <p:txBody>
          <a:bodyPr wrap="square" lIns="0" tIns="0" rIns="0" bIns="0" rtlCol="0" anchor="ctr"/>
          <a:lstStyle/>
          <a:p>
            <a:pPr algn="ctr" indent="0" marL="0">
              <a:lnSpc>
                <a:spcPts val="1200"/>
              </a:lnSpc>
              <a:buNone/>
            </a:pPr>
            <a:r>
              <a:rPr lang="en-US" sz="850" dirty="0">
                <a:solidFill>
                  <a:srgbClr val="64748B"/>
                </a:solidFill>
                <a:latin typeface="Courier New" pitchFamily="34" charset="0"/>
                <a:ea typeface="Courier New" pitchFamily="34" charset="-122"/>
                <a:cs typeface="Courier New" pitchFamily="34" charset="-120"/>
              </a:rPr>
              <a:t>동일 테스트 질문 5종</a:t>
            </a:r>
            <a:endParaRPr lang="en-US" sz="850" dirty="0"/>
          </a:p>
        </p:txBody>
      </p:sp>
      <p:sp>
        <p:nvSpPr>
          <p:cNvPr id="49" name="Text 46"/>
          <p:cNvSpPr txBox="1"/>
          <p:nvPr/>
        </p:nvSpPr>
        <p:spPr>
          <a:xfrm>
            <a:off x="10222992" y="2781795"/>
            <a:ext cx="457200" cy="255498"/>
          </a:xfrm>
          <a:prstGeom prst="rect">
            <a:avLst/>
          </a:prstGeom>
          <a:noFill/>
          <a:ln/>
        </p:spPr>
        <p:txBody>
          <a:bodyPr wrap="square" lIns="0" tIns="0" rIns="0" bIns="0" rtlCol="0" anchor="ctr"/>
          <a:lstStyle/>
          <a:p>
            <a:pPr algn="ctr" indent="0" marL="0">
              <a:buNone/>
            </a:pPr>
            <a:r>
              <a:rPr lang="en-US" sz="1400" dirty="0">
                <a:solidFill>
                  <a:srgbClr val="9FB0CC"/>
                </a:solidFill>
                <a:latin typeface="Malgun Gothic" pitchFamily="34" charset="0"/>
                <a:ea typeface="Malgun Gothic" pitchFamily="34" charset="-122"/>
                <a:cs typeface="Malgun Gothic" pitchFamily="34" charset="-120"/>
              </a:rPr>
              <a:t>↓</a:t>
            </a:r>
            <a:endParaRPr lang="en-US" sz="1400" dirty="0"/>
          </a:p>
        </p:txBody>
      </p:sp>
      <p:sp>
        <p:nvSpPr>
          <p:cNvPr id="50" name="Shape 47"/>
          <p:cNvSpPr/>
          <p:nvPr/>
        </p:nvSpPr>
        <p:spPr>
          <a:xfrm>
            <a:off x="9290304" y="3076600"/>
            <a:ext cx="2322576" cy="904068"/>
          </a:xfrm>
          <a:prstGeom prst="roundRect">
            <a:avLst>
              <a:gd name="adj" fmla="val 6069"/>
            </a:avLst>
          </a:prstGeom>
          <a:solidFill>
            <a:srgbClr val="F2F5FA"/>
          </a:solidFill>
          <a:ln w="12700">
            <a:solidFill>
              <a:srgbClr val="D8E0EC"/>
            </a:solidFill>
            <a:prstDash val="solid"/>
          </a:ln>
        </p:spPr>
      </p:sp>
      <p:sp>
        <p:nvSpPr>
          <p:cNvPr id="51" name="Text 48"/>
          <p:cNvSpPr txBox="1"/>
          <p:nvPr/>
        </p:nvSpPr>
        <p:spPr>
          <a:xfrm>
            <a:off x="9400032" y="3204349"/>
            <a:ext cx="2103120" cy="294805"/>
          </a:xfrm>
          <a:prstGeom prst="rect">
            <a:avLst/>
          </a:prstGeom>
          <a:noFill/>
          <a:ln/>
        </p:spPr>
        <p:txBody>
          <a:bodyPr wrap="square" lIns="0" tIns="0" rIns="0" bIns="0" rtlCol="0" anchor="ctr"/>
          <a:lstStyle/>
          <a:p>
            <a:pPr algn="ctr" indent="0" marL="0">
              <a:buNone/>
            </a:pPr>
            <a:r>
              <a:rPr lang="en-US" sz="1200" b="1" dirty="0">
                <a:solidFill>
                  <a:srgbClr val="15203A"/>
                </a:solidFill>
                <a:latin typeface="Malgun Gothic" pitchFamily="34" charset="0"/>
                <a:ea typeface="Malgun Gothic" pitchFamily="34" charset="-122"/>
                <a:cs typeface="Malgun Gothic" pitchFamily="34" charset="-120"/>
              </a:rPr>
              <a:t>Resource 비교</a:t>
            </a:r>
            <a:endParaRPr lang="en-US" sz="1200" dirty="0"/>
          </a:p>
        </p:txBody>
      </p:sp>
      <p:sp>
        <p:nvSpPr>
          <p:cNvPr id="52" name="Text 49"/>
          <p:cNvSpPr txBox="1"/>
          <p:nvPr/>
        </p:nvSpPr>
        <p:spPr>
          <a:xfrm>
            <a:off x="9381744" y="3499153"/>
            <a:ext cx="2139696" cy="412727"/>
          </a:xfrm>
          <a:prstGeom prst="rect">
            <a:avLst/>
          </a:prstGeom>
          <a:noFill/>
          <a:ln/>
        </p:spPr>
        <p:txBody>
          <a:bodyPr wrap="square" lIns="0" tIns="0" rIns="0" bIns="0" rtlCol="0" anchor="ctr"/>
          <a:lstStyle/>
          <a:p>
            <a:pPr algn="ctr" indent="0" marL="0">
              <a:lnSpc>
                <a:spcPts val="1200"/>
              </a:lnSpc>
              <a:buNone/>
            </a:pPr>
            <a:r>
              <a:rPr lang="en-US" sz="850" dirty="0">
                <a:solidFill>
                  <a:srgbClr val="64748B"/>
                </a:solidFill>
                <a:latin typeface="Courier New" pitchFamily="34" charset="0"/>
                <a:ea typeface="Courier New" pitchFamily="34" charset="-122"/>
                <a:cs typeface="Courier New" pitchFamily="34" charset="-120"/>
              </a:rPr>
              <a:t>VRAM · Time · Steps/sec</a:t>
            </a:r>
            <a:endParaRPr lang="en-US" sz="850" dirty="0"/>
          </a:p>
        </p:txBody>
      </p:sp>
      <p:sp>
        <p:nvSpPr>
          <p:cNvPr id="53" name="Text 50"/>
          <p:cNvSpPr txBox="1"/>
          <p:nvPr/>
        </p:nvSpPr>
        <p:spPr>
          <a:xfrm>
            <a:off x="10222992" y="4019976"/>
            <a:ext cx="457200" cy="255498"/>
          </a:xfrm>
          <a:prstGeom prst="rect">
            <a:avLst/>
          </a:prstGeom>
          <a:noFill/>
          <a:ln/>
        </p:spPr>
        <p:txBody>
          <a:bodyPr wrap="square" lIns="0" tIns="0" rIns="0" bIns="0" rtlCol="0" anchor="ctr"/>
          <a:lstStyle/>
          <a:p>
            <a:pPr algn="ctr" indent="0" marL="0">
              <a:buNone/>
            </a:pPr>
            <a:r>
              <a:rPr lang="en-US" sz="1400" dirty="0">
                <a:solidFill>
                  <a:srgbClr val="9FB0CC"/>
                </a:solidFill>
                <a:latin typeface="Malgun Gothic" pitchFamily="34" charset="0"/>
                <a:ea typeface="Malgun Gothic" pitchFamily="34" charset="-122"/>
                <a:cs typeface="Malgun Gothic" pitchFamily="34" charset="-120"/>
              </a:rPr>
              <a:t>↓</a:t>
            </a:r>
            <a:endParaRPr lang="en-US" sz="1400" dirty="0"/>
          </a:p>
        </p:txBody>
      </p:sp>
      <p:sp>
        <p:nvSpPr>
          <p:cNvPr id="54" name="Shape 51"/>
          <p:cNvSpPr/>
          <p:nvPr/>
        </p:nvSpPr>
        <p:spPr>
          <a:xfrm>
            <a:off x="9290304" y="4314780"/>
            <a:ext cx="2322576" cy="963029"/>
          </a:xfrm>
          <a:prstGeom prst="roundRect">
            <a:avLst>
              <a:gd name="adj" fmla="val 5697"/>
            </a:avLst>
          </a:prstGeom>
          <a:solidFill>
            <a:srgbClr val="F2F5FA"/>
          </a:solidFill>
          <a:ln w="12700">
            <a:solidFill>
              <a:srgbClr val="D8E0EC"/>
            </a:solidFill>
            <a:prstDash val="solid"/>
          </a:ln>
        </p:spPr>
      </p:sp>
      <p:sp>
        <p:nvSpPr>
          <p:cNvPr id="55" name="Text 52"/>
          <p:cNvSpPr txBox="1"/>
          <p:nvPr/>
        </p:nvSpPr>
        <p:spPr>
          <a:xfrm>
            <a:off x="9400032" y="4442529"/>
            <a:ext cx="2103120" cy="294805"/>
          </a:xfrm>
          <a:prstGeom prst="rect">
            <a:avLst/>
          </a:prstGeom>
          <a:noFill/>
          <a:ln/>
        </p:spPr>
        <p:txBody>
          <a:bodyPr wrap="square" lIns="0" tIns="0" rIns="0" bIns="0" rtlCol="0" anchor="ctr"/>
          <a:lstStyle/>
          <a:p>
            <a:pPr algn="ctr" indent="0" marL="0">
              <a:buNone/>
            </a:pPr>
            <a:r>
              <a:rPr lang="en-US" sz="1200" b="1" dirty="0">
                <a:solidFill>
                  <a:srgbClr val="15203A"/>
                </a:solidFill>
                <a:latin typeface="Malgun Gothic" pitchFamily="34" charset="0"/>
                <a:ea typeface="Malgun Gothic" pitchFamily="34" charset="-122"/>
                <a:cs typeface="Malgun Gothic" pitchFamily="34" charset="-120"/>
              </a:rPr>
              <a:t>Quality 비교</a:t>
            </a:r>
            <a:endParaRPr lang="en-US" sz="1200" dirty="0"/>
          </a:p>
        </p:txBody>
      </p:sp>
      <p:sp>
        <p:nvSpPr>
          <p:cNvPr id="56" name="Text 53"/>
          <p:cNvSpPr txBox="1"/>
          <p:nvPr/>
        </p:nvSpPr>
        <p:spPr>
          <a:xfrm>
            <a:off x="9381744" y="4737334"/>
            <a:ext cx="2139696" cy="412727"/>
          </a:xfrm>
          <a:prstGeom prst="rect">
            <a:avLst/>
          </a:prstGeom>
          <a:noFill/>
          <a:ln/>
        </p:spPr>
        <p:txBody>
          <a:bodyPr wrap="square" lIns="0" tIns="0" rIns="0" bIns="0" rtlCol="0" anchor="ctr"/>
          <a:lstStyle/>
          <a:p>
            <a:pPr algn="ctr" indent="0" marL="0">
              <a:lnSpc>
                <a:spcPts val="1200"/>
              </a:lnSpc>
              <a:buNone/>
            </a:pPr>
            <a:r>
              <a:rPr lang="en-US" sz="850" dirty="0">
                <a:solidFill>
                  <a:srgbClr val="64748B"/>
                </a:solidFill>
                <a:latin typeface="Courier New" pitchFamily="34" charset="0"/>
                <a:ea typeface="Courier New" pitchFamily="34" charset="-122"/>
                <a:cs typeface="Courier New" pitchFamily="34" charset="-120"/>
              </a:rPr>
              <a:t>형식 · 구체성 · 경험 정합성</a:t>
            </a:r>
            <a:endParaRPr lang="en-US" sz="850" dirty="0"/>
          </a:p>
        </p:txBody>
      </p:sp>
      <p:sp>
        <p:nvSpPr>
          <p:cNvPr id="57" name="Shape 54"/>
          <p:cNvSpPr/>
          <p:nvPr/>
        </p:nvSpPr>
        <p:spPr>
          <a:xfrm>
            <a:off x="566928" y="5533308"/>
            <a:ext cx="11045952" cy="904068"/>
          </a:xfrm>
          <a:prstGeom prst="roundRect">
            <a:avLst>
              <a:gd name="adj" fmla="val 6069"/>
            </a:avLst>
          </a:prstGeom>
          <a:solidFill>
            <a:srgbClr val="0E1A33"/>
          </a:solidFill>
          <a:ln w="12700">
            <a:solidFill>
              <a:srgbClr val="0E1A33"/>
            </a:solidFill>
            <a:prstDash val="solid"/>
          </a:ln>
        </p:spPr>
      </p:sp>
      <p:sp>
        <p:nvSpPr>
          <p:cNvPr id="58" name="Text 55"/>
          <p:cNvSpPr txBox="1"/>
          <p:nvPr/>
        </p:nvSpPr>
        <p:spPr>
          <a:xfrm>
            <a:off x="804672" y="5690537"/>
            <a:ext cx="2834640" cy="294805"/>
          </a:xfrm>
          <a:prstGeom prst="rect">
            <a:avLst/>
          </a:prstGeom>
          <a:noFill/>
          <a:ln/>
        </p:spPr>
        <p:txBody>
          <a:bodyPr wrap="square" lIns="0" tIns="0" rIns="0" bIns="0" rtlCol="0" anchor="ctr"/>
          <a:lstStyle/>
          <a:p>
            <a:pPr indent="0" marL="0">
              <a:buNone/>
            </a:pPr>
            <a:r>
              <a:rPr lang="en-US" sz="1250" b="1" dirty="0">
                <a:solidFill>
                  <a:srgbClr val="6FA8FF"/>
                </a:solidFill>
                <a:latin typeface="Courier New" pitchFamily="34" charset="0"/>
                <a:ea typeface="Courier New" pitchFamily="34" charset="-122"/>
                <a:cs typeface="Courier New" pitchFamily="34" charset="-120"/>
              </a:rPr>
              <a:t>completion_only_loss = True</a:t>
            </a:r>
            <a:endParaRPr lang="en-US" sz="1250" dirty="0"/>
          </a:p>
        </p:txBody>
      </p:sp>
      <p:sp>
        <p:nvSpPr>
          <p:cNvPr id="59" name="Text 56"/>
          <p:cNvSpPr txBox="1"/>
          <p:nvPr/>
        </p:nvSpPr>
        <p:spPr>
          <a:xfrm>
            <a:off x="3785616" y="5651230"/>
            <a:ext cx="7589520" cy="648571"/>
          </a:xfrm>
          <a:prstGeom prst="rect">
            <a:avLst/>
          </a:prstGeom>
          <a:noFill/>
          <a:ln/>
        </p:spPr>
        <p:txBody>
          <a:bodyPr wrap="square" lIns="0" tIns="0" rIns="0" bIns="0" rtlCol="0" anchor="ctr"/>
          <a:lstStyle/>
          <a:p>
            <a:pPr indent="0" marL="0">
              <a:lnSpc>
                <a:spcPts val="1700"/>
              </a:lnSpc>
              <a:buNone/>
            </a:pPr>
            <a:r>
              <a:rPr lang="en-US" sz="1100" dirty="0">
                <a:solidFill>
                  <a:srgbClr val="B7C6E0"/>
                </a:solidFill>
                <a:latin typeface="Malgun Gothic" pitchFamily="34" charset="0"/>
                <a:ea typeface="Malgun Gothic" pitchFamily="34" charset="-122"/>
                <a:cs typeface="Malgun Gothic" pitchFamily="34" charset="-120"/>
              </a:rPr>
              <a:t>Prompt 구간에는 Loss를 적용하지 않고, 정답인 면접 질문 Completion 구간을 중심으로 학습한다. 모델이 사용자 입력을 외우는 것이 목적이 아니라, 주어진 경험에서 검증 포인트를 찾아 질문 3개로 구성하는 출력 패턴을 익히도록 하기 위한 설정이다.</a:t>
            </a:r>
            <a:endParaRPr lang="en-US" sz="1100" dirty="0"/>
          </a:p>
        </p:txBody>
      </p:sp>
      <p:sp>
        <p:nvSpPr>
          <p:cNvPr id="60" name="Text 57"/>
          <p:cNvSpPr txBox="1"/>
          <p:nvPr/>
        </p:nvSpPr>
        <p:spPr>
          <a:xfrm>
            <a:off x="11277295" y="6355080"/>
            <a:ext cx="457200" cy="274320"/>
          </a:xfrm>
          <a:prstGeom prst="rect">
            <a:avLst/>
          </a:prstGeom>
          <a:noFill/>
          <a:ln/>
        </p:spPr>
        <p:txBody>
          <a:bodyPr wrap="square" lIns="0" tIns="0" rIns="0" bIns="0" rtlCol="0" anchor="ctr"/>
          <a:lstStyle/>
          <a:p>
            <a:pPr algn="r" indent="0" marL="0">
              <a:buNone/>
            </a:pPr>
            <a:r>
              <a:rPr lang="en-US" sz="1000" dirty="0">
                <a:solidFill>
                  <a:srgbClr val="9AA6BC"/>
                </a:solidFill>
                <a:latin typeface="Malgun Gothic" pitchFamily="34" charset="0"/>
                <a:ea typeface="Malgun Gothic" pitchFamily="34" charset="-122"/>
                <a:cs typeface="Malgun Gothic"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66928" y="384048"/>
            <a:ext cx="1975104" cy="308843"/>
          </a:xfrm>
          <a:prstGeom prst="roundRect">
            <a:avLst>
              <a:gd name="adj" fmla="val 44411"/>
            </a:avLst>
          </a:prstGeom>
          <a:solidFill>
            <a:srgbClr val="FAEEDD"/>
          </a:solidFill>
          <a:ln w="12700">
            <a:solidFill>
              <a:srgbClr val="FAEEDD"/>
            </a:solidFill>
            <a:prstDash val="solid"/>
          </a:ln>
        </p:spPr>
      </p:sp>
      <p:sp>
        <p:nvSpPr>
          <p:cNvPr id="4" name="Text 1"/>
          <p:cNvSpPr txBox="1"/>
          <p:nvPr/>
        </p:nvSpPr>
        <p:spPr>
          <a:xfrm>
            <a:off x="566928" y="384048"/>
            <a:ext cx="1975104" cy="308843"/>
          </a:xfrm>
          <a:prstGeom prst="rect">
            <a:avLst/>
          </a:prstGeom>
          <a:noFill/>
          <a:ln/>
        </p:spPr>
        <p:txBody>
          <a:bodyPr wrap="square" lIns="0" tIns="0" rIns="0" bIns="0" rtlCol="0" anchor="ctr"/>
          <a:lstStyle/>
          <a:p>
            <a:pPr algn="ctr" indent="0" marL="0">
              <a:buNone/>
            </a:pPr>
            <a:r>
              <a:rPr lang="en-US" sz="1050" b="1" spc="60" kern="0" dirty="0">
                <a:solidFill>
                  <a:srgbClr val="8A3A12"/>
                </a:solidFill>
                <a:latin typeface="Malgun Gothic" pitchFamily="34" charset="0"/>
                <a:ea typeface="Malgun Gothic" pitchFamily="34" charset="-122"/>
                <a:cs typeface="Malgun Gothic" pitchFamily="34" charset="-120"/>
              </a:rPr>
              <a:t>04  IMPLEMENTATION</a:t>
            </a:r>
            <a:endParaRPr lang="en-US" sz="1050" dirty="0"/>
          </a:p>
        </p:txBody>
      </p:sp>
      <p:sp>
        <p:nvSpPr>
          <p:cNvPr id="5" name="Text 2"/>
          <p:cNvSpPr txBox="1"/>
          <p:nvPr/>
        </p:nvSpPr>
        <p:spPr>
          <a:xfrm>
            <a:off x="566928" y="754660"/>
            <a:ext cx="11057839" cy="576507"/>
          </a:xfrm>
          <a:prstGeom prst="rect">
            <a:avLst/>
          </a:prstGeom>
          <a:noFill/>
          <a:ln/>
        </p:spPr>
        <p:txBody>
          <a:bodyPr wrap="square" lIns="0" tIns="0" rIns="0" bIns="0" rtlCol="0" anchor="ctr"/>
          <a:lstStyle/>
          <a:p>
            <a:pPr indent="0" marL="0">
              <a:buNone/>
            </a:pPr>
            <a:r>
              <a:rPr lang="en-US" sz="3000" b="1" dirty="0">
                <a:solidFill>
                  <a:srgbClr val="15203A"/>
                </a:solidFill>
                <a:latin typeface="Malgun Gothic" pitchFamily="34" charset="0"/>
                <a:ea typeface="Malgun Gothic" pitchFamily="34" charset="-122"/>
                <a:cs typeface="Malgun Gothic" pitchFamily="34" charset="-120"/>
              </a:rPr>
              <a:t>데이터 전처리와 Loss 설계</a:t>
            </a:r>
            <a:endParaRPr lang="en-US" sz="3000" dirty="0"/>
          </a:p>
        </p:txBody>
      </p:sp>
      <p:sp>
        <p:nvSpPr>
          <p:cNvPr id="6" name="Text 3"/>
          <p:cNvSpPr txBox="1"/>
          <p:nvPr/>
        </p:nvSpPr>
        <p:spPr>
          <a:xfrm>
            <a:off x="566928" y="1320873"/>
            <a:ext cx="11057839" cy="329433"/>
          </a:xfrm>
          <a:prstGeom prst="rect">
            <a:avLst/>
          </a:prstGeom>
          <a:noFill/>
          <a:ln/>
        </p:spPr>
        <p:txBody>
          <a:bodyPr wrap="square" lIns="0" tIns="0" rIns="0" bIns="0" rtlCol="0" anchor="t"/>
          <a:lstStyle/>
          <a:p>
            <a:pPr indent="0" marL="0">
              <a:buNone/>
            </a:pPr>
            <a:r>
              <a:rPr lang="en-US" sz="1300" dirty="0">
                <a:solidFill>
                  <a:srgbClr val="64748B"/>
                </a:solidFill>
                <a:latin typeface="Malgun Gothic" pitchFamily="34" charset="0"/>
                <a:ea typeface="Malgun Gothic" pitchFamily="34" charset="-122"/>
                <a:cs typeface="Malgun Gothic" pitchFamily="34" charset="-120"/>
              </a:rPr>
              <a:t>31개 레코드를 prompt / completion 구조로 변환하고 Loss 적용 범위를 검증했다</a:t>
            </a:r>
            <a:endParaRPr lang="en-US" sz="1300" dirty="0"/>
          </a:p>
        </p:txBody>
      </p:sp>
      <p:sp>
        <p:nvSpPr>
          <p:cNvPr id="7" name="Shape 4"/>
          <p:cNvSpPr/>
          <p:nvPr/>
        </p:nvSpPr>
        <p:spPr>
          <a:xfrm>
            <a:off x="566928" y="1887085"/>
            <a:ext cx="3017520" cy="2367798"/>
          </a:xfrm>
          <a:prstGeom prst="roundRect">
            <a:avLst>
              <a:gd name="adj" fmla="val 2317"/>
            </a:avLst>
          </a:prstGeom>
          <a:solidFill>
            <a:srgbClr val="F2F5FA"/>
          </a:solidFill>
          <a:ln w="12700">
            <a:solidFill>
              <a:srgbClr val="F2F5FA"/>
            </a:solidFill>
            <a:prstDash val="solid"/>
          </a:ln>
        </p:spPr>
      </p:sp>
      <p:sp>
        <p:nvSpPr>
          <p:cNvPr id="8" name="Text 5"/>
          <p:cNvSpPr txBox="1"/>
          <p:nvPr/>
        </p:nvSpPr>
        <p:spPr>
          <a:xfrm>
            <a:off x="768096" y="2031212"/>
            <a:ext cx="2651760" cy="267664"/>
          </a:xfrm>
          <a:prstGeom prst="rect">
            <a:avLst/>
          </a:prstGeom>
          <a:noFill/>
          <a:ln/>
        </p:spPr>
        <p:txBody>
          <a:bodyPr wrap="square" lIns="0" tIns="0" rIns="0" bIns="0" rtlCol="0" anchor="ctr"/>
          <a:lstStyle/>
          <a:p>
            <a:pPr indent="0" marL="0">
              <a:buNone/>
            </a:pPr>
            <a:r>
              <a:rPr lang="en-US" sz="950" b="1" spc="100" kern="0" dirty="0">
                <a:solidFill>
                  <a:srgbClr val="64748B"/>
                </a:solidFill>
                <a:latin typeface="Malgun Gothic" pitchFamily="34" charset="0"/>
                <a:ea typeface="Malgun Gothic" pitchFamily="34" charset="-122"/>
                <a:cs typeface="Malgun Gothic" pitchFamily="34" charset="-120"/>
              </a:rPr>
              <a:t>BEFORE  ·  JSONL 원본</a:t>
            </a:r>
            <a:endParaRPr lang="en-US" sz="950" dirty="0"/>
          </a:p>
        </p:txBody>
      </p:sp>
      <p:sp>
        <p:nvSpPr>
          <p:cNvPr id="9" name="Shape 6"/>
          <p:cNvSpPr/>
          <p:nvPr/>
        </p:nvSpPr>
        <p:spPr>
          <a:xfrm>
            <a:off x="768096" y="2401824"/>
            <a:ext cx="2615184" cy="494149"/>
          </a:xfrm>
          <a:prstGeom prst="roundRect">
            <a:avLst>
              <a:gd name="adj" fmla="val 9252"/>
            </a:avLst>
          </a:prstGeom>
          <a:solidFill>
            <a:srgbClr val="FFFFFF"/>
          </a:solidFill>
          <a:ln w="12700">
            <a:solidFill>
              <a:srgbClr val="FFFFFF"/>
            </a:solidFill>
            <a:prstDash val="solid"/>
          </a:ln>
        </p:spPr>
      </p:sp>
      <p:sp>
        <p:nvSpPr>
          <p:cNvPr id="10" name="Text 7"/>
          <p:cNvSpPr txBox="1"/>
          <p:nvPr/>
        </p:nvSpPr>
        <p:spPr>
          <a:xfrm>
            <a:off x="896112" y="2401824"/>
            <a:ext cx="1143000" cy="494149"/>
          </a:xfrm>
          <a:prstGeom prst="rect">
            <a:avLst/>
          </a:prstGeom>
          <a:noFill/>
          <a:ln/>
        </p:spPr>
        <p:txBody>
          <a:bodyPr wrap="square" lIns="0" tIns="0" rIns="0" bIns="0" rtlCol="0" anchor="ctr"/>
          <a:lstStyle/>
          <a:p>
            <a:pPr indent="0" marL="0">
              <a:buNone/>
            </a:pPr>
            <a:r>
              <a:rPr lang="en-US" sz="1000" dirty="0">
                <a:solidFill>
                  <a:srgbClr val="15203A"/>
                </a:solidFill>
                <a:latin typeface="Courier New" pitchFamily="34" charset="0"/>
                <a:ea typeface="Courier New" pitchFamily="34" charset="-122"/>
                <a:cs typeface="Courier New" pitchFamily="34" charset="-120"/>
              </a:rPr>
              <a:t>instruction</a:t>
            </a:r>
            <a:endParaRPr lang="en-US" sz="1000" dirty="0"/>
          </a:p>
        </p:txBody>
      </p:sp>
      <p:sp>
        <p:nvSpPr>
          <p:cNvPr id="11" name="Text 8"/>
          <p:cNvSpPr txBox="1"/>
          <p:nvPr/>
        </p:nvSpPr>
        <p:spPr>
          <a:xfrm>
            <a:off x="2048256" y="2401824"/>
            <a:ext cx="1243584" cy="494149"/>
          </a:xfrm>
          <a:prstGeom prst="rect">
            <a:avLst/>
          </a:prstGeom>
          <a:noFill/>
          <a:ln/>
        </p:spPr>
        <p:txBody>
          <a:bodyPr wrap="square" lIns="0" tIns="0" rIns="0" bIns="0" rtlCol="0" anchor="ctr"/>
          <a:lstStyle/>
          <a:p>
            <a:pPr indent="0" marL="0">
              <a:buNone/>
            </a:pPr>
            <a:r>
              <a:rPr lang="en-US" sz="1000" dirty="0">
                <a:solidFill>
                  <a:srgbClr val="64748B"/>
                </a:solidFill>
                <a:latin typeface="Malgun Gothic" pitchFamily="34" charset="0"/>
                <a:ea typeface="Malgun Gothic" pitchFamily="34" charset="-122"/>
                <a:cs typeface="Malgun Gothic" pitchFamily="34" charset="-120"/>
              </a:rPr>
              <a:t>공통 지시문</a:t>
            </a:r>
            <a:endParaRPr lang="en-US" sz="1000" dirty="0"/>
          </a:p>
        </p:txBody>
      </p:sp>
      <p:sp>
        <p:nvSpPr>
          <p:cNvPr id="12" name="Shape 9"/>
          <p:cNvSpPr/>
          <p:nvPr/>
        </p:nvSpPr>
        <p:spPr>
          <a:xfrm>
            <a:off x="768096" y="2998921"/>
            <a:ext cx="2615184" cy="494149"/>
          </a:xfrm>
          <a:prstGeom prst="roundRect">
            <a:avLst>
              <a:gd name="adj" fmla="val 9252"/>
            </a:avLst>
          </a:prstGeom>
          <a:solidFill>
            <a:srgbClr val="FFFFFF"/>
          </a:solidFill>
          <a:ln w="12700">
            <a:solidFill>
              <a:srgbClr val="FFFFFF"/>
            </a:solidFill>
            <a:prstDash val="solid"/>
          </a:ln>
        </p:spPr>
      </p:sp>
      <p:sp>
        <p:nvSpPr>
          <p:cNvPr id="13" name="Text 10"/>
          <p:cNvSpPr txBox="1"/>
          <p:nvPr/>
        </p:nvSpPr>
        <p:spPr>
          <a:xfrm>
            <a:off x="896112" y="2998921"/>
            <a:ext cx="1143000" cy="494149"/>
          </a:xfrm>
          <a:prstGeom prst="rect">
            <a:avLst/>
          </a:prstGeom>
          <a:noFill/>
          <a:ln/>
        </p:spPr>
        <p:txBody>
          <a:bodyPr wrap="square" lIns="0" tIns="0" rIns="0" bIns="0" rtlCol="0" anchor="ctr"/>
          <a:lstStyle/>
          <a:p>
            <a:pPr indent="0" marL="0">
              <a:buNone/>
            </a:pPr>
            <a:r>
              <a:rPr lang="en-US" sz="1000" dirty="0">
                <a:solidFill>
                  <a:srgbClr val="15203A"/>
                </a:solidFill>
                <a:latin typeface="Courier New" pitchFamily="34" charset="0"/>
                <a:ea typeface="Courier New" pitchFamily="34" charset="-122"/>
                <a:cs typeface="Courier New" pitchFamily="34" charset="-120"/>
              </a:rPr>
              <a:t>input</a:t>
            </a:r>
            <a:endParaRPr lang="en-US" sz="1000" dirty="0"/>
          </a:p>
        </p:txBody>
      </p:sp>
      <p:sp>
        <p:nvSpPr>
          <p:cNvPr id="14" name="Text 11"/>
          <p:cNvSpPr txBox="1"/>
          <p:nvPr/>
        </p:nvSpPr>
        <p:spPr>
          <a:xfrm>
            <a:off x="2048256" y="2998921"/>
            <a:ext cx="1243584" cy="494149"/>
          </a:xfrm>
          <a:prstGeom prst="rect">
            <a:avLst/>
          </a:prstGeom>
          <a:noFill/>
          <a:ln/>
        </p:spPr>
        <p:txBody>
          <a:bodyPr wrap="square" lIns="0" tIns="0" rIns="0" bIns="0" rtlCol="0" anchor="ctr"/>
          <a:lstStyle/>
          <a:p>
            <a:pPr indent="0" marL="0">
              <a:buNone/>
            </a:pPr>
            <a:r>
              <a:rPr lang="en-US" sz="1000" dirty="0">
                <a:solidFill>
                  <a:srgbClr val="64748B"/>
                </a:solidFill>
                <a:latin typeface="Malgun Gothic" pitchFamily="34" charset="0"/>
                <a:ea typeface="Malgun Gothic" pitchFamily="34" charset="-122"/>
                <a:cs typeface="Malgun Gothic" pitchFamily="34" charset="-120"/>
              </a:rPr>
              <a:t>직무 + 경험</a:t>
            </a:r>
            <a:endParaRPr lang="en-US" sz="1000" dirty="0"/>
          </a:p>
        </p:txBody>
      </p:sp>
      <p:sp>
        <p:nvSpPr>
          <p:cNvPr id="15" name="Shape 12"/>
          <p:cNvSpPr/>
          <p:nvPr/>
        </p:nvSpPr>
        <p:spPr>
          <a:xfrm>
            <a:off x="768096" y="3596018"/>
            <a:ext cx="2615184" cy="494149"/>
          </a:xfrm>
          <a:prstGeom prst="roundRect">
            <a:avLst>
              <a:gd name="adj" fmla="val 9252"/>
            </a:avLst>
          </a:prstGeom>
          <a:solidFill>
            <a:srgbClr val="FFFFFF"/>
          </a:solidFill>
          <a:ln w="12700">
            <a:solidFill>
              <a:srgbClr val="FFFFFF"/>
            </a:solidFill>
            <a:prstDash val="solid"/>
          </a:ln>
        </p:spPr>
      </p:sp>
      <p:sp>
        <p:nvSpPr>
          <p:cNvPr id="16" name="Text 13"/>
          <p:cNvSpPr txBox="1"/>
          <p:nvPr/>
        </p:nvSpPr>
        <p:spPr>
          <a:xfrm>
            <a:off x="896112" y="3596018"/>
            <a:ext cx="1143000" cy="494149"/>
          </a:xfrm>
          <a:prstGeom prst="rect">
            <a:avLst/>
          </a:prstGeom>
          <a:noFill/>
          <a:ln/>
        </p:spPr>
        <p:txBody>
          <a:bodyPr wrap="square" lIns="0" tIns="0" rIns="0" bIns="0" rtlCol="0" anchor="ctr"/>
          <a:lstStyle/>
          <a:p>
            <a:pPr indent="0" marL="0">
              <a:buNone/>
            </a:pPr>
            <a:r>
              <a:rPr lang="en-US" sz="1000" dirty="0">
                <a:solidFill>
                  <a:srgbClr val="15203A"/>
                </a:solidFill>
                <a:latin typeface="Courier New" pitchFamily="34" charset="0"/>
                <a:ea typeface="Courier New" pitchFamily="34" charset="-122"/>
                <a:cs typeface="Courier New" pitchFamily="34" charset="-120"/>
              </a:rPr>
              <a:t>output</a:t>
            </a:r>
            <a:endParaRPr lang="en-US" sz="1000" dirty="0"/>
          </a:p>
        </p:txBody>
      </p:sp>
      <p:sp>
        <p:nvSpPr>
          <p:cNvPr id="17" name="Text 14"/>
          <p:cNvSpPr txBox="1"/>
          <p:nvPr/>
        </p:nvSpPr>
        <p:spPr>
          <a:xfrm>
            <a:off x="2048256" y="3596018"/>
            <a:ext cx="1243584" cy="494149"/>
          </a:xfrm>
          <a:prstGeom prst="rect">
            <a:avLst/>
          </a:prstGeom>
          <a:noFill/>
          <a:ln/>
        </p:spPr>
        <p:txBody>
          <a:bodyPr wrap="square" lIns="0" tIns="0" rIns="0" bIns="0" rtlCol="0" anchor="ctr"/>
          <a:lstStyle/>
          <a:p>
            <a:pPr indent="0" marL="0">
              <a:buNone/>
            </a:pPr>
            <a:r>
              <a:rPr lang="en-US" sz="1000" dirty="0">
                <a:solidFill>
                  <a:srgbClr val="64748B"/>
                </a:solidFill>
                <a:latin typeface="Malgun Gothic" pitchFamily="34" charset="0"/>
                <a:ea typeface="Malgun Gothic" pitchFamily="34" charset="-122"/>
                <a:cs typeface="Malgun Gothic" pitchFamily="34" charset="-120"/>
              </a:rPr>
              <a:t>모범 질문 3개</a:t>
            </a:r>
            <a:endParaRPr lang="en-US" sz="1000" dirty="0"/>
          </a:p>
        </p:txBody>
      </p:sp>
      <p:sp>
        <p:nvSpPr>
          <p:cNvPr id="18" name="Text 15"/>
          <p:cNvSpPr txBox="1"/>
          <p:nvPr/>
        </p:nvSpPr>
        <p:spPr>
          <a:xfrm>
            <a:off x="3675888" y="1887085"/>
            <a:ext cx="420624" cy="2367798"/>
          </a:xfrm>
          <a:prstGeom prst="rect">
            <a:avLst/>
          </a:prstGeom>
          <a:noFill/>
          <a:ln/>
        </p:spPr>
        <p:txBody>
          <a:bodyPr wrap="square" lIns="0" tIns="0" rIns="0" bIns="0" rtlCol="0" anchor="ctr"/>
          <a:lstStyle/>
          <a:p>
            <a:pPr algn="ctr" indent="0" marL="0">
              <a:buNone/>
            </a:pPr>
            <a:r>
              <a:rPr lang="en-US" sz="2000" dirty="0">
                <a:solidFill>
                  <a:srgbClr val="9FB0CC"/>
                </a:solidFill>
                <a:latin typeface="Malgun Gothic" pitchFamily="34" charset="0"/>
                <a:ea typeface="Malgun Gothic" pitchFamily="34" charset="-122"/>
                <a:cs typeface="Malgun Gothic" pitchFamily="34" charset="-120"/>
              </a:rPr>
              <a:t>→</a:t>
            </a:r>
            <a:endParaRPr lang="en-US" sz="2000" dirty="0"/>
          </a:p>
        </p:txBody>
      </p:sp>
      <p:sp>
        <p:nvSpPr>
          <p:cNvPr id="19" name="Shape 16"/>
          <p:cNvSpPr/>
          <p:nvPr/>
        </p:nvSpPr>
        <p:spPr>
          <a:xfrm>
            <a:off x="4169664" y="1887085"/>
            <a:ext cx="3529584" cy="2367798"/>
          </a:xfrm>
          <a:prstGeom prst="roundRect">
            <a:avLst>
              <a:gd name="adj" fmla="val 2317"/>
            </a:avLst>
          </a:prstGeom>
          <a:solidFill>
            <a:srgbClr val="E4EDFE"/>
          </a:solidFill>
          <a:ln w="12700">
            <a:solidFill>
              <a:srgbClr val="C9DCFC"/>
            </a:solidFill>
            <a:prstDash val="solid"/>
          </a:ln>
        </p:spPr>
      </p:sp>
      <p:sp>
        <p:nvSpPr>
          <p:cNvPr id="20" name="Text 17"/>
          <p:cNvSpPr txBox="1"/>
          <p:nvPr/>
        </p:nvSpPr>
        <p:spPr>
          <a:xfrm>
            <a:off x="4370832" y="2031212"/>
            <a:ext cx="2743200" cy="267664"/>
          </a:xfrm>
          <a:prstGeom prst="rect">
            <a:avLst/>
          </a:prstGeom>
          <a:noFill/>
          <a:ln/>
        </p:spPr>
        <p:txBody>
          <a:bodyPr wrap="square" lIns="0" tIns="0" rIns="0" bIns="0" rtlCol="0" anchor="ctr"/>
          <a:lstStyle/>
          <a:p>
            <a:pPr indent="0" marL="0">
              <a:buNone/>
            </a:pPr>
            <a:r>
              <a:rPr lang="en-US" sz="950" b="1" spc="100" kern="0" dirty="0">
                <a:solidFill>
                  <a:srgbClr val="2563EB"/>
                </a:solidFill>
                <a:latin typeface="Malgun Gothic" pitchFamily="34" charset="0"/>
                <a:ea typeface="Malgun Gothic" pitchFamily="34" charset="-122"/>
                <a:cs typeface="Malgun Gothic" pitchFamily="34" charset="-120"/>
              </a:rPr>
              <a:t>AFTER  ·  SFT 학습 형식</a:t>
            </a:r>
            <a:endParaRPr lang="en-US" sz="950" dirty="0"/>
          </a:p>
        </p:txBody>
      </p:sp>
      <p:sp>
        <p:nvSpPr>
          <p:cNvPr id="21" name="Shape 18"/>
          <p:cNvSpPr/>
          <p:nvPr/>
        </p:nvSpPr>
        <p:spPr>
          <a:xfrm>
            <a:off x="4370832" y="2401824"/>
            <a:ext cx="3127248" cy="802992"/>
          </a:xfrm>
          <a:prstGeom prst="roundRect">
            <a:avLst>
              <a:gd name="adj" fmla="val 5694"/>
            </a:avLst>
          </a:prstGeom>
          <a:solidFill>
            <a:srgbClr val="FFFFFF"/>
          </a:solidFill>
          <a:ln w="12700">
            <a:solidFill>
              <a:srgbClr val="FFFFFF"/>
            </a:solidFill>
            <a:prstDash val="solid"/>
          </a:ln>
        </p:spPr>
      </p:sp>
      <p:sp>
        <p:nvSpPr>
          <p:cNvPr id="22" name="Text 19"/>
          <p:cNvSpPr txBox="1"/>
          <p:nvPr/>
        </p:nvSpPr>
        <p:spPr>
          <a:xfrm>
            <a:off x="4498848" y="2463593"/>
            <a:ext cx="1097280" cy="267664"/>
          </a:xfrm>
          <a:prstGeom prst="rect">
            <a:avLst/>
          </a:prstGeom>
          <a:noFill/>
          <a:ln/>
        </p:spPr>
        <p:txBody>
          <a:bodyPr wrap="square" lIns="0" tIns="0" rIns="0" bIns="0" rtlCol="0" anchor="ctr"/>
          <a:lstStyle/>
          <a:p>
            <a:pPr indent="0" marL="0">
              <a:buNone/>
            </a:pPr>
            <a:r>
              <a:rPr lang="en-US" sz="1000" b="1" dirty="0">
                <a:solidFill>
                  <a:srgbClr val="2563EB"/>
                </a:solidFill>
                <a:latin typeface="Courier New" pitchFamily="34" charset="0"/>
                <a:ea typeface="Courier New" pitchFamily="34" charset="-122"/>
                <a:cs typeface="Courier New" pitchFamily="34" charset="-120"/>
              </a:rPr>
              <a:t>prompt</a:t>
            </a:r>
            <a:endParaRPr lang="en-US" sz="1000" dirty="0"/>
          </a:p>
        </p:txBody>
      </p:sp>
      <p:sp>
        <p:nvSpPr>
          <p:cNvPr id="23" name="Text 20"/>
          <p:cNvSpPr txBox="1"/>
          <p:nvPr/>
        </p:nvSpPr>
        <p:spPr>
          <a:xfrm>
            <a:off x="4498848" y="2710667"/>
            <a:ext cx="2889504" cy="452970"/>
          </a:xfrm>
          <a:prstGeom prst="rect">
            <a:avLst/>
          </a:prstGeom>
          <a:noFill/>
          <a:ln/>
        </p:spPr>
        <p:txBody>
          <a:bodyPr wrap="square" lIns="0" tIns="0" rIns="0" bIns="0" rtlCol="0" anchor="ctr"/>
          <a:lstStyle/>
          <a:p>
            <a:pPr indent="0" marL="0">
              <a:lnSpc>
                <a:spcPts val="1300"/>
              </a:lnSpc>
              <a:buNone/>
            </a:pPr>
            <a:r>
              <a:rPr lang="en-US" sz="950" dirty="0">
                <a:solidFill>
                  <a:srgbClr val="64748B"/>
                </a:solidFill>
                <a:latin typeface="Malgun Gothic" pitchFamily="34" charset="0"/>
                <a:ea typeface="Malgun Gothic" pitchFamily="34" charset="-122"/>
                <a:cs typeface="Malgun Gothic" pitchFamily="34" charset="-120"/>
              </a:rPr>
              <a:t>Qwen Chat Template 적용</a:t>
            </a:r>
            <a:endParaRPr lang="en-US" sz="950" dirty="0"/>
          </a:p>
          <a:p>
            <a:pPr indent="0" marL="0">
              <a:lnSpc>
                <a:spcPts val="1300"/>
              </a:lnSpc>
              <a:buNone/>
            </a:pPr>
            <a:r>
              <a:rPr lang="en-US" sz="950" dirty="0">
                <a:solidFill>
                  <a:srgbClr val="64748B"/>
                </a:solidFill>
                <a:latin typeface="Malgun Gothic" pitchFamily="34" charset="0"/>
                <a:ea typeface="Malgun Gothic" pitchFamily="34" charset="-122"/>
                <a:cs typeface="Malgun Gothic" pitchFamily="34" charset="-120"/>
              </a:rPr>
              <a:t>instruction + input → user turn</a:t>
            </a:r>
            <a:endParaRPr lang="en-US" sz="950" dirty="0"/>
          </a:p>
        </p:txBody>
      </p:sp>
      <p:sp>
        <p:nvSpPr>
          <p:cNvPr id="24" name="Shape 21"/>
          <p:cNvSpPr/>
          <p:nvPr/>
        </p:nvSpPr>
        <p:spPr>
          <a:xfrm>
            <a:off x="4370832" y="3287175"/>
            <a:ext cx="3127248" cy="802992"/>
          </a:xfrm>
          <a:prstGeom prst="roundRect">
            <a:avLst>
              <a:gd name="adj" fmla="val 5694"/>
            </a:avLst>
          </a:prstGeom>
          <a:solidFill>
            <a:srgbClr val="FFFFFF"/>
          </a:solidFill>
          <a:ln w="12700">
            <a:solidFill>
              <a:srgbClr val="FFFFFF"/>
            </a:solidFill>
            <a:prstDash val="solid"/>
          </a:ln>
        </p:spPr>
      </p:sp>
      <p:sp>
        <p:nvSpPr>
          <p:cNvPr id="25" name="Text 22"/>
          <p:cNvSpPr txBox="1"/>
          <p:nvPr/>
        </p:nvSpPr>
        <p:spPr>
          <a:xfrm>
            <a:off x="4498848" y="3348943"/>
            <a:ext cx="1280160" cy="267664"/>
          </a:xfrm>
          <a:prstGeom prst="rect">
            <a:avLst/>
          </a:prstGeom>
          <a:noFill/>
          <a:ln/>
        </p:spPr>
        <p:txBody>
          <a:bodyPr wrap="square" lIns="0" tIns="0" rIns="0" bIns="0" rtlCol="0" anchor="ctr"/>
          <a:lstStyle/>
          <a:p>
            <a:pPr indent="0" marL="0">
              <a:buNone/>
            </a:pPr>
            <a:r>
              <a:rPr lang="en-US" sz="1000" b="1" dirty="0">
                <a:solidFill>
                  <a:srgbClr val="2563EB"/>
                </a:solidFill>
                <a:latin typeface="Courier New" pitchFamily="34" charset="0"/>
                <a:ea typeface="Courier New" pitchFamily="34" charset="-122"/>
                <a:cs typeface="Courier New" pitchFamily="34" charset="-120"/>
              </a:rPr>
              <a:t>completion</a:t>
            </a:r>
            <a:endParaRPr lang="en-US" sz="1000" dirty="0"/>
          </a:p>
        </p:txBody>
      </p:sp>
      <p:sp>
        <p:nvSpPr>
          <p:cNvPr id="26" name="Text 23"/>
          <p:cNvSpPr txBox="1"/>
          <p:nvPr/>
        </p:nvSpPr>
        <p:spPr>
          <a:xfrm>
            <a:off x="4498848" y="3596018"/>
            <a:ext cx="2889504" cy="452970"/>
          </a:xfrm>
          <a:prstGeom prst="rect">
            <a:avLst/>
          </a:prstGeom>
          <a:noFill/>
          <a:ln/>
        </p:spPr>
        <p:txBody>
          <a:bodyPr wrap="square" lIns="0" tIns="0" rIns="0" bIns="0" rtlCol="0" anchor="ctr"/>
          <a:lstStyle/>
          <a:p>
            <a:pPr indent="0" marL="0">
              <a:lnSpc>
                <a:spcPts val="1300"/>
              </a:lnSpc>
              <a:buNone/>
            </a:pPr>
            <a:r>
              <a:rPr lang="en-US" sz="950" dirty="0">
                <a:solidFill>
                  <a:srgbClr val="64748B"/>
                </a:solidFill>
                <a:latin typeface="Malgun Gothic" pitchFamily="34" charset="0"/>
                <a:ea typeface="Malgun Gothic" pitchFamily="34" charset="-122"/>
                <a:cs typeface="Malgun Gothic" pitchFamily="34" charset="-120"/>
              </a:rPr>
              <a:t>정답 질문 3개 + EOS 토큰</a:t>
            </a:r>
            <a:endParaRPr lang="en-US" sz="950" dirty="0"/>
          </a:p>
          <a:p>
            <a:pPr indent="0" marL="0">
              <a:lnSpc>
                <a:spcPts val="1300"/>
              </a:lnSpc>
              <a:buNone/>
            </a:pPr>
            <a:r>
              <a:rPr lang="en-US" sz="950" dirty="0">
                <a:solidFill>
                  <a:srgbClr val="64748B"/>
                </a:solidFill>
                <a:latin typeface="Malgun Gothic" pitchFamily="34" charset="0"/>
                <a:ea typeface="Malgun Gothic" pitchFamily="34" charset="-122"/>
                <a:cs typeface="Malgun Gothic" pitchFamily="34" charset="-120"/>
              </a:rPr>
              <a:t>output + &lt;|im_end|&gt;</a:t>
            </a:r>
            <a:endParaRPr lang="en-US" sz="950" dirty="0"/>
          </a:p>
        </p:txBody>
      </p:sp>
      <p:sp>
        <p:nvSpPr>
          <p:cNvPr id="27" name="Shape 24"/>
          <p:cNvSpPr/>
          <p:nvPr/>
        </p:nvSpPr>
        <p:spPr>
          <a:xfrm>
            <a:off x="7955280" y="1887085"/>
            <a:ext cx="3657600" cy="2367798"/>
          </a:xfrm>
          <a:prstGeom prst="roundRect">
            <a:avLst>
              <a:gd name="adj" fmla="val 2317"/>
            </a:avLst>
          </a:prstGeom>
          <a:solidFill>
            <a:srgbClr val="0E1A33"/>
          </a:solidFill>
          <a:ln w="12700">
            <a:solidFill>
              <a:srgbClr val="0E1A33"/>
            </a:solidFill>
            <a:prstDash val="solid"/>
          </a:ln>
        </p:spPr>
      </p:sp>
      <p:sp>
        <p:nvSpPr>
          <p:cNvPr id="28" name="Text 25"/>
          <p:cNvSpPr txBox="1"/>
          <p:nvPr/>
        </p:nvSpPr>
        <p:spPr>
          <a:xfrm>
            <a:off x="8156448" y="2031212"/>
            <a:ext cx="3291840" cy="288254"/>
          </a:xfrm>
          <a:prstGeom prst="rect">
            <a:avLst/>
          </a:prstGeom>
          <a:noFill/>
          <a:ln/>
        </p:spPr>
        <p:txBody>
          <a:bodyPr wrap="square" lIns="0" tIns="0" rIns="0" bIns="0" rtlCol="0" anchor="ctr"/>
          <a:lstStyle/>
          <a:p>
            <a:pPr indent="0" marL="0">
              <a:buNone/>
            </a:pPr>
            <a:r>
              <a:rPr lang="en-US" sz="1100" b="1" spc="80" kern="0" dirty="0">
                <a:solidFill>
                  <a:srgbClr val="6FA8FF"/>
                </a:solidFill>
                <a:latin typeface="Malgun Gothic" pitchFamily="34" charset="0"/>
                <a:ea typeface="Malgun Gothic" pitchFamily="34" charset="-122"/>
                <a:cs typeface="Malgun Gothic" pitchFamily="34" charset="-120"/>
              </a:rPr>
              <a:t>Loss Label Masking 진단</a:t>
            </a:r>
            <a:endParaRPr lang="en-US" sz="1100" dirty="0"/>
          </a:p>
        </p:txBody>
      </p:sp>
      <p:sp>
        <p:nvSpPr>
          <p:cNvPr id="29" name="Text 26"/>
          <p:cNvSpPr txBox="1"/>
          <p:nvPr/>
        </p:nvSpPr>
        <p:spPr>
          <a:xfrm>
            <a:off x="8156448" y="2443003"/>
            <a:ext cx="2011680" cy="329433"/>
          </a:xfrm>
          <a:prstGeom prst="rect">
            <a:avLst/>
          </a:prstGeom>
          <a:noFill/>
          <a:ln/>
        </p:spPr>
        <p:txBody>
          <a:bodyPr wrap="square" lIns="0" tIns="0" rIns="0" bIns="0" rtlCol="0" anchor="ctr"/>
          <a:lstStyle/>
          <a:p>
            <a:pPr indent="0" marL="0">
              <a:buNone/>
            </a:pPr>
            <a:r>
              <a:rPr lang="en-US" sz="1050" dirty="0">
                <a:solidFill>
                  <a:srgbClr val="9BADCC"/>
                </a:solidFill>
                <a:latin typeface="Malgun Gothic" pitchFamily="34" charset="0"/>
                <a:ea typeface="Malgun Gothic" pitchFamily="34" charset="-122"/>
                <a:cs typeface="Malgun Gothic" pitchFamily="34" charset="-120"/>
              </a:rPr>
              <a:t>input_ids shape</a:t>
            </a:r>
            <a:endParaRPr lang="en-US" sz="1050" dirty="0"/>
          </a:p>
        </p:txBody>
      </p:sp>
      <p:sp>
        <p:nvSpPr>
          <p:cNvPr id="30" name="Text 27"/>
          <p:cNvSpPr txBox="1"/>
          <p:nvPr/>
        </p:nvSpPr>
        <p:spPr>
          <a:xfrm>
            <a:off x="10186416" y="2443003"/>
            <a:ext cx="1243584" cy="329433"/>
          </a:xfrm>
          <a:prstGeom prst="rect">
            <a:avLst/>
          </a:prstGeom>
          <a:noFill/>
          <a:ln/>
        </p:spPr>
        <p:txBody>
          <a:bodyPr wrap="square" lIns="0" tIns="0" rIns="0" bIns="0" rtlCol="0" anchor="ctr"/>
          <a:lstStyle/>
          <a:p>
            <a:pPr algn="r" indent="0" marL="0">
              <a:buNone/>
            </a:pPr>
            <a:r>
              <a:rPr lang="en-US" sz="1100" dirty="0">
                <a:solidFill>
                  <a:srgbClr val="FFFFFF"/>
                </a:solidFill>
                <a:latin typeface="Courier New" pitchFamily="34" charset="0"/>
                <a:ea typeface="Courier New" pitchFamily="34" charset="-122"/>
                <a:cs typeface="Courier New" pitchFamily="34" charset="-120"/>
              </a:rPr>
              <a:t>(1, 154)</a:t>
            </a:r>
            <a:endParaRPr lang="en-US" sz="1100" dirty="0"/>
          </a:p>
        </p:txBody>
      </p:sp>
      <p:sp>
        <p:nvSpPr>
          <p:cNvPr id="31" name="Text 28"/>
          <p:cNvSpPr txBox="1"/>
          <p:nvPr/>
        </p:nvSpPr>
        <p:spPr>
          <a:xfrm>
            <a:off x="8156448" y="2854794"/>
            <a:ext cx="2011680" cy="329433"/>
          </a:xfrm>
          <a:prstGeom prst="rect">
            <a:avLst/>
          </a:prstGeom>
          <a:noFill/>
          <a:ln/>
        </p:spPr>
        <p:txBody>
          <a:bodyPr wrap="square" lIns="0" tIns="0" rIns="0" bIns="0" rtlCol="0" anchor="ctr"/>
          <a:lstStyle/>
          <a:p>
            <a:pPr indent="0" marL="0">
              <a:buNone/>
            </a:pPr>
            <a:r>
              <a:rPr lang="en-US" sz="1050" dirty="0">
                <a:solidFill>
                  <a:srgbClr val="9BADCC"/>
                </a:solidFill>
                <a:latin typeface="Malgun Gothic" pitchFamily="34" charset="0"/>
                <a:ea typeface="Malgun Gothic" pitchFamily="34" charset="-122"/>
                <a:cs typeface="Malgun Gothic" pitchFamily="34" charset="-120"/>
              </a:rPr>
              <a:t>labels shape</a:t>
            </a:r>
            <a:endParaRPr lang="en-US" sz="1050" dirty="0"/>
          </a:p>
        </p:txBody>
      </p:sp>
      <p:sp>
        <p:nvSpPr>
          <p:cNvPr id="32" name="Text 29"/>
          <p:cNvSpPr txBox="1"/>
          <p:nvPr/>
        </p:nvSpPr>
        <p:spPr>
          <a:xfrm>
            <a:off x="10186416" y="2854794"/>
            <a:ext cx="1243584" cy="329433"/>
          </a:xfrm>
          <a:prstGeom prst="rect">
            <a:avLst/>
          </a:prstGeom>
          <a:noFill/>
          <a:ln/>
        </p:spPr>
        <p:txBody>
          <a:bodyPr wrap="square" lIns="0" tIns="0" rIns="0" bIns="0" rtlCol="0" anchor="ctr"/>
          <a:lstStyle/>
          <a:p>
            <a:pPr algn="r" indent="0" marL="0">
              <a:buNone/>
            </a:pPr>
            <a:r>
              <a:rPr lang="en-US" sz="1100" dirty="0">
                <a:solidFill>
                  <a:srgbClr val="FFFFFF"/>
                </a:solidFill>
                <a:latin typeface="Courier New" pitchFamily="34" charset="0"/>
                <a:ea typeface="Courier New" pitchFamily="34" charset="-122"/>
                <a:cs typeface="Courier New" pitchFamily="34" charset="-120"/>
              </a:rPr>
              <a:t>(1, 154)</a:t>
            </a:r>
            <a:endParaRPr lang="en-US" sz="1100" dirty="0"/>
          </a:p>
        </p:txBody>
      </p:sp>
      <p:sp>
        <p:nvSpPr>
          <p:cNvPr id="33" name="Text 30"/>
          <p:cNvSpPr txBox="1"/>
          <p:nvPr/>
        </p:nvSpPr>
        <p:spPr>
          <a:xfrm>
            <a:off x="8156448" y="3266585"/>
            <a:ext cx="2011680" cy="329433"/>
          </a:xfrm>
          <a:prstGeom prst="rect">
            <a:avLst/>
          </a:prstGeom>
          <a:noFill/>
          <a:ln/>
        </p:spPr>
        <p:txBody>
          <a:bodyPr wrap="square" lIns="0" tIns="0" rIns="0" bIns="0" rtlCol="0" anchor="ctr"/>
          <a:lstStyle/>
          <a:p>
            <a:pPr indent="0" marL="0">
              <a:buNone/>
            </a:pPr>
            <a:r>
              <a:rPr lang="en-US" sz="1050" dirty="0">
                <a:solidFill>
                  <a:srgbClr val="9BADCC"/>
                </a:solidFill>
                <a:latin typeface="Malgun Gothic" pitchFamily="34" charset="0"/>
                <a:ea typeface="Malgun Gothic" pitchFamily="34" charset="-122"/>
                <a:cs typeface="Malgun Gothic" pitchFamily="34" charset="-120"/>
              </a:rPr>
              <a:t>Loss 적용 token 수</a:t>
            </a:r>
            <a:endParaRPr lang="en-US" sz="1050" dirty="0"/>
          </a:p>
        </p:txBody>
      </p:sp>
      <p:sp>
        <p:nvSpPr>
          <p:cNvPr id="34" name="Text 31"/>
          <p:cNvSpPr txBox="1"/>
          <p:nvPr/>
        </p:nvSpPr>
        <p:spPr>
          <a:xfrm>
            <a:off x="10186416" y="3266585"/>
            <a:ext cx="1243584" cy="329433"/>
          </a:xfrm>
          <a:prstGeom prst="rect">
            <a:avLst/>
          </a:prstGeom>
          <a:noFill/>
          <a:ln/>
        </p:spPr>
        <p:txBody>
          <a:bodyPr wrap="square" lIns="0" tIns="0" rIns="0" bIns="0" rtlCol="0" anchor="ctr"/>
          <a:lstStyle/>
          <a:p>
            <a:pPr algn="r" indent="0" marL="0">
              <a:buNone/>
            </a:pPr>
            <a:r>
              <a:rPr lang="en-US" sz="1500" b="1" dirty="0">
                <a:solidFill>
                  <a:srgbClr val="6FA8FF"/>
                </a:solidFill>
                <a:latin typeface="Courier New" pitchFamily="34" charset="0"/>
                <a:ea typeface="Courier New" pitchFamily="34" charset="-122"/>
                <a:cs typeface="Courier New" pitchFamily="34" charset="-120"/>
              </a:rPr>
              <a:t>76</a:t>
            </a:r>
            <a:endParaRPr lang="en-US" sz="1500" dirty="0"/>
          </a:p>
        </p:txBody>
      </p:sp>
      <p:sp>
        <p:nvSpPr>
          <p:cNvPr id="35" name="Text 32"/>
          <p:cNvSpPr txBox="1"/>
          <p:nvPr/>
        </p:nvSpPr>
        <p:spPr>
          <a:xfrm>
            <a:off x="8156448" y="3719555"/>
            <a:ext cx="3255264" cy="432381"/>
          </a:xfrm>
          <a:prstGeom prst="rect">
            <a:avLst/>
          </a:prstGeom>
          <a:noFill/>
          <a:ln/>
        </p:spPr>
        <p:txBody>
          <a:bodyPr wrap="square" lIns="0" tIns="0" rIns="0" bIns="0" rtlCol="0" anchor="ctr"/>
          <a:lstStyle/>
          <a:p>
            <a:pPr indent="0" marL="0">
              <a:lnSpc>
                <a:spcPts val="1300"/>
              </a:lnSpc>
              <a:buNone/>
            </a:pPr>
            <a:r>
              <a:rPr lang="en-US" sz="950" dirty="0">
                <a:solidFill>
                  <a:srgbClr val="9BADCC"/>
                </a:solidFill>
                <a:latin typeface="Malgun Gothic" pitchFamily="34" charset="0"/>
                <a:ea typeface="Malgun Gothic" pitchFamily="34" charset="-122"/>
                <a:cs typeface="Malgun Gothic" pitchFamily="34" charset="-120"/>
              </a:rPr>
              <a:t>decoded labels에 면접 질문 3개와 종료 토큰만 포함 — prompt 구간이 Loss에서 제외되었음을 확인</a:t>
            </a:r>
            <a:endParaRPr lang="en-US" sz="950" dirty="0"/>
          </a:p>
        </p:txBody>
      </p:sp>
      <p:sp>
        <p:nvSpPr>
          <p:cNvPr id="36" name="Shape 33"/>
          <p:cNvSpPr/>
          <p:nvPr/>
        </p:nvSpPr>
        <p:spPr>
          <a:xfrm>
            <a:off x="566928" y="4481369"/>
            <a:ext cx="7187184" cy="1956007"/>
          </a:xfrm>
          <a:prstGeom prst="roundRect">
            <a:avLst>
              <a:gd name="adj" fmla="val 2805"/>
            </a:avLst>
          </a:prstGeom>
          <a:solidFill>
            <a:srgbClr val="FAFBFD"/>
          </a:solidFill>
          <a:ln w="12700">
            <a:solidFill>
              <a:srgbClr val="D8E0EC"/>
            </a:solidFill>
            <a:prstDash val="solid"/>
          </a:ln>
        </p:spPr>
      </p:sp>
      <p:sp>
        <p:nvSpPr>
          <p:cNvPr id="37" name="Text 34"/>
          <p:cNvSpPr txBox="1"/>
          <p:nvPr/>
        </p:nvSpPr>
        <p:spPr>
          <a:xfrm>
            <a:off x="768096" y="4625496"/>
            <a:ext cx="2926080" cy="267664"/>
          </a:xfrm>
          <a:prstGeom prst="rect">
            <a:avLst/>
          </a:prstGeom>
          <a:noFill/>
          <a:ln/>
        </p:spPr>
        <p:txBody>
          <a:bodyPr wrap="square" lIns="0" tIns="0" rIns="0" bIns="0" rtlCol="0" anchor="ctr"/>
          <a:lstStyle/>
          <a:p>
            <a:pPr indent="0" marL="0">
              <a:buNone/>
            </a:pPr>
            <a:r>
              <a:rPr lang="en-US" sz="950" b="1" spc="100" kern="0" dirty="0">
                <a:solidFill>
                  <a:srgbClr val="64748B"/>
                </a:solidFill>
                <a:latin typeface="Malgun Gothic" pitchFamily="34" charset="0"/>
                <a:ea typeface="Malgun Gothic" pitchFamily="34" charset="-122"/>
                <a:cs typeface="Malgun Gothic" pitchFamily="34" charset="-120"/>
              </a:rPr>
              <a:t>decoded labels  (실제 출력)</a:t>
            </a:r>
            <a:endParaRPr lang="en-US" sz="950" dirty="0"/>
          </a:p>
        </p:txBody>
      </p:sp>
      <p:sp>
        <p:nvSpPr>
          <p:cNvPr id="38" name="Text 35"/>
          <p:cNvSpPr txBox="1"/>
          <p:nvPr/>
        </p:nvSpPr>
        <p:spPr>
          <a:xfrm>
            <a:off x="768096" y="4954928"/>
            <a:ext cx="6784848" cy="1297142"/>
          </a:xfrm>
          <a:prstGeom prst="rect">
            <a:avLst/>
          </a:prstGeom>
          <a:noFill/>
          <a:ln/>
        </p:spPr>
        <p:txBody>
          <a:bodyPr wrap="square" lIns="0" tIns="0" rIns="0" bIns="0" rtlCol="0" anchor="ctr"/>
          <a:lstStyle/>
          <a:p>
            <a:pPr indent="0" marL="0">
              <a:lnSpc>
                <a:spcPts val="2000"/>
              </a:lnSpc>
              <a:buNone/>
            </a:pPr>
            <a:r>
              <a:rPr lang="en-US" sz="1100" dirty="0">
                <a:solidFill>
                  <a:srgbClr val="35415C"/>
                </a:solidFill>
                <a:latin typeface="Malgun Gothic" pitchFamily="34" charset="0"/>
                <a:ea typeface="Malgun Gothic" pitchFamily="34" charset="-122"/>
                <a:cs typeface="Malgun Gothic" pitchFamily="34" charset="-120"/>
              </a:rPr>
              <a:t>1. 실험 전에 표본 크기를 계산해야 하는 이유와 필요한 입력값을 설명해보세요.</a:t>
            </a:r>
            <a:endParaRPr lang="en-US" sz="1100" dirty="0"/>
          </a:p>
          <a:p>
            <a:pPr indent="0" marL="0">
              <a:lnSpc>
                <a:spcPts val="2000"/>
              </a:lnSpc>
              <a:buNone/>
            </a:pPr>
            <a:r>
              <a:rPr lang="en-US" sz="1100" dirty="0">
                <a:solidFill>
                  <a:srgbClr val="35415C"/>
                </a:solidFill>
                <a:latin typeface="Malgun Gothic" pitchFamily="34" charset="0"/>
                <a:ea typeface="Malgun Gothic" pitchFamily="34" charset="-122"/>
                <a:cs typeface="Malgun Gothic" pitchFamily="34" charset="-120"/>
              </a:rPr>
              <a:t>2. 여러 지표를 동시에 검정할 때 발생하는 다중비교 문제를 어떻게 처리하겠습니까?</a:t>
            </a:r>
            <a:endParaRPr lang="en-US" sz="1100" dirty="0"/>
          </a:p>
          <a:p>
            <a:pPr indent="0" marL="0">
              <a:lnSpc>
                <a:spcPts val="2000"/>
              </a:lnSpc>
              <a:buNone/>
            </a:pPr>
            <a:r>
              <a:rPr lang="en-US" sz="1100" dirty="0">
                <a:solidFill>
                  <a:srgbClr val="35415C"/>
                </a:solidFill>
                <a:latin typeface="Malgun Gothic" pitchFamily="34" charset="0"/>
                <a:ea typeface="Malgun Gothic" pitchFamily="34" charset="-122"/>
                <a:cs typeface="Malgun Gothic" pitchFamily="34" charset="-120"/>
              </a:rPr>
              <a:t>3. 통계적으로 유의하지만 실제 효과크기가 매우 작은 결과를 어떻게 해석하겠습니까?</a:t>
            </a:r>
            <a:pPr indent="0" marL="0">
              <a:lnSpc>
                <a:spcPts val="2000"/>
              </a:lnSpc>
              <a:buNone/>
            </a:pPr>
            <a:r>
              <a:rPr lang="en-US" sz="1100" b="1" dirty="0">
                <a:solidFill>
                  <a:srgbClr val="2563EB"/>
                </a:solidFill>
                <a:latin typeface="Malgun Gothic" pitchFamily="34" charset="0"/>
                <a:ea typeface="Malgun Gothic" pitchFamily="34" charset="-122"/>
                <a:cs typeface="Malgun Gothic" pitchFamily="34" charset="-120"/>
              </a:rPr>
              <a:t>&lt;|im_end|&gt;</a:t>
            </a:r>
            <a:endParaRPr lang="en-US" sz="1100" dirty="0"/>
          </a:p>
        </p:txBody>
      </p:sp>
      <p:sp>
        <p:nvSpPr>
          <p:cNvPr id="39" name="Shape 36"/>
          <p:cNvSpPr/>
          <p:nvPr/>
        </p:nvSpPr>
        <p:spPr>
          <a:xfrm>
            <a:off x="7955280" y="4481369"/>
            <a:ext cx="3657600" cy="1956007"/>
          </a:xfrm>
          <a:prstGeom prst="roundRect">
            <a:avLst>
              <a:gd name="adj" fmla="val 2805"/>
            </a:avLst>
          </a:prstGeom>
          <a:solidFill>
            <a:srgbClr val="F2F5FA"/>
          </a:solidFill>
          <a:ln w="12700">
            <a:solidFill>
              <a:srgbClr val="F2F5FA"/>
            </a:solidFill>
            <a:prstDash val="solid"/>
          </a:ln>
        </p:spPr>
      </p:sp>
      <p:sp>
        <p:nvSpPr>
          <p:cNvPr id="40" name="Text 37"/>
          <p:cNvSpPr txBox="1"/>
          <p:nvPr/>
        </p:nvSpPr>
        <p:spPr>
          <a:xfrm>
            <a:off x="8156448" y="4646085"/>
            <a:ext cx="3291840" cy="288254"/>
          </a:xfrm>
          <a:prstGeom prst="rect">
            <a:avLst/>
          </a:prstGeom>
          <a:noFill/>
          <a:ln/>
        </p:spPr>
        <p:txBody>
          <a:bodyPr wrap="square" lIns="0" tIns="0" rIns="0" bIns="0" rtlCol="0" anchor="ctr"/>
          <a:lstStyle/>
          <a:p>
            <a:pPr indent="0" marL="0">
              <a:buNone/>
            </a:pPr>
            <a:r>
              <a:rPr lang="en-US" sz="1200" b="1" dirty="0">
                <a:solidFill>
                  <a:srgbClr val="15203A"/>
                </a:solidFill>
                <a:latin typeface="Malgun Gothic" pitchFamily="34" charset="0"/>
                <a:ea typeface="Malgun Gothic" pitchFamily="34" charset="-122"/>
                <a:cs typeface="Malgun Gothic" pitchFamily="34" charset="-120"/>
              </a:rPr>
              <a:t>이 설계가 의미하는 것</a:t>
            </a:r>
            <a:endParaRPr lang="en-US" sz="1200" dirty="0"/>
          </a:p>
        </p:txBody>
      </p:sp>
      <p:sp>
        <p:nvSpPr>
          <p:cNvPr id="41" name="Shape 38"/>
          <p:cNvSpPr/>
          <p:nvPr/>
        </p:nvSpPr>
        <p:spPr>
          <a:xfrm>
            <a:off x="8174736" y="5140234"/>
            <a:ext cx="109728" cy="123537"/>
          </a:xfrm>
          <a:prstGeom prst="ellipse">
            <a:avLst/>
          </a:prstGeom>
          <a:solidFill>
            <a:srgbClr val="2563EB"/>
          </a:solidFill>
          <a:ln w="12700">
            <a:solidFill>
              <a:srgbClr val="2563EB"/>
            </a:solidFill>
            <a:prstDash val="solid"/>
          </a:ln>
        </p:spPr>
      </p:sp>
      <p:sp>
        <p:nvSpPr>
          <p:cNvPr id="42" name="Text 39"/>
          <p:cNvSpPr txBox="1"/>
          <p:nvPr/>
        </p:nvSpPr>
        <p:spPr>
          <a:xfrm>
            <a:off x="8375904" y="5078466"/>
            <a:ext cx="3054096" cy="370612"/>
          </a:xfrm>
          <a:prstGeom prst="rect">
            <a:avLst/>
          </a:prstGeom>
          <a:noFill/>
          <a:ln/>
        </p:spPr>
        <p:txBody>
          <a:bodyPr wrap="square" lIns="0" tIns="0" rIns="0" bIns="0" rtlCol="0" anchor="ctr"/>
          <a:lstStyle/>
          <a:p>
            <a:pPr indent="0" marL="0">
              <a:buNone/>
            </a:pPr>
            <a:r>
              <a:rPr lang="en-US" sz="1050" dirty="0">
                <a:solidFill>
                  <a:srgbClr val="45516D"/>
                </a:solidFill>
                <a:latin typeface="Malgun Gothic" pitchFamily="34" charset="0"/>
                <a:ea typeface="Malgun Gothic" pitchFamily="34" charset="-122"/>
                <a:cs typeface="Malgun Gothic" pitchFamily="34" charset="-120"/>
              </a:rPr>
              <a:t>사용자 입력을 외우는 것이 목적이 아니다</a:t>
            </a:r>
            <a:endParaRPr lang="en-US" sz="1050" dirty="0"/>
          </a:p>
        </p:txBody>
      </p:sp>
      <p:sp>
        <p:nvSpPr>
          <p:cNvPr id="43" name="Shape 40"/>
          <p:cNvSpPr/>
          <p:nvPr/>
        </p:nvSpPr>
        <p:spPr>
          <a:xfrm>
            <a:off x="8174736" y="5572615"/>
            <a:ext cx="109728" cy="123537"/>
          </a:xfrm>
          <a:prstGeom prst="ellipse">
            <a:avLst/>
          </a:prstGeom>
          <a:solidFill>
            <a:srgbClr val="2563EB"/>
          </a:solidFill>
          <a:ln w="12700">
            <a:solidFill>
              <a:srgbClr val="2563EB"/>
            </a:solidFill>
            <a:prstDash val="solid"/>
          </a:ln>
        </p:spPr>
      </p:sp>
      <p:sp>
        <p:nvSpPr>
          <p:cNvPr id="44" name="Text 41"/>
          <p:cNvSpPr txBox="1"/>
          <p:nvPr/>
        </p:nvSpPr>
        <p:spPr>
          <a:xfrm>
            <a:off x="8375904" y="5510846"/>
            <a:ext cx="3054096" cy="370612"/>
          </a:xfrm>
          <a:prstGeom prst="rect">
            <a:avLst/>
          </a:prstGeom>
          <a:noFill/>
          <a:ln/>
        </p:spPr>
        <p:txBody>
          <a:bodyPr wrap="square" lIns="0" tIns="0" rIns="0" bIns="0" rtlCol="0" anchor="ctr"/>
          <a:lstStyle/>
          <a:p>
            <a:pPr indent="0" marL="0">
              <a:buNone/>
            </a:pPr>
            <a:r>
              <a:rPr lang="en-US" sz="1050" dirty="0">
                <a:solidFill>
                  <a:srgbClr val="45516D"/>
                </a:solidFill>
                <a:latin typeface="Malgun Gothic" pitchFamily="34" charset="0"/>
                <a:ea typeface="Malgun Gothic" pitchFamily="34" charset="-122"/>
                <a:cs typeface="Malgun Gothic" pitchFamily="34" charset="-120"/>
              </a:rPr>
              <a:t>Assistant가 생성해야 할 질문 패턴에만 Loss가 걸린다</a:t>
            </a:r>
            <a:endParaRPr lang="en-US" sz="1050" dirty="0"/>
          </a:p>
        </p:txBody>
      </p:sp>
      <p:sp>
        <p:nvSpPr>
          <p:cNvPr id="45" name="Shape 42"/>
          <p:cNvSpPr/>
          <p:nvPr/>
        </p:nvSpPr>
        <p:spPr>
          <a:xfrm>
            <a:off x="8174736" y="6004995"/>
            <a:ext cx="109728" cy="123537"/>
          </a:xfrm>
          <a:prstGeom prst="ellipse">
            <a:avLst/>
          </a:prstGeom>
          <a:solidFill>
            <a:srgbClr val="2563EB"/>
          </a:solidFill>
          <a:ln w="12700">
            <a:solidFill>
              <a:srgbClr val="2563EB"/>
            </a:solidFill>
            <a:prstDash val="solid"/>
          </a:ln>
        </p:spPr>
      </p:sp>
      <p:sp>
        <p:nvSpPr>
          <p:cNvPr id="46" name="Text 43"/>
          <p:cNvSpPr txBox="1"/>
          <p:nvPr/>
        </p:nvSpPr>
        <p:spPr>
          <a:xfrm>
            <a:off x="8375904" y="5943227"/>
            <a:ext cx="3054096" cy="370612"/>
          </a:xfrm>
          <a:prstGeom prst="rect">
            <a:avLst/>
          </a:prstGeom>
          <a:noFill/>
          <a:ln/>
        </p:spPr>
        <p:txBody>
          <a:bodyPr wrap="square" lIns="0" tIns="0" rIns="0" bIns="0" rtlCol="0" anchor="ctr"/>
          <a:lstStyle/>
          <a:p>
            <a:pPr indent="0" marL="0">
              <a:buNone/>
            </a:pPr>
            <a:r>
              <a:rPr lang="en-US" sz="1050" dirty="0">
                <a:solidFill>
                  <a:srgbClr val="45516D"/>
                </a:solidFill>
                <a:latin typeface="Malgun Gothic" pitchFamily="34" charset="0"/>
                <a:ea typeface="Malgun Gothic" pitchFamily="34" charset="-122"/>
                <a:cs typeface="Malgun Gothic" pitchFamily="34" charset="-120"/>
              </a:rPr>
              <a:t>EOS를 학습해 출력이 스스로 종료된다</a:t>
            </a:r>
            <a:endParaRPr lang="en-US" sz="1050" dirty="0"/>
          </a:p>
        </p:txBody>
      </p:sp>
      <p:sp>
        <p:nvSpPr>
          <p:cNvPr id="47" name="Text 44"/>
          <p:cNvSpPr txBox="1"/>
          <p:nvPr/>
        </p:nvSpPr>
        <p:spPr>
          <a:xfrm>
            <a:off x="11277295" y="6355080"/>
            <a:ext cx="457200" cy="274320"/>
          </a:xfrm>
          <a:prstGeom prst="rect">
            <a:avLst/>
          </a:prstGeom>
          <a:noFill/>
          <a:ln/>
        </p:spPr>
        <p:txBody>
          <a:bodyPr wrap="square" lIns="0" tIns="0" rIns="0" bIns="0" rtlCol="0" anchor="ctr"/>
          <a:lstStyle/>
          <a:p>
            <a:pPr algn="r" indent="0" marL="0">
              <a:buNone/>
            </a:pPr>
            <a:r>
              <a:rPr lang="en-US" sz="1000" dirty="0">
                <a:solidFill>
                  <a:srgbClr val="9AA6BC"/>
                </a:solidFill>
                <a:latin typeface="Malgun Gothic" pitchFamily="34" charset="0"/>
                <a:ea typeface="Malgun Gothic" pitchFamily="34" charset="-122"/>
                <a:cs typeface="Malgun Gothic"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66928" y="384048"/>
            <a:ext cx="1975104" cy="311492"/>
          </a:xfrm>
          <a:prstGeom prst="roundRect">
            <a:avLst>
              <a:gd name="adj" fmla="val 44033"/>
            </a:avLst>
          </a:prstGeom>
          <a:solidFill>
            <a:srgbClr val="FAEEDD"/>
          </a:solidFill>
          <a:ln w="12700">
            <a:solidFill>
              <a:srgbClr val="FAEEDD"/>
            </a:solidFill>
            <a:prstDash val="solid"/>
          </a:ln>
        </p:spPr>
      </p:sp>
      <p:sp>
        <p:nvSpPr>
          <p:cNvPr id="4" name="Text 1"/>
          <p:cNvSpPr txBox="1"/>
          <p:nvPr/>
        </p:nvSpPr>
        <p:spPr>
          <a:xfrm>
            <a:off x="566928" y="384048"/>
            <a:ext cx="1975104" cy="311492"/>
          </a:xfrm>
          <a:prstGeom prst="rect">
            <a:avLst/>
          </a:prstGeom>
          <a:noFill/>
          <a:ln/>
        </p:spPr>
        <p:txBody>
          <a:bodyPr wrap="square" lIns="0" tIns="0" rIns="0" bIns="0" rtlCol="0" anchor="ctr"/>
          <a:lstStyle/>
          <a:p>
            <a:pPr algn="ctr" indent="0" marL="0">
              <a:buNone/>
            </a:pPr>
            <a:r>
              <a:rPr lang="en-US" sz="1050" b="1" spc="60" kern="0" dirty="0">
                <a:solidFill>
                  <a:srgbClr val="8A3A12"/>
                </a:solidFill>
                <a:latin typeface="Malgun Gothic" pitchFamily="34" charset="0"/>
                <a:ea typeface="Malgun Gothic" pitchFamily="34" charset="-122"/>
                <a:cs typeface="Malgun Gothic" pitchFamily="34" charset="-120"/>
              </a:rPr>
              <a:t>04  IMPLEMENTATION</a:t>
            </a:r>
            <a:endParaRPr lang="en-US" sz="1050" dirty="0"/>
          </a:p>
        </p:txBody>
      </p:sp>
      <p:sp>
        <p:nvSpPr>
          <p:cNvPr id="5" name="Text 2"/>
          <p:cNvSpPr txBox="1"/>
          <p:nvPr/>
        </p:nvSpPr>
        <p:spPr>
          <a:xfrm>
            <a:off x="566928" y="757838"/>
            <a:ext cx="11057839" cy="581452"/>
          </a:xfrm>
          <a:prstGeom prst="rect">
            <a:avLst/>
          </a:prstGeom>
          <a:noFill/>
          <a:ln/>
        </p:spPr>
        <p:txBody>
          <a:bodyPr wrap="square" lIns="0" tIns="0" rIns="0" bIns="0" rtlCol="0" anchor="ctr"/>
          <a:lstStyle/>
          <a:p>
            <a:pPr indent="0" marL="0">
              <a:buNone/>
            </a:pPr>
            <a:r>
              <a:rPr lang="en-US" sz="3000" b="1" dirty="0">
                <a:solidFill>
                  <a:srgbClr val="15203A"/>
                </a:solidFill>
                <a:latin typeface="Malgun Gothic" pitchFamily="34" charset="0"/>
                <a:ea typeface="Malgun Gothic" pitchFamily="34" charset="-122"/>
                <a:cs typeface="Malgun Gothic" pitchFamily="34" charset="-120"/>
              </a:rPr>
              <a:t>구현 비교 — 무엇이 같고 무엇이 다른가</a:t>
            </a:r>
            <a:endParaRPr lang="en-US" sz="3000" dirty="0"/>
          </a:p>
        </p:txBody>
      </p:sp>
      <p:sp>
        <p:nvSpPr>
          <p:cNvPr id="6" name="Text 3"/>
          <p:cNvSpPr txBox="1"/>
          <p:nvPr/>
        </p:nvSpPr>
        <p:spPr>
          <a:xfrm>
            <a:off x="566928" y="1328907"/>
            <a:ext cx="11057839" cy="332258"/>
          </a:xfrm>
          <a:prstGeom prst="rect">
            <a:avLst/>
          </a:prstGeom>
          <a:noFill/>
          <a:ln/>
        </p:spPr>
        <p:txBody>
          <a:bodyPr wrap="square" lIns="0" tIns="0" rIns="0" bIns="0" rtlCol="0" anchor="t"/>
          <a:lstStyle/>
          <a:p>
            <a:pPr indent="0" marL="0">
              <a:buNone/>
            </a:pPr>
            <a:r>
              <a:rPr lang="en-US" sz="1300" dirty="0">
                <a:solidFill>
                  <a:srgbClr val="64748B"/>
                </a:solidFill>
                <a:latin typeface="Malgun Gothic" pitchFamily="34" charset="0"/>
                <a:ea typeface="Malgun Gothic" pitchFamily="34" charset="-122"/>
                <a:cs typeface="Malgun Gothic" pitchFamily="34" charset="-120"/>
              </a:rPr>
              <a:t>두 노트북의 실제 실행 코드를 기준으로 정리했다</a:t>
            </a:r>
            <a:endParaRPr lang="en-US" sz="1300" dirty="0"/>
          </a:p>
        </p:txBody>
      </p:sp>
      <p:sp>
        <p:nvSpPr>
          <p:cNvPr id="7" name="Shape 4"/>
          <p:cNvSpPr/>
          <p:nvPr/>
        </p:nvSpPr>
        <p:spPr>
          <a:xfrm>
            <a:off x="566928" y="1899976"/>
            <a:ext cx="7479792" cy="415323"/>
          </a:xfrm>
          <a:prstGeom prst="roundRect">
            <a:avLst>
              <a:gd name="adj" fmla="val 8807"/>
            </a:avLst>
          </a:prstGeom>
          <a:solidFill>
            <a:srgbClr val="0E1A33"/>
          </a:solidFill>
          <a:ln w="12700">
            <a:solidFill>
              <a:srgbClr val="0E1A33"/>
            </a:solidFill>
            <a:prstDash val="solid"/>
          </a:ln>
        </p:spPr>
      </p:sp>
      <p:sp>
        <p:nvSpPr>
          <p:cNvPr id="8" name="Text 5"/>
          <p:cNvSpPr txBox="1"/>
          <p:nvPr/>
        </p:nvSpPr>
        <p:spPr>
          <a:xfrm>
            <a:off x="713232" y="1899976"/>
            <a:ext cx="2468880" cy="415323"/>
          </a:xfrm>
          <a:prstGeom prst="rect">
            <a:avLst/>
          </a:prstGeom>
          <a:noFill/>
          <a:ln/>
        </p:spPr>
        <p:txBody>
          <a:bodyPr wrap="square" lIns="0" tIns="0" rIns="0" bIns="0" rtlCol="0" anchor="ctr"/>
          <a:lstStyle/>
          <a:p>
            <a:pPr algn="l" indent="0" marL="0">
              <a:buNone/>
            </a:pPr>
            <a:r>
              <a:rPr lang="en-US" sz="1100" b="1" dirty="0">
                <a:solidFill>
                  <a:srgbClr val="FFFFFF"/>
                </a:solidFill>
                <a:latin typeface="Malgun Gothic" pitchFamily="34" charset="0"/>
                <a:ea typeface="Malgun Gothic" pitchFamily="34" charset="-122"/>
                <a:cs typeface="Malgun Gothic" pitchFamily="34" charset="-120"/>
              </a:rPr>
              <a:t>항목</a:t>
            </a:r>
            <a:endParaRPr lang="en-US" sz="1100" dirty="0"/>
          </a:p>
        </p:txBody>
      </p:sp>
      <p:sp>
        <p:nvSpPr>
          <p:cNvPr id="9" name="Text 6"/>
          <p:cNvSpPr txBox="1"/>
          <p:nvPr/>
        </p:nvSpPr>
        <p:spPr>
          <a:xfrm>
            <a:off x="3474720" y="1899976"/>
            <a:ext cx="2066544" cy="415323"/>
          </a:xfrm>
          <a:prstGeom prst="rect">
            <a:avLst/>
          </a:prstGeom>
          <a:noFill/>
          <a:ln/>
        </p:spPr>
        <p:txBody>
          <a:bodyPr wrap="square" lIns="0" tIns="0" rIns="0" bIns="0" rtlCol="0" anchor="ctr"/>
          <a:lstStyle/>
          <a:p>
            <a:pPr algn="ctr" indent="0" marL="0">
              <a:buNone/>
            </a:pPr>
            <a:r>
              <a:rPr lang="en-US" sz="1100" b="1" dirty="0">
                <a:solidFill>
                  <a:srgbClr val="6FA8FF"/>
                </a:solidFill>
                <a:latin typeface="Malgun Gothic" pitchFamily="34" charset="0"/>
                <a:ea typeface="Malgun Gothic" pitchFamily="34" charset="-122"/>
                <a:cs typeface="Malgun Gothic" pitchFamily="34" charset="-120"/>
              </a:rPr>
              <a:t>LoRA</a:t>
            </a:r>
            <a:endParaRPr lang="en-US" sz="1100" dirty="0"/>
          </a:p>
        </p:txBody>
      </p:sp>
      <p:sp>
        <p:nvSpPr>
          <p:cNvPr id="10" name="Text 7"/>
          <p:cNvSpPr txBox="1"/>
          <p:nvPr/>
        </p:nvSpPr>
        <p:spPr>
          <a:xfrm>
            <a:off x="5833872" y="1899976"/>
            <a:ext cx="2066544" cy="415323"/>
          </a:xfrm>
          <a:prstGeom prst="rect">
            <a:avLst/>
          </a:prstGeom>
          <a:noFill/>
          <a:ln/>
        </p:spPr>
        <p:txBody>
          <a:bodyPr wrap="square" lIns="0" tIns="0" rIns="0" bIns="0" rtlCol="0" anchor="ctr"/>
          <a:lstStyle/>
          <a:p>
            <a:pPr algn="ctr" indent="0" marL="0">
              <a:buNone/>
            </a:pPr>
            <a:r>
              <a:rPr lang="en-US" sz="1100" b="1" dirty="0">
                <a:solidFill>
                  <a:srgbClr val="F0B96A"/>
                </a:solidFill>
                <a:latin typeface="Malgun Gothic" pitchFamily="34" charset="0"/>
                <a:ea typeface="Malgun Gothic" pitchFamily="34" charset="-122"/>
                <a:cs typeface="Malgun Gothic" pitchFamily="34" charset="-120"/>
              </a:rPr>
              <a:t>QLoRA</a:t>
            </a:r>
            <a:endParaRPr lang="en-US" sz="1100" dirty="0"/>
          </a:p>
        </p:txBody>
      </p:sp>
      <p:sp>
        <p:nvSpPr>
          <p:cNvPr id="11" name="Shape 8"/>
          <p:cNvSpPr/>
          <p:nvPr/>
        </p:nvSpPr>
        <p:spPr>
          <a:xfrm>
            <a:off x="566928" y="2356831"/>
            <a:ext cx="7479792" cy="389365"/>
          </a:xfrm>
          <a:prstGeom prst="roundRect">
            <a:avLst>
              <a:gd name="adj" fmla="val 7045"/>
            </a:avLst>
          </a:prstGeom>
          <a:solidFill>
            <a:srgbClr val="F7F9FC"/>
          </a:solidFill>
          <a:ln w="12700">
            <a:solidFill>
              <a:srgbClr val="F7F9FC"/>
            </a:solidFill>
            <a:prstDash val="solid"/>
          </a:ln>
        </p:spPr>
      </p:sp>
      <p:sp>
        <p:nvSpPr>
          <p:cNvPr id="12" name="Text 9"/>
          <p:cNvSpPr txBox="1"/>
          <p:nvPr/>
        </p:nvSpPr>
        <p:spPr>
          <a:xfrm>
            <a:off x="713232" y="2356831"/>
            <a:ext cx="2542032" cy="389365"/>
          </a:xfrm>
          <a:prstGeom prst="rect">
            <a:avLst/>
          </a:prstGeom>
          <a:noFill/>
          <a:ln/>
        </p:spPr>
        <p:txBody>
          <a:bodyPr wrap="square" lIns="0" tIns="0" rIns="0" bIns="0" rtlCol="0" anchor="ctr"/>
          <a:lstStyle/>
          <a:p>
            <a:pPr indent="0" marL="0">
              <a:buNone/>
            </a:pPr>
            <a:r>
              <a:rPr lang="en-US" sz="1050" dirty="0">
                <a:solidFill>
                  <a:srgbClr val="45516D"/>
                </a:solidFill>
                <a:latin typeface="Malgun Gothic" pitchFamily="34" charset="0"/>
                <a:ea typeface="Malgun Gothic" pitchFamily="34" charset="-122"/>
                <a:cs typeface="Malgun Gothic" pitchFamily="34" charset="-120"/>
              </a:rPr>
              <a:t>Base Model</a:t>
            </a:r>
            <a:endParaRPr lang="en-US" sz="1050" dirty="0"/>
          </a:p>
        </p:txBody>
      </p:sp>
      <p:sp>
        <p:nvSpPr>
          <p:cNvPr id="13" name="Text 10"/>
          <p:cNvSpPr txBox="1"/>
          <p:nvPr/>
        </p:nvSpPr>
        <p:spPr>
          <a:xfrm>
            <a:off x="3328416" y="2356831"/>
            <a:ext cx="2359152" cy="389365"/>
          </a:xfrm>
          <a:prstGeom prst="rect">
            <a:avLst/>
          </a:prstGeom>
          <a:noFill/>
          <a:ln/>
        </p:spPr>
        <p:txBody>
          <a:bodyPr wrap="square" lIns="0" tIns="0" rIns="0" bIns="0" rtlCol="0" anchor="ctr"/>
          <a:lstStyle/>
          <a:p>
            <a:pPr algn="ctr" indent="0" marL="0">
              <a:buNone/>
            </a:pPr>
            <a:r>
              <a:rPr lang="en-US" sz="950" dirty="0">
                <a:solidFill>
                  <a:srgbClr val="15203A"/>
                </a:solidFill>
                <a:latin typeface="Courier New" pitchFamily="34" charset="0"/>
                <a:ea typeface="Courier New" pitchFamily="34" charset="-122"/>
                <a:cs typeface="Courier New" pitchFamily="34" charset="-120"/>
              </a:rPr>
              <a:t>Qwen3-1.7B</a:t>
            </a:r>
            <a:endParaRPr lang="en-US" sz="950" dirty="0"/>
          </a:p>
        </p:txBody>
      </p:sp>
      <p:sp>
        <p:nvSpPr>
          <p:cNvPr id="14" name="Text 11"/>
          <p:cNvSpPr txBox="1"/>
          <p:nvPr/>
        </p:nvSpPr>
        <p:spPr>
          <a:xfrm>
            <a:off x="5687568" y="2356831"/>
            <a:ext cx="2359152" cy="389365"/>
          </a:xfrm>
          <a:prstGeom prst="rect">
            <a:avLst/>
          </a:prstGeom>
          <a:noFill/>
          <a:ln/>
        </p:spPr>
        <p:txBody>
          <a:bodyPr wrap="square" lIns="0" tIns="0" rIns="0" bIns="0" rtlCol="0" anchor="ctr"/>
          <a:lstStyle/>
          <a:p>
            <a:pPr algn="ctr" indent="0" marL="0">
              <a:buNone/>
            </a:pPr>
            <a:r>
              <a:rPr lang="en-US" sz="950" dirty="0">
                <a:solidFill>
                  <a:srgbClr val="15203A"/>
                </a:solidFill>
                <a:latin typeface="Courier New" pitchFamily="34" charset="0"/>
                <a:ea typeface="Courier New" pitchFamily="34" charset="-122"/>
                <a:cs typeface="Courier New" pitchFamily="34" charset="-120"/>
              </a:rPr>
              <a:t>Qwen3-1.7B</a:t>
            </a:r>
            <a:endParaRPr lang="en-US" sz="950" dirty="0"/>
          </a:p>
        </p:txBody>
      </p:sp>
      <p:sp>
        <p:nvSpPr>
          <p:cNvPr id="15" name="Shape 12"/>
          <p:cNvSpPr/>
          <p:nvPr/>
        </p:nvSpPr>
        <p:spPr>
          <a:xfrm>
            <a:off x="566928" y="2766962"/>
            <a:ext cx="7479792" cy="389365"/>
          </a:xfrm>
          <a:prstGeom prst="roundRect">
            <a:avLst>
              <a:gd name="adj" fmla="val 7045"/>
            </a:avLst>
          </a:prstGeom>
          <a:solidFill>
            <a:srgbClr val="FBF3E7"/>
          </a:solidFill>
          <a:ln w="12700">
            <a:solidFill>
              <a:srgbClr val="EED9B9"/>
            </a:solidFill>
            <a:prstDash val="solid"/>
          </a:ln>
        </p:spPr>
      </p:sp>
      <p:sp>
        <p:nvSpPr>
          <p:cNvPr id="16" name="Text 13"/>
          <p:cNvSpPr txBox="1"/>
          <p:nvPr/>
        </p:nvSpPr>
        <p:spPr>
          <a:xfrm>
            <a:off x="713232" y="2766962"/>
            <a:ext cx="2542032" cy="389365"/>
          </a:xfrm>
          <a:prstGeom prst="rect">
            <a:avLst/>
          </a:prstGeom>
          <a:noFill/>
          <a:ln/>
        </p:spPr>
        <p:txBody>
          <a:bodyPr wrap="square" lIns="0" tIns="0" rIns="0" bIns="0" rtlCol="0" anchor="ctr"/>
          <a:lstStyle/>
          <a:p>
            <a:pPr indent="0" marL="0">
              <a:buNone/>
            </a:pPr>
            <a:r>
              <a:rPr lang="en-US" sz="1050" dirty="0">
                <a:solidFill>
                  <a:srgbClr val="6B4A1C"/>
                </a:solidFill>
                <a:latin typeface="Malgun Gothic" pitchFamily="34" charset="0"/>
                <a:ea typeface="Malgun Gothic" pitchFamily="34" charset="-122"/>
                <a:cs typeface="Malgun Gothic" pitchFamily="34" charset="-120"/>
              </a:rPr>
              <a:t>Base Weight 로드</a:t>
            </a:r>
            <a:endParaRPr lang="en-US" sz="1050" dirty="0"/>
          </a:p>
        </p:txBody>
      </p:sp>
      <p:sp>
        <p:nvSpPr>
          <p:cNvPr id="17" name="Text 14"/>
          <p:cNvSpPr txBox="1"/>
          <p:nvPr/>
        </p:nvSpPr>
        <p:spPr>
          <a:xfrm>
            <a:off x="3328416" y="2766962"/>
            <a:ext cx="2359152" cy="389365"/>
          </a:xfrm>
          <a:prstGeom prst="rect">
            <a:avLst/>
          </a:prstGeom>
          <a:noFill/>
          <a:ln/>
        </p:spPr>
        <p:txBody>
          <a:bodyPr wrap="square" lIns="0" tIns="0" rIns="0" bIns="0" rtlCol="0" anchor="ctr"/>
          <a:lstStyle/>
          <a:p>
            <a:pPr algn="ctr" indent="0" marL="0">
              <a:buNone/>
            </a:pPr>
            <a:r>
              <a:rPr lang="en-US" sz="1050" b="1" dirty="0">
                <a:solidFill>
                  <a:srgbClr val="2563EB"/>
                </a:solidFill>
                <a:latin typeface="Malgun Gothic" pitchFamily="34" charset="0"/>
                <a:ea typeface="Malgun Gothic" pitchFamily="34" charset="-122"/>
                <a:cs typeface="Malgun Gothic" pitchFamily="34" charset="-120"/>
              </a:rPr>
              <a:t>BF16 / FP16</a:t>
            </a:r>
            <a:endParaRPr lang="en-US" sz="1050" dirty="0"/>
          </a:p>
        </p:txBody>
      </p:sp>
      <p:sp>
        <p:nvSpPr>
          <p:cNvPr id="18" name="Text 15"/>
          <p:cNvSpPr txBox="1"/>
          <p:nvPr/>
        </p:nvSpPr>
        <p:spPr>
          <a:xfrm>
            <a:off x="5687568" y="2766962"/>
            <a:ext cx="2359152" cy="389365"/>
          </a:xfrm>
          <a:prstGeom prst="rect">
            <a:avLst/>
          </a:prstGeom>
          <a:noFill/>
          <a:ln/>
        </p:spPr>
        <p:txBody>
          <a:bodyPr wrap="square" lIns="0" tIns="0" rIns="0" bIns="0" rtlCol="0" anchor="ctr"/>
          <a:lstStyle/>
          <a:p>
            <a:pPr algn="ctr" indent="0" marL="0">
              <a:buNone/>
            </a:pPr>
            <a:r>
              <a:rPr lang="en-US" sz="900" b="1" dirty="0">
                <a:solidFill>
                  <a:srgbClr val="C2690B"/>
                </a:solidFill>
                <a:latin typeface="Malgun Gothic" pitchFamily="34" charset="0"/>
                <a:ea typeface="Malgun Gothic" pitchFamily="34" charset="-122"/>
                <a:cs typeface="Malgun Gothic" pitchFamily="34" charset="-120"/>
              </a:rPr>
              <a:t>NF4 4bit (double quant)</a:t>
            </a:r>
            <a:endParaRPr lang="en-US" sz="900" dirty="0"/>
          </a:p>
        </p:txBody>
      </p:sp>
      <p:sp>
        <p:nvSpPr>
          <p:cNvPr id="19" name="Shape 16"/>
          <p:cNvSpPr/>
          <p:nvPr/>
        </p:nvSpPr>
        <p:spPr>
          <a:xfrm>
            <a:off x="566928" y="3177093"/>
            <a:ext cx="7479792" cy="389365"/>
          </a:xfrm>
          <a:prstGeom prst="roundRect">
            <a:avLst>
              <a:gd name="adj" fmla="val 7045"/>
            </a:avLst>
          </a:prstGeom>
          <a:solidFill>
            <a:srgbClr val="FBF3E7"/>
          </a:solidFill>
          <a:ln w="12700">
            <a:solidFill>
              <a:srgbClr val="EED9B9"/>
            </a:solidFill>
            <a:prstDash val="solid"/>
          </a:ln>
        </p:spPr>
      </p:sp>
      <p:sp>
        <p:nvSpPr>
          <p:cNvPr id="20" name="Text 17"/>
          <p:cNvSpPr txBox="1"/>
          <p:nvPr/>
        </p:nvSpPr>
        <p:spPr>
          <a:xfrm>
            <a:off x="713232" y="3177093"/>
            <a:ext cx="2542032" cy="389365"/>
          </a:xfrm>
          <a:prstGeom prst="rect">
            <a:avLst/>
          </a:prstGeom>
          <a:noFill/>
          <a:ln/>
        </p:spPr>
        <p:txBody>
          <a:bodyPr wrap="square" lIns="0" tIns="0" rIns="0" bIns="0" rtlCol="0" anchor="ctr"/>
          <a:lstStyle/>
          <a:p>
            <a:pPr indent="0" marL="0">
              <a:buNone/>
            </a:pPr>
            <a:r>
              <a:rPr lang="en-US" sz="1050" dirty="0">
                <a:solidFill>
                  <a:srgbClr val="6B4A1C"/>
                </a:solidFill>
                <a:latin typeface="Malgun Gothic" pitchFamily="34" charset="0"/>
                <a:ea typeface="Malgun Gothic" pitchFamily="34" charset="-122"/>
                <a:cs typeface="Malgun Gothic" pitchFamily="34" charset="-120"/>
              </a:rPr>
              <a:t>양자화 준비 함수</a:t>
            </a:r>
            <a:endParaRPr lang="en-US" sz="1050" dirty="0"/>
          </a:p>
        </p:txBody>
      </p:sp>
      <p:sp>
        <p:nvSpPr>
          <p:cNvPr id="21" name="Text 18"/>
          <p:cNvSpPr txBox="1"/>
          <p:nvPr/>
        </p:nvSpPr>
        <p:spPr>
          <a:xfrm>
            <a:off x="3328416" y="3177093"/>
            <a:ext cx="2359152" cy="389365"/>
          </a:xfrm>
          <a:prstGeom prst="rect">
            <a:avLst/>
          </a:prstGeom>
          <a:noFill/>
          <a:ln/>
        </p:spPr>
        <p:txBody>
          <a:bodyPr wrap="square" lIns="0" tIns="0" rIns="0" bIns="0" rtlCol="0" anchor="ctr"/>
          <a:lstStyle/>
          <a:p>
            <a:pPr algn="ctr" indent="0" marL="0">
              <a:buNone/>
            </a:pPr>
            <a:r>
              <a:rPr lang="en-US" sz="1050" b="1" dirty="0">
                <a:solidFill>
                  <a:srgbClr val="2563EB"/>
                </a:solidFill>
                <a:latin typeface="Malgun Gothic" pitchFamily="34" charset="0"/>
                <a:ea typeface="Malgun Gothic" pitchFamily="34" charset="-122"/>
                <a:cs typeface="Malgun Gothic" pitchFamily="34" charset="-120"/>
              </a:rPr>
              <a:t>호출하지 않음</a:t>
            </a:r>
            <a:endParaRPr lang="en-US" sz="1050" dirty="0"/>
          </a:p>
        </p:txBody>
      </p:sp>
      <p:sp>
        <p:nvSpPr>
          <p:cNvPr id="22" name="Text 19"/>
          <p:cNvSpPr txBox="1"/>
          <p:nvPr/>
        </p:nvSpPr>
        <p:spPr>
          <a:xfrm>
            <a:off x="5687568" y="3177093"/>
            <a:ext cx="2359152" cy="389365"/>
          </a:xfrm>
          <a:prstGeom prst="rect">
            <a:avLst/>
          </a:prstGeom>
          <a:noFill/>
          <a:ln/>
        </p:spPr>
        <p:txBody>
          <a:bodyPr wrap="square" lIns="0" tIns="0" rIns="0" bIns="0" rtlCol="0" anchor="ctr"/>
          <a:lstStyle/>
          <a:p>
            <a:pPr algn="ctr" indent="0" marL="0">
              <a:buNone/>
            </a:pPr>
            <a:r>
              <a:rPr lang="en-US" sz="900" b="1" dirty="0">
                <a:solidFill>
                  <a:srgbClr val="C2690B"/>
                </a:solidFill>
                <a:latin typeface="Malgun Gothic" pitchFamily="34" charset="0"/>
                <a:ea typeface="Malgun Gothic" pitchFamily="34" charset="-122"/>
                <a:cs typeface="Malgun Gothic" pitchFamily="34" charset="-120"/>
              </a:rPr>
              <a:t>prepare_model_for_kbit_training</a:t>
            </a:r>
            <a:endParaRPr lang="en-US" sz="900" dirty="0"/>
          </a:p>
        </p:txBody>
      </p:sp>
      <p:sp>
        <p:nvSpPr>
          <p:cNvPr id="23" name="Shape 20"/>
          <p:cNvSpPr/>
          <p:nvPr/>
        </p:nvSpPr>
        <p:spPr>
          <a:xfrm>
            <a:off x="566928" y="3587224"/>
            <a:ext cx="7479792" cy="389365"/>
          </a:xfrm>
          <a:prstGeom prst="roundRect">
            <a:avLst>
              <a:gd name="adj" fmla="val 7045"/>
            </a:avLst>
          </a:prstGeom>
          <a:solidFill>
            <a:srgbClr val="FFFFFF"/>
          </a:solidFill>
          <a:ln w="12700">
            <a:solidFill>
              <a:srgbClr val="FFFFFF"/>
            </a:solidFill>
            <a:prstDash val="solid"/>
          </a:ln>
        </p:spPr>
      </p:sp>
      <p:sp>
        <p:nvSpPr>
          <p:cNvPr id="24" name="Text 21"/>
          <p:cNvSpPr txBox="1"/>
          <p:nvPr/>
        </p:nvSpPr>
        <p:spPr>
          <a:xfrm>
            <a:off x="713232" y="3587224"/>
            <a:ext cx="2542032" cy="389365"/>
          </a:xfrm>
          <a:prstGeom prst="rect">
            <a:avLst/>
          </a:prstGeom>
          <a:noFill/>
          <a:ln/>
        </p:spPr>
        <p:txBody>
          <a:bodyPr wrap="square" lIns="0" tIns="0" rIns="0" bIns="0" rtlCol="0" anchor="ctr"/>
          <a:lstStyle/>
          <a:p>
            <a:pPr indent="0" marL="0">
              <a:buNone/>
            </a:pPr>
            <a:r>
              <a:rPr lang="en-US" sz="1050" dirty="0">
                <a:solidFill>
                  <a:srgbClr val="45516D"/>
                </a:solidFill>
                <a:latin typeface="Malgun Gothic" pitchFamily="34" charset="0"/>
                <a:ea typeface="Malgun Gothic" pitchFamily="34" charset="-122"/>
                <a:cs typeface="Malgun Gothic" pitchFamily="34" charset="-120"/>
              </a:rPr>
              <a:t>Adapter</a:t>
            </a:r>
            <a:endParaRPr lang="en-US" sz="1050" dirty="0"/>
          </a:p>
        </p:txBody>
      </p:sp>
      <p:sp>
        <p:nvSpPr>
          <p:cNvPr id="25" name="Text 22"/>
          <p:cNvSpPr txBox="1"/>
          <p:nvPr/>
        </p:nvSpPr>
        <p:spPr>
          <a:xfrm>
            <a:off x="3328416" y="3587224"/>
            <a:ext cx="2359152" cy="389365"/>
          </a:xfrm>
          <a:prstGeom prst="rect">
            <a:avLst/>
          </a:prstGeom>
          <a:noFill/>
          <a:ln/>
        </p:spPr>
        <p:txBody>
          <a:bodyPr wrap="square" lIns="0" tIns="0" rIns="0" bIns="0" rtlCol="0" anchor="ctr"/>
          <a:lstStyle/>
          <a:p>
            <a:pPr algn="ctr" indent="0" marL="0">
              <a:buNone/>
            </a:pPr>
            <a:r>
              <a:rPr lang="en-US" sz="950" dirty="0">
                <a:solidFill>
                  <a:srgbClr val="15203A"/>
                </a:solidFill>
                <a:latin typeface="Courier New" pitchFamily="34" charset="0"/>
                <a:ea typeface="Courier New" pitchFamily="34" charset="-122"/>
                <a:cs typeface="Courier New" pitchFamily="34" charset="-120"/>
              </a:rPr>
              <a:t>LoRA</a:t>
            </a:r>
            <a:endParaRPr lang="en-US" sz="950" dirty="0"/>
          </a:p>
        </p:txBody>
      </p:sp>
      <p:sp>
        <p:nvSpPr>
          <p:cNvPr id="26" name="Text 23"/>
          <p:cNvSpPr txBox="1"/>
          <p:nvPr/>
        </p:nvSpPr>
        <p:spPr>
          <a:xfrm>
            <a:off x="5687568" y="3587224"/>
            <a:ext cx="2359152" cy="389365"/>
          </a:xfrm>
          <a:prstGeom prst="rect">
            <a:avLst/>
          </a:prstGeom>
          <a:noFill/>
          <a:ln/>
        </p:spPr>
        <p:txBody>
          <a:bodyPr wrap="square" lIns="0" tIns="0" rIns="0" bIns="0" rtlCol="0" anchor="ctr"/>
          <a:lstStyle/>
          <a:p>
            <a:pPr algn="ctr" indent="0" marL="0">
              <a:buNone/>
            </a:pPr>
            <a:r>
              <a:rPr lang="en-US" sz="950" dirty="0">
                <a:solidFill>
                  <a:srgbClr val="15203A"/>
                </a:solidFill>
                <a:latin typeface="Courier New" pitchFamily="34" charset="0"/>
                <a:ea typeface="Courier New" pitchFamily="34" charset="-122"/>
                <a:cs typeface="Courier New" pitchFamily="34" charset="-120"/>
              </a:rPr>
              <a:t>LoRA</a:t>
            </a:r>
            <a:endParaRPr lang="en-US" sz="950" dirty="0"/>
          </a:p>
        </p:txBody>
      </p:sp>
      <p:sp>
        <p:nvSpPr>
          <p:cNvPr id="27" name="Shape 24"/>
          <p:cNvSpPr/>
          <p:nvPr/>
        </p:nvSpPr>
        <p:spPr>
          <a:xfrm>
            <a:off x="566928" y="3997355"/>
            <a:ext cx="7479792" cy="389365"/>
          </a:xfrm>
          <a:prstGeom prst="roundRect">
            <a:avLst>
              <a:gd name="adj" fmla="val 7045"/>
            </a:avLst>
          </a:prstGeom>
          <a:solidFill>
            <a:srgbClr val="F7F9FC"/>
          </a:solidFill>
          <a:ln w="12700">
            <a:solidFill>
              <a:srgbClr val="F7F9FC"/>
            </a:solidFill>
            <a:prstDash val="solid"/>
          </a:ln>
        </p:spPr>
      </p:sp>
      <p:sp>
        <p:nvSpPr>
          <p:cNvPr id="28" name="Text 25"/>
          <p:cNvSpPr txBox="1"/>
          <p:nvPr/>
        </p:nvSpPr>
        <p:spPr>
          <a:xfrm>
            <a:off x="713232" y="3997355"/>
            <a:ext cx="2542032" cy="389365"/>
          </a:xfrm>
          <a:prstGeom prst="rect">
            <a:avLst/>
          </a:prstGeom>
          <a:noFill/>
          <a:ln/>
        </p:spPr>
        <p:txBody>
          <a:bodyPr wrap="square" lIns="0" tIns="0" rIns="0" bIns="0" rtlCol="0" anchor="ctr"/>
          <a:lstStyle/>
          <a:p>
            <a:pPr indent="0" marL="0">
              <a:buNone/>
            </a:pPr>
            <a:r>
              <a:rPr lang="en-US" sz="1050" dirty="0">
                <a:solidFill>
                  <a:srgbClr val="45516D"/>
                </a:solidFill>
                <a:latin typeface="Malgun Gothic" pitchFamily="34" charset="0"/>
                <a:ea typeface="Malgun Gothic" pitchFamily="34" charset="-122"/>
                <a:cs typeface="Malgun Gothic" pitchFamily="34" charset="-120"/>
              </a:rPr>
              <a:t>LoRA Rank / Alpha</a:t>
            </a:r>
            <a:endParaRPr lang="en-US" sz="1050" dirty="0"/>
          </a:p>
        </p:txBody>
      </p:sp>
      <p:sp>
        <p:nvSpPr>
          <p:cNvPr id="29" name="Text 26"/>
          <p:cNvSpPr txBox="1"/>
          <p:nvPr/>
        </p:nvSpPr>
        <p:spPr>
          <a:xfrm>
            <a:off x="3328416" y="3997355"/>
            <a:ext cx="2359152" cy="389365"/>
          </a:xfrm>
          <a:prstGeom prst="rect">
            <a:avLst/>
          </a:prstGeom>
          <a:noFill/>
          <a:ln/>
        </p:spPr>
        <p:txBody>
          <a:bodyPr wrap="square" lIns="0" tIns="0" rIns="0" bIns="0" rtlCol="0" anchor="ctr"/>
          <a:lstStyle/>
          <a:p>
            <a:pPr algn="ctr" indent="0" marL="0">
              <a:buNone/>
            </a:pPr>
            <a:r>
              <a:rPr lang="en-US" sz="950" dirty="0">
                <a:solidFill>
                  <a:srgbClr val="15203A"/>
                </a:solidFill>
                <a:latin typeface="Courier New" pitchFamily="34" charset="0"/>
                <a:ea typeface="Courier New" pitchFamily="34" charset="-122"/>
                <a:cs typeface="Courier New" pitchFamily="34" charset="-120"/>
              </a:rPr>
              <a:t>16 / 32</a:t>
            </a:r>
            <a:endParaRPr lang="en-US" sz="950" dirty="0"/>
          </a:p>
        </p:txBody>
      </p:sp>
      <p:sp>
        <p:nvSpPr>
          <p:cNvPr id="30" name="Text 27"/>
          <p:cNvSpPr txBox="1"/>
          <p:nvPr/>
        </p:nvSpPr>
        <p:spPr>
          <a:xfrm>
            <a:off x="5687568" y="3997355"/>
            <a:ext cx="2359152" cy="389365"/>
          </a:xfrm>
          <a:prstGeom prst="rect">
            <a:avLst/>
          </a:prstGeom>
          <a:noFill/>
          <a:ln/>
        </p:spPr>
        <p:txBody>
          <a:bodyPr wrap="square" lIns="0" tIns="0" rIns="0" bIns="0" rtlCol="0" anchor="ctr"/>
          <a:lstStyle/>
          <a:p>
            <a:pPr algn="ctr" indent="0" marL="0">
              <a:buNone/>
            </a:pPr>
            <a:r>
              <a:rPr lang="en-US" sz="950" dirty="0">
                <a:solidFill>
                  <a:srgbClr val="15203A"/>
                </a:solidFill>
                <a:latin typeface="Courier New" pitchFamily="34" charset="0"/>
                <a:ea typeface="Courier New" pitchFamily="34" charset="-122"/>
                <a:cs typeface="Courier New" pitchFamily="34" charset="-120"/>
              </a:rPr>
              <a:t>16 / 32</a:t>
            </a:r>
            <a:endParaRPr lang="en-US" sz="950" dirty="0"/>
          </a:p>
        </p:txBody>
      </p:sp>
      <p:sp>
        <p:nvSpPr>
          <p:cNvPr id="31" name="Shape 28"/>
          <p:cNvSpPr/>
          <p:nvPr/>
        </p:nvSpPr>
        <p:spPr>
          <a:xfrm>
            <a:off x="566928" y="4407486"/>
            <a:ext cx="7479792" cy="389365"/>
          </a:xfrm>
          <a:prstGeom prst="roundRect">
            <a:avLst>
              <a:gd name="adj" fmla="val 7045"/>
            </a:avLst>
          </a:prstGeom>
          <a:solidFill>
            <a:srgbClr val="FFFFFF"/>
          </a:solidFill>
          <a:ln w="12700">
            <a:solidFill>
              <a:srgbClr val="FFFFFF"/>
            </a:solidFill>
            <a:prstDash val="solid"/>
          </a:ln>
        </p:spPr>
      </p:sp>
      <p:sp>
        <p:nvSpPr>
          <p:cNvPr id="32" name="Text 29"/>
          <p:cNvSpPr txBox="1"/>
          <p:nvPr/>
        </p:nvSpPr>
        <p:spPr>
          <a:xfrm>
            <a:off x="713232" y="4407486"/>
            <a:ext cx="2542032" cy="389365"/>
          </a:xfrm>
          <a:prstGeom prst="rect">
            <a:avLst/>
          </a:prstGeom>
          <a:noFill/>
          <a:ln/>
        </p:spPr>
        <p:txBody>
          <a:bodyPr wrap="square" lIns="0" tIns="0" rIns="0" bIns="0" rtlCol="0" anchor="ctr"/>
          <a:lstStyle/>
          <a:p>
            <a:pPr indent="0" marL="0">
              <a:buNone/>
            </a:pPr>
            <a:r>
              <a:rPr lang="en-US" sz="1050" dirty="0">
                <a:solidFill>
                  <a:srgbClr val="45516D"/>
                </a:solidFill>
                <a:latin typeface="Malgun Gothic" pitchFamily="34" charset="0"/>
                <a:ea typeface="Malgun Gothic" pitchFamily="34" charset="-122"/>
                <a:cs typeface="Malgun Gothic" pitchFamily="34" charset="-120"/>
              </a:rPr>
              <a:t>Dropout</a:t>
            </a:r>
            <a:endParaRPr lang="en-US" sz="1050" dirty="0"/>
          </a:p>
        </p:txBody>
      </p:sp>
      <p:sp>
        <p:nvSpPr>
          <p:cNvPr id="33" name="Text 30"/>
          <p:cNvSpPr txBox="1"/>
          <p:nvPr/>
        </p:nvSpPr>
        <p:spPr>
          <a:xfrm>
            <a:off x="3328416" y="4407486"/>
            <a:ext cx="2359152" cy="389365"/>
          </a:xfrm>
          <a:prstGeom prst="rect">
            <a:avLst/>
          </a:prstGeom>
          <a:noFill/>
          <a:ln/>
        </p:spPr>
        <p:txBody>
          <a:bodyPr wrap="square" lIns="0" tIns="0" rIns="0" bIns="0" rtlCol="0" anchor="ctr"/>
          <a:lstStyle/>
          <a:p>
            <a:pPr algn="ctr" indent="0" marL="0">
              <a:buNone/>
            </a:pPr>
            <a:r>
              <a:rPr lang="en-US" sz="950" dirty="0">
                <a:solidFill>
                  <a:srgbClr val="15203A"/>
                </a:solidFill>
                <a:latin typeface="Courier New" pitchFamily="34" charset="0"/>
                <a:ea typeface="Courier New" pitchFamily="34" charset="-122"/>
                <a:cs typeface="Courier New" pitchFamily="34" charset="-120"/>
              </a:rPr>
              <a:t>0.05</a:t>
            </a:r>
            <a:endParaRPr lang="en-US" sz="950" dirty="0"/>
          </a:p>
        </p:txBody>
      </p:sp>
      <p:sp>
        <p:nvSpPr>
          <p:cNvPr id="34" name="Text 31"/>
          <p:cNvSpPr txBox="1"/>
          <p:nvPr/>
        </p:nvSpPr>
        <p:spPr>
          <a:xfrm>
            <a:off x="5687568" y="4407486"/>
            <a:ext cx="2359152" cy="389365"/>
          </a:xfrm>
          <a:prstGeom prst="rect">
            <a:avLst/>
          </a:prstGeom>
          <a:noFill/>
          <a:ln/>
        </p:spPr>
        <p:txBody>
          <a:bodyPr wrap="square" lIns="0" tIns="0" rIns="0" bIns="0" rtlCol="0" anchor="ctr"/>
          <a:lstStyle/>
          <a:p>
            <a:pPr algn="ctr" indent="0" marL="0">
              <a:buNone/>
            </a:pPr>
            <a:r>
              <a:rPr lang="en-US" sz="950" dirty="0">
                <a:solidFill>
                  <a:srgbClr val="15203A"/>
                </a:solidFill>
                <a:latin typeface="Courier New" pitchFamily="34" charset="0"/>
                <a:ea typeface="Courier New" pitchFamily="34" charset="-122"/>
                <a:cs typeface="Courier New" pitchFamily="34" charset="-120"/>
              </a:rPr>
              <a:t>0.05</a:t>
            </a:r>
            <a:endParaRPr lang="en-US" sz="950" dirty="0"/>
          </a:p>
        </p:txBody>
      </p:sp>
      <p:sp>
        <p:nvSpPr>
          <p:cNvPr id="35" name="Shape 32"/>
          <p:cNvSpPr/>
          <p:nvPr/>
        </p:nvSpPr>
        <p:spPr>
          <a:xfrm>
            <a:off x="566928" y="4817618"/>
            <a:ext cx="7479792" cy="389365"/>
          </a:xfrm>
          <a:prstGeom prst="roundRect">
            <a:avLst>
              <a:gd name="adj" fmla="val 7045"/>
            </a:avLst>
          </a:prstGeom>
          <a:solidFill>
            <a:srgbClr val="F7F9FC"/>
          </a:solidFill>
          <a:ln w="12700">
            <a:solidFill>
              <a:srgbClr val="F7F9FC"/>
            </a:solidFill>
            <a:prstDash val="solid"/>
          </a:ln>
        </p:spPr>
      </p:sp>
      <p:sp>
        <p:nvSpPr>
          <p:cNvPr id="36" name="Text 33"/>
          <p:cNvSpPr txBox="1"/>
          <p:nvPr/>
        </p:nvSpPr>
        <p:spPr>
          <a:xfrm>
            <a:off x="713232" y="4817618"/>
            <a:ext cx="2542032" cy="389365"/>
          </a:xfrm>
          <a:prstGeom prst="rect">
            <a:avLst/>
          </a:prstGeom>
          <a:noFill/>
          <a:ln/>
        </p:spPr>
        <p:txBody>
          <a:bodyPr wrap="square" lIns="0" tIns="0" rIns="0" bIns="0" rtlCol="0" anchor="ctr"/>
          <a:lstStyle/>
          <a:p>
            <a:pPr indent="0" marL="0">
              <a:buNone/>
            </a:pPr>
            <a:r>
              <a:rPr lang="en-US" sz="1050" dirty="0">
                <a:solidFill>
                  <a:srgbClr val="45516D"/>
                </a:solidFill>
                <a:latin typeface="Malgun Gothic" pitchFamily="34" charset="0"/>
                <a:ea typeface="Malgun Gothic" pitchFamily="34" charset="-122"/>
                <a:cs typeface="Malgun Gothic" pitchFamily="34" charset="-120"/>
              </a:rPr>
              <a:t>Trainable LoRA Params</a:t>
            </a:r>
            <a:endParaRPr lang="en-US" sz="1050" dirty="0"/>
          </a:p>
        </p:txBody>
      </p:sp>
      <p:sp>
        <p:nvSpPr>
          <p:cNvPr id="37" name="Text 34"/>
          <p:cNvSpPr txBox="1"/>
          <p:nvPr/>
        </p:nvSpPr>
        <p:spPr>
          <a:xfrm>
            <a:off x="3328416" y="4817618"/>
            <a:ext cx="2359152" cy="389365"/>
          </a:xfrm>
          <a:prstGeom prst="rect">
            <a:avLst/>
          </a:prstGeom>
          <a:noFill/>
          <a:ln/>
        </p:spPr>
        <p:txBody>
          <a:bodyPr wrap="square" lIns="0" tIns="0" rIns="0" bIns="0" rtlCol="0" anchor="ctr"/>
          <a:lstStyle/>
          <a:p>
            <a:pPr algn="ctr" indent="0" marL="0">
              <a:buNone/>
            </a:pPr>
            <a:r>
              <a:rPr lang="en-US" sz="950" dirty="0">
                <a:solidFill>
                  <a:srgbClr val="15203A"/>
                </a:solidFill>
                <a:latin typeface="Courier New" pitchFamily="34" charset="0"/>
                <a:ea typeface="Courier New" pitchFamily="34" charset="-122"/>
                <a:cs typeface="Courier New" pitchFamily="34" charset="-120"/>
              </a:rPr>
              <a:t>17,432,576</a:t>
            </a:r>
            <a:endParaRPr lang="en-US" sz="950" dirty="0"/>
          </a:p>
        </p:txBody>
      </p:sp>
      <p:sp>
        <p:nvSpPr>
          <p:cNvPr id="38" name="Text 35"/>
          <p:cNvSpPr txBox="1"/>
          <p:nvPr/>
        </p:nvSpPr>
        <p:spPr>
          <a:xfrm>
            <a:off x="5687568" y="4817618"/>
            <a:ext cx="2359152" cy="389365"/>
          </a:xfrm>
          <a:prstGeom prst="rect">
            <a:avLst/>
          </a:prstGeom>
          <a:noFill/>
          <a:ln/>
        </p:spPr>
        <p:txBody>
          <a:bodyPr wrap="square" lIns="0" tIns="0" rIns="0" bIns="0" rtlCol="0" anchor="ctr"/>
          <a:lstStyle/>
          <a:p>
            <a:pPr algn="ctr" indent="0" marL="0">
              <a:buNone/>
            </a:pPr>
            <a:r>
              <a:rPr lang="en-US" sz="950" dirty="0">
                <a:solidFill>
                  <a:srgbClr val="15203A"/>
                </a:solidFill>
                <a:latin typeface="Courier New" pitchFamily="34" charset="0"/>
                <a:ea typeface="Courier New" pitchFamily="34" charset="-122"/>
                <a:cs typeface="Courier New" pitchFamily="34" charset="-120"/>
              </a:rPr>
              <a:t>17,432,576</a:t>
            </a:r>
            <a:endParaRPr lang="en-US" sz="950" dirty="0"/>
          </a:p>
        </p:txBody>
      </p:sp>
      <p:sp>
        <p:nvSpPr>
          <p:cNvPr id="39" name="Shape 36"/>
          <p:cNvSpPr/>
          <p:nvPr/>
        </p:nvSpPr>
        <p:spPr>
          <a:xfrm>
            <a:off x="566928" y="5227749"/>
            <a:ext cx="7479792" cy="389365"/>
          </a:xfrm>
          <a:prstGeom prst="roundRect">
            <a:avLst>
              <a:gd name="adj" fmla="val 7045"/>
            </a:avLst>
          </a:prstGeom>
          <a:solidFill>
            <a:srgbClr val="FFFFFF"/>
          </a:solidFill>
          <a:ln w="12700">
            <a:solidFill>
              <a:srgbClr val="FFFFFF"/>
            </a:solidFill>
            <a:prstDash val="solid"/>
          </a:ln>
        </p:spPr>
      </p:sp>
      <p:sp>
        <p:nvSpPr>
          <p:cNvPr id="40" name="Text 37"/>
          <p:cNvSpPr txBox="1"/>
          <p:nvPr/>
        </p:nvSpPr>
        <p:spPr>
          <a:xfrm>
            <a:off x="713232" y="5227749"/>
            <a:ext cx="2542032" cy="389365"/>
          </a:xfrm>
          <a:prstGeom prst="rect">
            <a:avLst/>
          </a:prstGeom>
          <a:noFill/>
          <a:ln/>
        </p:spPr>
        <p:txBody>
          <a:bodyPr wrap="square" lIns="0" tIns="0" rIns="0" bIns="0" rtlCol="0" anchor="ctr"/>
          <a:lstStyle/>
          <a:p>
            <a:pPr indent="0" marL="0">
              <a:buNone/>
            </a:pPr>
            <a:r>
              <a:rPr lang="en-US" sz="1050" dirty="0">
                <a:solidFill>
                  <a:srgbClr val="45516D"/>
                </a:solidFill>
                <a:latin typeface="Malgun Gothic" pitchFamily="34" charset="0"/>
                <a:ea typeface="Malgun Gothic" pitchFamily="34" charset="-122"/>
                <a:cs typeface="Malgun Gothic" pitchFamily="34" charset="-120"/>
              </a:rPr>
              <a:t>Gradient Checkpointing</a:t>
            </a:r>
            <a:endParaRPr lang="en-US" sz="1050" dirty="0"/>
          </a:p>
        </p:txBody>
      </p:sp>
      <p:sp>
        <p:nvSpPr>
          <p:cNvPr id="41" name="Text 38"/>
          <p:cNvSpPr txBox="1"/>
          <p:nvPr/>
        </p:nvSpPr>
        <p:spPr>
          <a:xfrm>
            <a:off x="3328416" y="5227749"/>
            <a:ext cx="2359152" cy="389365"/>
          </a:xfrm>
          <a:prstGeom prst="rect">
            <a:avLst/>
          </a:prstGeom>
          <a:noFill/>
          <a:ln/>
        </p:spPr>
        <p:txBody>
          <a:bodyPr wrap="square" lIns="0" tIns="0" rIns="0" bIns="0" rtlCol="0" anchor="ctr"/>
          <a:lstStyle/>
          <a:p>
            <a:pPr algn="ctr" indent="0" marL="0">
              <a:buNone/>
            </a:pPr>
            <a:r>
              <a:rPr lang="en-US" sz="950" dirty="0">
                <a:solidFill>
                  <a:srgbClr val="15203A"/>
                </a:solidFill>
                <a:latin typeface="Courier New" pitchFamily="34" charset="0"/>
                <a:ea typeface="Courier New" pitchFamily="34" charset="-122"/>
                <a:cs typeface="Courier New" pitchFamily="34" charset="-120"/>
              </a:rPr>
              <a:t>적용</a:t>
            </a:r>
            <a:endParaRPr lang="en-US" sz="950" dirty="0"/>
          </a:p>
        </p:txBody>
      </p:sp>
      <p:sp>
        <p:nvSpPr>
          <p:cNvPr id="42" name="Text 39"/>
          <p:cNvSpPr txBox="1"/>
          <p:nvPr/>
        </p:nvSpPr>
        <p:spPr>
          <a:xfrm>
            <a:off x="5687568" y="5227749"/>
            <a:ext cx="2359152" cy="389365"/>
          </a:xfrm>
          <a:prstGeom prst="rect">
            <a:avLst/>
          </a:prstGeom>
          <a:noFill/>
          <a:ln/>
        </p:spPr>
        <p:txBody>
          <a:bodyPr wrap="square" lIns="0" tIns="0" rIns="0" bIns="0" rtlCol="0" anchor="ctr"/>
          <a:lstStyle/>
          <a:p>
            <a:pPr algn="ctr" indent="0" marL="0">
              <a:buNone/>
            </a:pPr>
            <a:r>
              <a:rPr lang="en-US" sz="950" dirty="0">
                <a:solidFill>
                  <a:srgbClr val="15203A"/>
                </a:solidFill>
                <a:latin typeface="Courier New" pitchFamily="34" charset="0"/>
                <a:ea typeface="Courier New" pitchFamily="34" charset="-122"/>
                <a:cs typeface="Courier New" pitchFamily="34" charset="-120"/>
              </a:rPr>
              <a:t>적용</a:t>
            </a:r>
            <a:endParaRPr lang="en-US" sz="950" dirty="0"/>
          </a:p>
        </p:txBody>
      </p:sp>
      <p:sp>
        <p:nvSpPr>
          <p:cNvPr id="43" name="Shape 40"/>
          <p:cNvSpPr/>
          <p:nvPr/>
        </p:nvSpPr>
        <p:spPr>
          <a:xfrm>
            <a:off x="566928" y="5637880"/>
            <a:ext cx="7479792" cy="389365"/>
          </a:xfrm>
          <a:prstGeom prst="roundRect">
            <a:avLst>
              <a:gd name="adj" fmla="val 7045"/>
            </a:avLst>
          </a:prstGeom>
          <a:solidFill>
            <a:srgbClr val="F7F9FC"/>
          </a:solidFill>
          <a:ln w="12700">
            <a:solidFill>
              <a:srgbClr val="F7F9FC"/>
            </a:solidFill>
            <a:prstDash val="solid"/>
          </a:ln>
        </p:spPr>
      </p:sp>
      <p:sp>
        <p:nvSpPr>
          <p:cNvPr id="44" name="Text 41"/>
          <p:cNvSpPr txBox="1"/>
          <p:nvPr/>
        </p:nvSpPr>
        <p:spPr>
          <a:xfrm>
            <a:off x="713232" y="5637880"/>
            <a:ext cx="2542032" cy="389365"/>
          </a:xfrm>
          <a:prstGeom prst="rect">
            <a:avLst/>
          </a:prstGeom>
          <a:noFill/>
          <a:ln/>
        </p:spPr>
        <p:txBody>
          <a:bodyPr wrap="square" lIns="0" tIns="0" rIns="0" bIns="0" rtlCol="0" anchor="ctr"/>
          <a:lstStyle/>
          <a:p>
            <a:pPr indent="0" marL="0">
              <a:buNone/>
            </a:pPr>
            <a:r>
              <a:rPr lang="en-US" sz="1050" dirty="0">
                <a:solidFill>
                  <a:srgbClr val="45516D"/>
                </a:solidFill>
                <a:latin typeface="Malgun Gothic" pitchFamily="34" charset="0"/>
                <a:ea typeface="Malgun Gothic" pitchFamily="34" charset="-122"/>
                <a:cs typeface="Malgun Gothic" pitchFamily="34" charset="-120"/>
              </a:rPr>
              <a:t>Optimizer</a:t>
            </a:r>
            <a:endParaRPr lang="en-US" sz="1050" dirty="0"/>
          </a:p>
        </p:txBody>
      </p:sp>
      <p:sp>
        <p:nvSpPr>
          <p:cNvPr id="45" name="Text 42"/>
          <p:cNvSpPr txBox="1"/>
          <p:nvPr/>
        </p:nvSpPr>
        <p:spPr>
          <a:xfrm>
            <a:off x="3328416" y="5637880"/>
            <a:ext cx="2359152" cy="389365"/>
          </a:xfrm>
          <a:prstGeom prst="rect">
            <a:avLst/>
          </a:prstGeom>
          <a:noFill/>
          <a:ln/>
        </p:spPr>
        <p:txBody>
          <a:bodyPr wrap="square" lIns="0" tIns="0" rIns="0" bIns="0" rtlCol="0" anchor="ctr"/>
          <a:lstStyle/>
          <a:p>
            <a:pPr algn="ctr" indent="0" marL="0">
              <a:buNone/>
            </a:pPr>
            <a:r>
              <a:rPr lang="en-US" sz="950" dirty="0">
                <a:solidFill>
                  <a:srgbClr val="15203A"/>
                </a:solidFill>
                <a:latin typeface="Courier New" pitchFamily="34" charset="0"/>
                <a:ea typeface="Courier New" pitchFamily="34" charset="-122"/>
                <a:cs typeface="Courier New" pitchFamily="34" charset="-120"/>
              </a:rPr>
              <a:t>paged_adamw_8bit</a:t>
            </a:r>
            <a:endParaRPr lang="en-US" sz="950" dirty="0"/>
          </a:p>
        </p:txBody>
      </p:sp>
      <p:sp>
        <p:nvSpPr>
          <p:cNvPr id="46" name="Text 43"/>
          <p:cNvSpPr txBox="1"/>
          <p:nvPr/>
        </p:nvSpPr>
        <p:spPr>
          <a:xfrm>
            <a:off x="5687568" y="5637880"/>
            <a:ext cx="2359152" cy="389365"/>
          </a:xfrm>
          <a:prstGeom prst="rect">
            <a:avLst/>
          </a:prstGeom>
          <a:noFill/>
          <a:ln/>
        </p:spPr>
        <p:txBody>
          <a:bodyPr wrap="square" lIns="0" tIns="0" rIns="0" bIns="0" rtlCol="0" anchor="ctr"/>
          <a:lstStyle/>
          <a:p>
            <a:pPr algn="ctr" indent="0" marL="0">
              <a:buNone/>
            </a:pPr>
            <a:r>
              <a:rPr lang="en-US" sz="950" dirty="0">
                <a:solidFill>
                  <a:srgbClr val="15203A"/>
                </a:solidFill>
                <a:latin typeface="Courier New" pitchFamily="34" charset="0"/>
                <a:ea typeface="Courier New" pitchFamily="34" charset="-122"/>
                <a:cs typeface="Courier New" pitchFamily="34" charset="-120"/>
              </a:rPr>
              <a:t>paged_adamw_8bit</a:t>
            </a:r>
            <a:endParaRPr lang="en-US" sz="950" dirty="0"/>
          </a:p>
        </p:txBody>
      </p:sp>
      <p:sp>
        <p:nvSpPr>
          <p:cNvPr id="47" name="Shape 44"/>
          <p:cNvSpPr/>
          <p:nvPr/>
        </p:nvSpPr>
        <p:spPr>
          <a:xfrm>
            <a:off x="566928" y="6048011"/>
            <a:ext cx="7479792" cy="389365"/>
          </a:xfrm>
          <a:prstGeom prst="roundRect">
            <a:avLst>
              <a:gd name="adj" fmla="val 7045"/>
            </a:avLst>
          </a:prstGeom>
          <a:solidFill>
            <a:srgbClr val="FFFFFF"/>
          </a:solidFill>
          <a:ln w="12700">
            <a:solidFill>
              <a:srgbClr val="FFFFFF"/>
            </a:solidFill>
            <a:prstDash val="solid"/>
          </a:ln>
        </p:spPr>
      </p:sp>
      <p:sp>
        <p:nvSpPr>
          <p:cNvPr id="48" name="Text 45"/>
          <p:cNvSpPr txBox="1"/>
          <p:nvPr/>
        </p:nvSpPr>
        <p:spPr>
          <a:xfrm>
            <a:off x="713232" y="6048011"/>
            <a:ext cx="2542032" cy="389365"/>
          </a:xfrm>
          <a:prstGeom prst="rect">
            <a:avLst/>
          </a:prstGeom>
          <a:noFill/>
          <a:ln/>
        </p:spPr>
        <p:txBody>
          <a:bodyPr wrap="square" lIns="0" tIns="0" rIns="0" bIns="0" rtlCol="0" anchor="ctr"/>
          <a:lstStyle/>
          <a:p>
            <a:pPr indent="0" marL="0">
              <a:buNone/>
            </a:pPr>
            <a:r>
              <a:rPr lang="en-US" sz="1050" dirty="0">
                <a:solidFill>
                  <a:srgbClr val="45516D"/>
                </a:solidFill>
                <a:latin typeface="Malgun Gothic" pitchFamily="34" charset="0"/>
                <a:ea typeface="Malgun Gothic" pitchFamily="34" charset="-122"/>
                <a:cs typeface="Malgun Gothic" pitchFamily="34" charset="-120"/>
              </a:rPr>
              <a:t>Max Steps</a:t>
            </a:r>
            <a:endParaRPr lang="en-US" sz="1050" dirty="0"/>
          </a:p>
        </p:txBody>
      </p:sp>
      <p:sp>
        <p:nvSpPr>
          <p:cNvPr id="49" name="Text 46"/>
          <p:cNvSpPr txBox="1"/>
          <p:nvPr/>
        </p:nvSpPr>
        <p:spPr>
          <a:xfrm>
            <a:off x="3328416" y="6048011"/>
            <a:ext cx="2359152" cy="389365"/>
          </a:xfrm>
          <a:prstGeom prst="rect">
            <a:avLst/>
          </a:prstGeom>
          <a:noFill/>
          <a:ln/>
        </p:spPr>
        <p:txBody>
          <a:bodyPr wrap="square" lIns="0" tIns="0" rIns="0" bIns="0" rtlCol="0" anchor="ctr"/>
          <a:lstStyle/>
          <a:p>
            <a:pPr algn="ctr" indent="0" marL="0">
              <a:buNone/>
            </a:pPr>
            <a:r>
              <a:rPr lang="en-US" sz="950" dirty="0">
                <a:solidFill>
                  <a:srgbClr val="15203A"/>
                </a:solidFill>
                <a:latin typeface="Courier New" pitchFamily="34" charset="0"/>
                <a:ea typeface="Courier New" pitchFamily="34" charset="-122"/>
                <a:cs typeface="Courier New" pitchFamily="34" charset="-120"/>
              </a:rPr>
              <a:t>80</a:t>
            </a:r>
            <a:endParaRPr lang="en-US" sz="950" dirty="0"/>
          </a:p>
        </p:txBody>
      </p:sp>
      <p:sp>
        <p:nvSpPr>
          <p:cNvPr id="50" name="Text 47"/>
          <p:cNvSpPr txBox="1"/>
          <p:nvPr/>
        </p:nvSpPr>
        <p:spPr>
          <a:xfrm>
            <a:off x="5687568" y="6048011"/>
            <a:ext cx="2359152" cy="389365"/>
          </a:xfrm>
          <a:prstGeom prst="rect">
            <a:avLst/>
          </a:prstGeom>
          <a:noFill/>
          <a:ln/>
        </p:spPr>
        <p:txBody>
          <a:bodyPr wrap="square" lIns="0" tIns="0" rIns="0" bIns="0" rtlCol="0" anchor="ctr"/>
          <a:lstStyle/>
          <a:p>
            <a:pPr algn="ctr" indent="0" marL="0">
              <a:buNone/>
            </a:pPr>
            <a:r>
              <a:rPr lang="en-US" sz="950" dirty="0">
                <a:solidFill>
                  <a:srgbClr val="15203A"/>
                </a:solidFill>
                <a:latin typeface="Courier New" pitchFamily="34" charset="0"/>
                <a:ea typeface="Courier New" pitchFamily="34" charset="-122"/>
                <a:cs typeface="Courier New" pitchFamily="34" charset="-120"/>
              </a:rPr>
              <a:t>80</a:t>
            </a:r>
            <a:endParaRPr lang="en-US" sz="950" dirty="0"/>
          </a:p>
        </p:txBody>
      </p:sp>
      <p:sp>
        <p:nvSpPr>
          <p:cNvPr id="51" name="Shape 48"/>
          <p:cNvSpPr/>
          <p:nvPr/>
        </p:nvSpPr>
        <p:spPr>
          <a:xfrm>
            <a:off x="8375904" y="1899976"/>
            <a:ext cx="3236976" cy="2429638"/>
          </a:xfrm>
          <a:prstGeom prst="roundRect">
            <a:avLst>
              <a:gd name="adj" fmla="val 2258"/>
            </a:avLst>
          </a:prstGeom>
          <a:solidFill>
            <a:srgbClr val="0E1A33"/>
          </a:solidFill>
          <a:ln w="12700">
            <a:solidFill>
              <a:srgbClr val="0E1A33"/>
            </a:solidFill>
            <a:prstDash val="solid"/>
          </a:ln>
        </p:spPr>
      </p:sp>
      <p:sp>
        <p:nvSpPr>
          <p:cNvPr id="52" name="Text 49"/>
          <p:cNvSpPr txBox="1"/>
          <p:nvPr/>
        </p:nvSpPr>
        <p:spPr>
          <a:xfrm>
            <a:off x="8577072" y="2086871"/>
            <a:ext cx="2834640" cy="290726"/>
          </a:xfrm>
          <a:prstGeom prst="rect">
            <a:avLst/>
          </a:prstGeom>
          <a:noFill/>
          <a:ln/>
        </p:spPr>
        <p:txBody>
          <a:bodyPr wrap="square" lIns="0" tIns="0" rIns="0" bIns="0" rtlCol="0" anchor="ctr"/>
          <a:lstStyle/>
          <a:p>
            <a:pPr indent="0" marL="0">
              <a:buNone/>
            </a:pPr>
            <a:r>
              <a:rPr lang="en-US" sz="1100" b="1" spc="80" kern="0" dirty="0">
                <a:solidFill>
                  <a:srgbClr val="F0B96A"/>
                </a:solidFill>
                <a:latin typeface="Malgun Gothic" pitchFamily="34" charset="0"/>
                <a:ea typeface="Malgun Gothic" pitchFamily="34" charset="-122"/>
                <a:cs typeface="Malgun Gothic" pitchFamily="34" charset="-120"/>
              </a:rPr>
              <a:t>흔한 오해</a:t>
            </a:r>
            <a:endParaRPr lang="en-US" sz="1100" dirty="0"/>
          </a:p>
        </p:txBody>
      </p:sp>
      <p:sp>
        <p:nvSpPr>
          <p:cNvPr id="53" name="Text 50"/>
          <p:cNvSpPr txBox="1"/>
          <p:nvPr/>
        </p:nvSpPr>
        <p:spPr>
          <a:xfrm>
            <a:off x="8577072" y="2439895"/>
            <a:ext cx="2834640" cy="706049"/>
          </a:xfrm>
          <a:prstGeom prst="rect">
            <a:avLst/>
          </a:prstGeom>
          <a:noFill/>
          <a:ln/>
        </p:spPr>
        <p:txBody>
          <a:bodyPr wrap="square" lIns="0" tIns="0" rIns="0" bIns="0" rtlCol="0" anchor="ctr"/>
          <a:lstStyle/>
          <a:p>
            <a:pPr indent="0" marL="0">
              <a:lnSpc>
                <a:spcPts val="1700"/>
              </a:lnSpc>
              <a:buNone/>
            </a:pPr>
            <a:r>
              <a:rPr lang="en-US" sz="1100" dirty="0">
                <a:solidFill>
                  <a:srgbClr val="B7C6E0"/>
                </a:solidFill>
                <a:latin typeface="Malgun Gothic" pitchFamily="34" charset="0"/>
                <a:ea typeface="Malgun Gothic" pitchFamily="34" charset="-122"/>
                <a:cs typeface="Malgun Gothic" pitchFamily="34" charset="-120"/>
              </a:rPr>
              <a:t>LoRA 노트북도 paged_adamw_8bit를 사용한다.</a:t>
            </a:r>
            <a:endParaRPr lang="en-US" sz="1100" dirty="0"/>
          </a:p>
          <a:p>
            <a:pPr indent="0" marL="0">
              <a:lnSpc>
                <a:spcPts val="1700"/>
              </a:lnSpc>
              <a:buNone/>
            </a:pPr>
            <a:r>
              <a:rPr lang="en-US" sz="1100" dirty="0">
                <a:solidFill>
                  <a:srgbClr val="B7C6E0"/>
                </a:solidFill>
                <a:latin typeface="Malgun Gothic" pitchFamily="34" charset="0"/>
                <a:ea typeface="Malgun Gothic" pitchFamily="34" charset="-122"/>
                <a:cs typeface="Malgun Gothic" pitchFamily="34" charset="-120"/>
              </a:rPr>
              <a:t>그러나 이것은 QLoRA를 의미하지 않는다.</a:t>
            </a:r>
            <a:endParaRPr lang="en-US" sz="1100" dirty="0"/>
          </a:p>
        </p:txBody>
      </p:sp>
      <p:sp>
        <p:nvSpPr>
          <p:cNvPr id="54" name="Text 51"/>
          <p:cNvSpPr txBox="1"/>
          <p:nvPr/>
        </p:nvSpPr>
        <p:spPr>
          <a:xfrm>
            <a:off x="8577072" y="3229008"/>
            <a:ext cx="2834640" cy="892944"/>
          </a:xfrm>
          <a:prstGeom prst="rect">
            <a:avLst/>
          </a:prstGeom>
          <a:noFill/>
          <a:ln/>
        </p:spPr>
        <p:txBody>
          <a:bodyPr wrap="square" lIns="0" tIns="0" rIns="0" bIns="0" rtlCol="0" anchor="ctr"/>
          <a:lstStyle/>
          <a:p>
            <a:pPr indent="0" marL="0">
              <a:lnSpc>
                <a:spcPts val="2000"/>
              </a:lnSpc>
              <a:buNone/>
            </a:pPr>
            <a:r>
              <a:rPr lang="en-US" sz="1250" b="1" dirty="0">
                <a:solidFill>
                  <a:srgbClr val="FFFFFF"/>
                </a:solidFill>
                <a:latin typeface="Malgun Gothic" pitchFamily="34" charset="0"/>
                <a:ea typeface="Malgun Gothic" pitchFamily="34" charset="-122"/>
                <a:cs typeface="Malgun Gothic" pitchFamily="34" charset="-120"/>
              </a:rPr>
              <a:t>QLoRA의 핵심 차이는 Base Model Weight를 NF4 4bit로 Quantization하여 로드했다는 점이다.</a:t>
            </a:r>
            <a:endParaRPr lang="en-US" sz="1250" dirty="0"/>
          </a:p>
        </p:txBody>
      </p:sp>
      <p:sp>
        <p:nvSpPr>
          <p:cNvPr id="55" name="Shape 52"/>
          <p:cNvSpPr/>
          <p:nvPr/>
        </p:nvSpPr>
        <p:spPr>
          <a:xfrm>
            <a:off x="8375904" y="4495742"/>
            <a:ext cx="3236976" cy="1931250"/>
          </a:xfrm>
          <a:prstGeom prst="roundRect">
            <a:avLst>
              <a:gd name="adj" fmla="val 2841"/>
            </a:avLst>
          </a:prstGeom>
          <a:solidFill>
            <a:srgbClr val="F2F5FA"/>
          </a:solidFill>
          <a:ln w="12700">
            <a:solidFill>
              <a:srgbClr val="F2F5FA"/>
            </a:solidFill>
            <a:prstDash val="solid"/>
          </a:ln>
        </p:spPr>
      </p:sp>
      <p:sp>
        <p:nvSpPr>
          <p:cNvPr id="56" name="Text 53"/>
          <p:cNvSpPr txBox="1"/>
          <p:nvPr/>
        </p:nvSpPr>
        <p:spPr>
          <a:xfrm>
            <a:off x="8577072" y="4661872"/>
            <a:ext cx="2834640" cy="290726"/>
          </a:xfrm>
          <a:prstGeom prst="rect">
            <a:avLst/>
          </a:prstGeom>
          <a:noFill/>
          <a:ln/>
        </p:spPr>
        <p:txBody>
          <a:bodyPr wrap="square" lIns="0" tIns="0" rIns="0" bIns="0" rtlCol="0" anchor="ctr"/>
          <a:lstStyle/>
          <a:p>
            <a:pPr indent="0" marL="0">
              <a:buNone/>
            </a:pPr>
            <a:r>
              <a:rPr lang="en-US" sz="1150" b="1" dirty="0">
                <a:solidFill>
                  <a:srgbClr val="15203A"/>
                </a:solidFill>
                <a:latin typeface="Malgun Gothic" pitchFamily="34" charset="0"/>
                <a:ea typeface="Malgun Gothic" pitchFamily="34" charset="-122"/>
                <a:cs typeface="Malgun Gothic" pitchFamily="34" charset="-120"/>
              </a:rPr>
              <a:t>total params 수치 해석 주의</a:t>
            </a:r>
            <a:endParaRPr lang="en-US" sz="1150" dirty="0"/>
          </a:p>
        </p:txBody>
      </p:sp>
      <p:sp>
        <p:nvSpPr>
          <p:cNvPr id="57" name="Text 54"/>
          <p:cNvSpPr txBox="1"/>
          <p:nvPr/>
        </p:nvSpPr>
        <p:spPr>
          <a:xfrm>
            <a:off x="8577072" y="4994130"/>
            <a:ext cx="2889504" cy="539919"/>
          </a:xfrm>
          <a:prstGeom prst="rect">
            <a:avLst/>
          </a:prstGeom>
          <a:noFill/>
          <a:ln/>
        </p:spPr>
        <p:txBody>
          <a:bodyPr wrap="square" lIns="0" tIns="0" rIns="0" bIns="0" rtlCol="0" anchor="ctr"/>
          <a:lstStyle/>
          <a:p>
            <a:pPr indent="0" marL="0">
              <a:lnSpc>
                <a:spcPts val="1400"/>
              </a:lnSpc>
              <a:buNone/>
            </a:pPr>
            <a:r>
              <a:rPr lang="en-US" sz="900" dirty="0">
                <a:solidFill>
                  <a:srgbClr val="2563EB"/>
                </a:solidFill>
                <a:latin typeface="Courier New" pitchFamily="34" charset="0"/>
                <a:ea typeface="Courier New" pitchFamily="34" charset="-122"/>
                <a:cs typeface="Courier New" pitchFamily="34" charset="-120"/>
              </a:rPr>
              <a:t>LoRA      17.4M / 1,738,007,552  (1.0030%)</a:t>
            </a:r>
            <a:endParaRPr lang="en-US" sz="900" dirty="0"/>
          </a:p>
          <a:p>
            <a:pPr indent="0" marL="0">
              <a:lnSpc>
                <a:spcPts val="1400"/>
              </a:lnSpc>
              <a:buNone/>
            </a:pPr>
            <a:r>
              <a:rPr lang="en-US" sz="900" dirty="0">
                <a:solidFill>
                  <a:srgbClr val="C2690B"/>
                </a:solidFill>
                <a:latin typeface="Courier New" pitchFamily="34" charset="0"/>
                <a:ea typeface="Courier New" pitchFamily="34" charset="-122"/>
                <a:cs typeface="Courier New" pitchFamily="34" charset="-120"/>
              </a:rPr>
              <a:t>QLoRA    17.4M / 1,033,364,480  (1.6870%)</a:t>
            </a:r>
            <a:endParaRPr lang="en-US" sz="900" dirty="0"/>
          </a:p>
        </p:txBody>
      </p:sp>
      <p:sp>
        <p:nvSpPr>
          <p:cNvPr id="58" name="Text 55"/>
          <p:cNvSpPr txBox="1"/>
          <p:nvPr/>
        </p:nvSpPr>
        <p:spPr>
          <a:xfrm>
            <a:off x="8577072" y="5575581"/>
            <a:ext cx="2889504" cy="789113"/>
          </a:xfrm>
          <a:prstGeom prst="rect">
            <a:avLst/>
          </a:prstGeom>
          <a:noFill/>
          <a:ln/>
        </p:spPr>
        <p:txBody>
          <a:bodyPr wrap="square" lIns="0" tIns="0" rIns="0" bIns="0" rtlCol="0" anchor="ctr"/>
          <a:lstStyle/>
          <a:p>
            <a:pPr indent="0" marL="0">
              <a:lnSpc>
                <a:spcPts val="1300"/>
              </a:lnSpc>
              <a:buNone/>
            </a:pPr>
            <a:r>
              <a:rPr lang="en-US" sz="950" dirty="0">
                <a:solidFill>
                  <a:srgbClr val="5C6780"/>
                </a:solidFill>
                <a:latin typeface="Malgun Gothic" pitchFamily="34" charset="0"/>
                <a:ea typeface="Malgun Gothic" pitchFamily="34" charset="-122"/>
                <a:cs typeface="Malgun Gothic" pitchFamily="34" charset="-120"/>
              </a:rPr>
              <a:t>분모 차이는 Quantized Model의 내부 파라미터 표현 방식에서 비롯된다. 따라서 이 퍼센트로 모델 크기를 직접 비교하지 않고, 양쪽 모두 17,432,576개의 LoRA Parameter를 학습했다는 사실을 기준으로 해석한다.</a:t>
            </a:r>
            <a:endParaRPr lang="en-US" sz="950" dirty="0"/>
          </a:p>
        </p:txBody>
      </p:sp>
      <p:sp>
        <p:nvSpPr>
          <p:cNvPr id="59" name="Text 56"/>
          <p:cNvSpPr txBox="1"/>
          <p:nvPr/>
        </p:nvSpPr>
        <p:spPr>
          <a:xfrm>
            <a:off x="11277295" y="6355080"/>
            <a:ext cx="457200" cy="274320"/>
          </a:xfrm>
          <a:prstGeom prst="rect">
            <a:avLst/>
          </a:prstGeom>
          <a:noFill/>
          <a:ln/>
        </p:spPr>
        <p:txBody>
          <a:bodyPr wrap="square" lIns="0" tIns="0" rIns="0" bIns="0" rtlCol="0" anchor="ctr"/>
          <a:lstStyle/>
          <a:p>
            <a:pPr algn="r" indent="0" marL="0">
              <a:buNone/>
            </a:pPr>
            <a:r>
              <a:rPr lang="en-US" sz="1000" dirty="0">
                <a:solidFill>
                  <a:srgbClr val="9AA6BC"/>
                </a:solidFill>
                <a:latin typeface="Malgun Gothic" pitchFamily="34" charset="0"/>
                <a:ea typeface="Malgun Gothic" pitchFamily="34" charset="-122"/>
                <a:cs typeface="Malgun Gothic"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66928" y="384048"/>
            <a:ext cx="1609344" cy="316376"/>
          </a:xfrm>
          <a:prstGeom prst="roundRect">
            <a:avLst>
              <a:gd name="adj" fmla="val 43353"/>
            </a:avLst>
          </a:prstGeom>
          <a:solidFill>
            <a:srgbClr val="E4EDFE"/>
          </a:solidFill>
          <a:ln w="12700">
            <a:solidFill>
              <a:srgbClr val="E4EDFE"/>
            </a:solidFill>
            <a:prstDash val="solid"/>
          </a:ln>
        </p:spPr>
      </p:sp>
      <p:sp>
        <p:nvSpPr>
          <p:cNvPr id="4" name="Text 1"/>
          <p:cNvSpPr txBox="1"/>
          <p:nvPr/>
        </p:nvSpPr>
        <p:spPr>
          <a:xfrm>
            <a:off x="566928" y="384048"/>
            <a:ext cx="1609344" cy="316376"/>
          </a:xfrm>
          <a:prstGeom prst="rect">
            <a:avLst/>
          </a:prstGeom>
          <a:noFill/>
          <a:ln/>
        </p:spPr>
        <p:txBody>
          <a:bodyPr wrap="square" lIns="0" tIns="0" rIns="0" bIns="0" rtlCol="0" anchor="ctr"/>
          <a:lstStyle/>
          <a:p>
            <a:pPr algn="ctr" indent="0" marL="0">
              <a:buNone/>
            </a:pPr>
            <a:r>
              <a:rPr lang="en-US" sz="1050" b="1" spc="60" kern="0" dirty="0">
                <a:solidFill>
                  <a:srgbClr val="1D4ED8"/>
                </a:solidFill>
                <a:latin typeface="Malgun Gothic" pitchFamily="34" charset="0"/>
                <a:ea typeface="Malgun Gothic" pitchFamily="34" charset="-122"/>
                <a:cs typeface="Malgun Gothic" pitchFamily="34" charset="-120"/>
              </a:rPr>
              <a:t>05  VALIDATION</a:t>
            </a:r>
            <a:endParaRPr lang="en-US" sz="1050" dirty="0"/>
          </a:p>
        </p:txBody>
      </p:sp>
      <p:sp>
        <p:nvSpPr>
          <p:cNvPr id="5" name="Text 2"/>
          <p:cNvSpPr txBox="1"/>
          <p:nvPr/>
        </p:nvSpPr>
        <p:spPr>
          <a:xfrm>
            <a:off x="566928" y="763699"/>
            <a:ext cx="11057839" cy="590569"/>
          </a:xfrm>
          <a:prstGeom prst="rect">
            <a:avLst/>
          </a:prstGeom>
          <a:noFill/>
          <a:ln/>
        </p:spPr>
        <p:txBody>
          <a:bodyPr wrap="square" lIns="0" tIns="0" rIns="0" bIns="0" rtlCol="0" anchor="ctr"/>
          <a:lstStyle/>
          <a:p>
            <a:pPr indent="0" marL="0">
              <a:buNone/>
            </a:pPr>
            <a:r>
              <a:rPr lang="en-US" sz="3000" b="1" dirty="0">
                <a:solidFill>
                  <a:srgbClr val="15203A"/>
                </a:solidFill>
                <a:latin typeface="Malgun Gothic" pitchFamily="34" charset="0"/>
                <a:ea typeface="Malgun Gothic" pitchFamily="34" charset="-122"/>
                <a:cs typeface="Malgun Gothic" pitchFamily="34" charset="-120"/>
              </a:rPr>
              <a:t>검증 방법 — 세 개의 독립된 평가축</a:t>
            </a:r>
            <a:endParaRPr lang="en-US" sz="3000" dirty="0"/>
          </a:p>
        </p:txBody>
      </p:sp>
      <p:sp>
        <p:nvSpPr>
          <p:cNvPr id="6" name="Text 3"/>
          <p:cNvSpPr txBox="1"/>
          <p:nvPr/>
        </p:nvSpPr>
        <p:spPr>
          <a:xfrm>
            <a:off x="566928" y="1343722"/>
            <a:ext cx="11057839" cy="337468"/>
          </a:xfrm>
          <a:prstGeom prst="rect">
            <a:avLst/>
          </a:prstGeom>
          <a:noFill/>
          <a:ln/>
        </p:spPr>
        <p:txBody>
          <a:bodyPr wrap="square" lIns="0" tIns="0" rIns="0" bIns="0" rtlCol="0" anchor="t"/>
          <a:lstStyle/>
          <a:p>
            <a:pPr indent="0" marL="0">
              <a:buNone/>
            </a:pPr>
            <a:r>
              <a:rPr lang="en-US" sz="1300" dirty="0">
                <a:solidFill>
                  <a:srgbClr val="64748B"/>
                </a:solidFill>
                <a:latin typeface="Malgun Gothic" pitchFamily="34" charset="0"/>
                <a:ea typeface="Malgun Gothic" pitchFamily="34" charset="-122"/>
                <a:cs typeface="Malgun Gothic" pitchFamily="34" charset="-120"/>
              </a:rPr>
              <a:t>서로 다른 축을 섞어서 하나의 우열로 요약하지 않는다</a:t>
            </a:r>
            <a:endParaRPr lang="en-US" sz="1300" dirty="0"/>
          </a:p>
        </p:txBody>
      </p:sp>
      <p:sp>
        <p:nvSpPr>
          <p:cNvPr id="7" name="Shape 4"/>
          <p:cNvSpPr/>
          <p:nvPr/>
        </p:nvSpPr>
        <p:spPr>
          <a:xfrm>
            <a:off x="566928" y="1923745"/>
            <a:ext cx="3584448" cy="2341183"/>
          </a:xfrm>
          <a:prstGeom prst="roundRect">
            <a:avLst>
              <a:gd name="adj" fmla="val 2343"/>
            </a:avLst>
          </a:prstGeom>
          <a:solidFill>
            <a:srgbClr val="FAFBFD"/>
          </a:solidFill>
          <a:ln w="12700">
            <a:solidFill>
              <a:srgbClr val="D8E0EC"/>
            </a:solidFill>
            <a:prstDash val="solid"/>
          </a:ln>
        </p:spPr>
      </p:sp>
      <p:sp>
        <p:nvSpPr>
          <p:cNvPr id="8" name="Shape 5"/>
          <p:cNvSpPr/>
          <p:nvPr/>
        </p:nvSpPr>
        <p:spPr>
          <a:xfrm>
            <a:off x="786384" y="2113570"/>
            <a:ext cx="384048" cy="442926"/>
          </a:xfrm>
          <a:prstGeom prst="ellipse">
            <a:avLst/>
          </a:prstGeom>
          <a:solidFill>
            <a:srgbClr val="E4EDFE"/>
          </a:solidFill>
          <a:ln w="12700">
            <a:solidFill>
              <a:srgbClr val="E4EDFE"/>
            </a:solidFill>
            <a:prstDash val="solid"/>
          </a:ln>
        </p:spPr>
      </p:sp>
      <p:sp>
        <p:nvSpPr>
          <p:cNvPr id="9" name="Text 6"/>
          <p:cNvSpPr txBox="1"/>
          <p:nvPr/>
        </p:nvSpPr>
        <p:spPr>
          <a:xfrm>
            <a:off x="786384" y="2113570"/>
            <a:ext cx="384048" cy="442926"/>
          </a:xfrm>
          <a:prstGeom prst="rect">
            <a:avLst/>
          </a:prstGeom>
          <a:noFill/>
          <a:ln/>
        </p:spPr>
        <p:txBody>
          <a:bodyPr wrap="square" lIns="0" tIns="0" rIns="0" bIns="0" rtlCol="0" anchor="ctr"/>
          <a:lstStyle/>
          <a:p>
            <a:pPr algn="ctr" indent="0" marL="0">
              <a:buNone/>
            </a:pPr>
            <a:r>
              <a:rPr lang="en-US" sz="1100" b="1" dirty="0">
                <a:solidFill>
                  <a:srgbClr val="2563EB"/>
                </a:solidFill>
                <a:latin typeface="Malgun Gothic" pitchFamily="34" charset="0"/>
                <a:ea typeface="Malgun Gothic" pitchFamily="34" charset="-122"/>
                <a:cs typeface="Malgun Gothic" pitchFamily="34" charset="-120"/>
              </a:rPr>
              <a:t>01</a:t>
            </a:r>
            <a:endParaRPr lang="en-US" sz="1100" dirty="0"/>
          </a:p>
        </p:txBody>
      </p:sp>
      <p:sp>
        <p:nvSpPr>
          <p:cNvPr id="10" name="Text 7"/>
          <p:cNvSpPr txBox="1"/>
          <p:nvPr/>
        </p:nvSpPr>
        <p:spPr>
          <a:xfrm>
            <a:off x="1261872" y="2113570"/>
            <a:ext cx="2670048" cy="442926"/>
          </a:xfrm>
          <a:prstGeom prst="rect">
            <a:avLst/>
          </a:prstGeom>
          <a:noFill/>
          <a:ln/>
        </p:spPr>
        <p:txBody>
          <a:bodyPr wrap="square" lIns="0" tIns="0" rIns="0" bIns="0" rtlCol="0" anchor="ctr"/>
          <a:lstStyle/>
          <a:p>
            <a:pPr indent="0" marL="0">
              <a:buNone/>
            </a:pPr>
            <a:r>
              <a:rPr lang="en-US" sz="1400" b="1" dirty="0">
                <a:solidFill>
                  <a:srgbClr val="15203A"/>
                </a:solidFill>
                <a:latin typeface="Malgun Gothic" pitchFamily="34" charset="0"/>
                <a:ea typeface="Malgun Gothic" pitchFamily="34" charset="-122"/>
                <a:cs typeface="Malgun Gothic" pitchFamily="34" charset="-120"/>
              </a:rPr>
              <a:t>학습 수렴</a:t>
            </a:r>
            <a:endParaRPr lang="en-US" sz="1400" dirty="0"/>
          </a:p>
        </p:txBody>
      </p:sp>
      <p:sp>
        <p:nvSpPr>
          <p:cNvPr id="11" name="Shape 8"/>
          <p:cNvSpPr/>
          <p:nvPr/>
        </p:nvSpPr>
        <p:spPr>
          <a:xfrm>
            <a:off x="822960" y="2820143"/>
            <a:ext cx="91440" cy="105459"/>
          </a:xfrm>
          <a:prstGeom prst="ellipse">
            <a:avLst/>
          </a:prstGeom>
          <a:solidFill>
            <a:srgbClr val="2563EB"/>
          </a:solidFill>
          <a:ln w="12700">
            <a:solidFill>
              <a:srgbClr val="2563EB"/>
            </a:solidFill>
            <a:prstDash val="solid"/>
          </a:ln>
        </p:spPr>
      </p:sp>
      <p:sp>
        <p:nvSpPr>
          <p:cNvPr id="12" name="Text 9"/>
          <p:cNvSpPr txBox="1"/>
          <p:nvPr/>
        </p:nvSpPr>
        <p:spPr>
          <a:xfrm>
            <a:off x="1005840" y="2725231"/>
            <a:ext cx="2926080" cy="295284"/>
          </a:xfrm>
          <a:prstGeom prst="rect">
            <a:avLst/>
          </a:prstGeom>
          <a:noFill/>
          <a:ln/>
        </p:spPr>
        <p:txBody>
          <a:bodyPr wrap="square" lIns="0" tIns="0" rIns="0" bIns="0" rtlCol="0" anchor="ctr"/>
          <a:lstStyle/>
          <a:p>
            <a:pPr indent="0" marL="0">
              <a:buNone/>
            </a:pPr>
            <a:r>
              <a:rPr lang="en-US" sz="1100" dirty="0">
                <a:solidFill>
                  <a:srgbClr val="45516D"/>
                </a:solidFill>
                <a:latin typeface="Malgun Gothic" pitchFamily="34" charset="0"/>
                <a:ea typeface="Malgun Gothic" pitchFamily="34" charset="-122"/>
                <a:cs typeface="Malgun Gothic" pitchFamily="34" charset="-120"/>
              </a:rPr>
              <a:t>Training Loss 추세</a:t>
            </a:r>
            <a:endParaRPr lang="en-US" sz="1100" dirty="0"/>
          </a:p>
        </p:txBody>
      </p:sp>
      <p:sp>
        <p:nvSpPr>
          <p:cNvPr id="13" name="Shape 10"/>
          <p:cNvSpPr/>
          <p:nvPr/>
        </p:nvSpPr>
        <p:spPr>
          <a:xfrm>
            <a:off x="822960" y="3178703"/>
            <a:ext cx="91440" cy="105459"/>
          </a:xfrm>
          <a:prstGeom prst="ellipse">
            <a:avLst/>
          </a:prstGeom>
          <a:solidFill>
            <a:srgbClr val="2563EB"/>
          </a:solidFill>
          <a:ln w="12700">
            <a:solidFill>
              <a:srgbClr val="2563EB"/>
            </a:solidFill>
            <a:prstDash val="solid"/>
          </a:ln>
        </p:spPr>
      </p:sp>
      <p:sp>
        <p:nvSpPr>
          <p:cNvPr id="14" name="Text 11"/>
          <p:cNvSpPr txBox="1"/>
          <p:nvPr/>
        </p:nvSpPr>
        <p:spPr>
          <a:xfrm>
            <a:off x="1005840" y="3083790"/>
            <a:ext cx="2926080" cy="295284"/>
          </a:xfrm>
          <a:prstGeom prst="rect">
            <a:avLst/>
          </a:prstGeom>
          <a:noFill/>
          <a:ln/>
        </p:spPr>
        <p:txBody>
          <a:bodyPr wrap="square" lIns="0" tIns="0" rIns="0" bIns="0" rtlCol="0" anchor="ctr"/>
          <a:lstStyle/>
          <a:p>
            <a:pPr indent="0" marL="0">
              <a:buNone/>
            </a:pPr>
            <a:r>
              <a:rPr lang="en-US" sz="1100" dirty="0">
                <a:solidFill>
                  <a:srgbClr val="45516D"/>
                </a:solidFill>
                <a:latin typeface="Malgun Gothic" pitchFamily="34" charset="0"/>
                <a:ea typeface="Malgun Gothic" pitchFamily="34" charset="-122"/>
                <a:cs typeface="Malgun Gothic" pitchFamily="34" charset="-120"/>
              </a:rPr>
              <a:t>Mean Token Accuracy</a:t>
            </a:r>
            <a:endParaRPr lang="en-US" sz="1100" dirty="0"/>
          </a:p>
        </p:txBody>
      </p:sp>
      <p:sp>
        <p:nvSpPr>
          <p:cNvPr id="15" name="Shape 12"/>
          <p:cNvSpPr/>
          <p:nvPr/>
        </p:nvSpPr>
        <p:spPr>
          <a:xfrm>
            <a:off x="822960" y="3537262"/>
            <a:ext cx="91440" cy="105459"/>
          </a:xfrm>
          <a:prstGeom prst="ellipse">
            <a:avLst/>
          </a:prstGeom>
          <a:solidFill>
            <a:srgbClr val="2563EB"/>
          </a:solidFill>
          <a:ln w="12700">
            <a:solidFill>
              <a:srgbClr val="2563EB"/>
            </a:solidFill>
            <a:prstDash val="solid"/>
          </a:ln>
        </p:spPr>
      </p:sp>
      <p:sp>
        <p:nvSpPr>
          <p:cNvPr id="16" name="Text 13"/>
          <p:cNvSpPr txBox="1"/>
          <p:nvPr/>
        </p:nvSpPr>
        <p:spPr>
          <a:xfrm>
            <a:off x="1005840" y="3442350"/>
            <a:ext cx="2926080" cy="295284"/>
          </a:xfrm>
          <a:prstGeom prst="rect">
            <a:avLst/>
          </a:prstGeom>
          <a:noFill/>
          <a:ln/>
        </p:spPr>
        <p:txBody>
          <a:bodyPr wrap="square" lIns="0" tIns="0" rIns="0" bIns="0" rtlCol="0" anchor="ctr"/>
          <a:lstStyle/>
          <a:p>
            <a:pPr indent="0" marL="0">
              <a:buNone/>
            </a:pPr>
            <a:r>
              <a:rPr lang="en-US" sz="1100" dirty="0">
                <a:solidFill>
                  <a:srgbClr val="45516D"/>
                </a:solidFill>
                <a:latin typeface="Malgun Gothic" pitchFamily="34" charset="0"/>
                <a:ea typeface="Malgun Gothic" pitchFamily="34" charset="-122"/>
                <a:cs typeface="Malgun Gothic" pitchFamily="34" charset="-120"/>
              </a:rPr>
              <a:t>step별 진동과 수렴 지점</a:t>
            </a:r>
            <a:endParaRPr lang="en-US" sz="1100" dirty="0"/>
          </a:p>
        </p:txBody>
      </p:sp>
      <p:sp>
        <p:nvSpPr>
          <p:cNvPr id="17" name="Shape 14"/>
          <p:cNvSpPr/>
          <p:nvPr/>
        </p:nvSpPr>
        <p:spPr>
          <a:xfrm>
            <a:off x="4480560" y="1923745"/>
            <a:ext cx="3584448" cy="2341183"/>
          </a:xfrm>
          <a:prstGeom prst="roundRect">
            <a:avLst>
              <a:gd name="adj" fmla="val 2343"/>
            </a:avLst>
          </a:prstGeom>
          <a:solidFill>
            <a:srgbClr val="FAFBFD"/>
          </a:solidFill>
          <a:ln w="12700">
            <a:solidFill>
              <a:srgbClr val="D8E0EC"/>
            </a:solidFill>
            <a:prstDash val="solid"/>
          </a:ln>
        </p:spPr>
      </p:sp>
      <p:sp>
        <p:nvSpPr>
          <p:cNvPr id="18" name="Shape 15"/>
          <p:cNvSpPr/>
          <p:nvPr/>
        </p:nvSpPr>
        <p:spPr>
          <a:xfrm>
            <a:off x="4700016" y="2113570"/>
            <a:ext cx="384048" cy="442926"/>
          </a:xfrm>
          <a:prstGeom prst="ellipse">
            <a:avLst/>
          </a:prstGeom>
          <a:solidFill>
            <a:srgbClr val="FAEEDD"/>
          </a:solidFill>
          <a:ln w="12700">
            <a:solidFill>
              <a:srgbClr val="FAEEDD"/>
            </a:solidFill>
            <a:prstDash val="solid"/>
          </a:ln>
        </p:spPr>
      </p:sp>
      <p:sp>
        <p:nvSpPr>
          <p:cNvPr id="19" name="Text 16"/>
          <p:cNvSpPr txBox="1"/>
          <p:nvPr/>
        </p:nvSpPr>
        <p:spPr>
          <a:xfrm>
            <a:off x="4700016" y="2113570"/>
            <a:ext cx="384048" cy="442926"/>
          </a:xfrm>
          <a:prstGeom prst="rect">
            <a:avLst/>
          </a:prstGeom>
          <a:noFill/>
          <a:ln/>
        </p:spPr>
        <p:txBody>
          <a:bodyPr wrap="square" lIns="0" tIns="0" rIns="0" bIns="0" rtlCol="0" anchor="ctr"/>
          <a:lstStyle/>
          <a:p>
            <a:pPr algn="ctr" indent="0" marL="0">
              <a:buNone/>
            </a:pPr>
            <a:r>
              <a:rPr lang="en-US" sz="1100" b="1" dirty="0">
                <a:solidFill>
                  <a:srgbClr val="C2690B"/>
                </a:solidFill>
                <a:latin typeface="Malgun Gothic" pitchFamily="34" charset="0"/>
                <a:ea typeface="Malgun Gothic" pitchFamily="34" charset="-122"/>
                <a:cs typeface="Malgun Gothic" pitchFamily="34" charset="-120"/>
              </a:rPr>
              <a:t>02</a:t>
            </a:r>
            <a:endParaRPr lang="en-US" sz="1100" dirty="0"/>
          </a:p>
        </p:txBody>
      </p:sp>
      <p:sp>
        <p:nvSpPr>
          <p:cNvPr id="20" name="Text 17"/>
          <p:cNvSpPr txBox="1"/>
          <p:nvPr/>
        </p:nvSpPr>
        <p:spPr>
          <a:xfrm>
            <a:off x="5175504" y="2113570"/>
            <a:ext cx="2670048" cy="442926"/>
          </a:xfrm>
          <a:prstGeom prst="rect">
            <a:avLst/>
          </a:prstGeom>
          <a:noFill/>
          <a:ln/>
        </p:spPr>
        <p:txBody>
          <a:bodyPr wrap="square" lIns="0" tIns="0" rIns="0" bIns="0" rtlCol="0" anchor="ctr"/>
          <a:lstStyle/>
          <a:p>
            <a:pPr indent="0" marL="0">
              <a:buNone/>
            </a:pPr>
            <a:r>
              <a:rPr lang="en-US" sz="1400" b="1" dirty="0">
                <a:solidFill>
                  <a:srgbClr val="15203A"/>
                </a:solidFill>
                <a:latin typeface="Malgun Gothic" pitchFamily="34" charset="0"/>
                <a:ea typeface="Malgun Gothic" pitchFamily="34" charset="-122"/>
                <a:cs typeface="Malgun Gothic" pitchFamily="34" charset="-120"/>
              </a:rPr>
              <a:t>Resource Efficiency</a:t>
            </a:r>
            <a:endParaRPr lang="en-US" sz="1400" dirty="0"/>
          </a:p>
        </p:txBody>
      </p:sp>
      <p:sp>
        <p:nvSpPr>
          <p:cNvPr id="21" name="Shape 18"/>
          <p:cNvSpPr/>
          <p:nvPr/>
        </p:nvSpPr>
        <p:spPr>
          <a:xfrm>
            <a:off x="4736592" y="2820143"/>
            <a:ext cx="91440" cy="105459"/>
          </a:xfrm>
          <a:prstGeom prst="ellipse">
            <a:avLst/>
          </a:prstGeom>
          <a:solidFill>
            <a:srgbClr val="C2690B"/>
          </a:solidFill>
          <a:ln w="12700">
            <a:solidFill>
              <a:srgbClr val="C2690B"/>
            </a:solidFill>
            <a:prstDash val="solid"/>
          </a:ln>
        </p:spPr>
      </p:sp>
      <p:sp>
        <p:nvSpPr>
          <p:cNvPr id="22" name="Text 19"/>
          <p:cNvSpPr txBox="1"/>
          <p:nvPr/>
        </p:nvSpPr>
        <p:spPr>
          <a:xfrm>
            <a:off x="4919472" y="2725231"/>
            <a:ext cx="2926080" cy="295284"/>
          </a:xfrm>
          <a:prstGeom prst="rect">
            <a:avLst/>
          </a:prstGeom>
          <a:noFill/>
          <a:ln/>
        </p:spPr>
        <p:txBody>
          <a:bodyPr wrap="square" lIns="0" tIns="0" rIns="0" bIns="0" rtlCol="0" anchor="ctr"/>
          <a:lstStyle/>
          <a:p>
            <a:pPr indent="0" marL="0">
              <a:buNone/>
            </a:pPr>
            <a:r>
              <a:rPr lang="en-US" sz="1100" dirty="0">
                <a:solidFill>
                  <a:srgbClr val="45516D"/>
                </a:solidFill>
                <a:latin typeface="Malgun Gothic" pitchFamily="34" charset="0"/>
                <a:ea typeface="Malgun Gothic" pitchFamily="34" charset="-122"/>
                <a:cs typeface="Malgun Gothic" pitchFamily="34" charset="-120"/>
              </a:rPr>
              <a:t>모델 로드 VRAM</a:t>
            </a:r>
            <a:endParaRPr lang="en-US" sz="1100" dirty="0"/>
          </a:p>
        </p:txBody>
      </p:sp>
      <p:sp>
        <p:nvSpPr>
          <p:cNvPr id="23" name="Shape 20"/>
          <p:cNvSpPr/>
          <p:nvPr/>
        </p:nvSpPr>
        <p:spPr>
          <a:xfrm>
            <a:off x="4736592" y="3178703"/>
            <a:ext cx="91440" cy="105459"/>
          </a:xfrm>
          <a:prstGeom prst="ellipse">
            <a:avLst/>
          </a:prstGeom>
          <a:solidFill>
            <a:srgbClr val="C2690B"/>
          </a:solidFill>
          <a:ln w="12700">
            <a:solidFill>
              <a:srgbClr val="C2690B"/>
            </a:solidFill>
            <a:prstDash val="solid"/>
          </a:ln>
        </p:spPr>
      </p:sp>
      <p:sp>
        <p:nvSpPr>
          <p:cNvPr id="24" name="Text 21"/>
          <p:cNvSpPr txBox="1"/>
          <p:nvPr/>
        </p:nvSpPr>
        <p:spPr>
          <a:xfrm>
            <a:off x="4919472" y="3083790"/>
            <a:ext cx="2926080" cy="295284"/>
          </a:xfrm>
          <a:prstGeom prst="rect">
            <a:avLst/>
          </a:prstGeom>
          <a:noFill/>
          <a:ln/>
        </p:spPr>
        <p:txBody>
          <a:bodyPr wrap="square" lIns="0" tIns="0" rIns="0" bIns="0" rtlCol="0" anchor="ctr"/>
          <a:lstStyle/>
          <a:p>
            <a:pPr indent="0" marL="0">
              <a:buNone/>
            </a:pPr>
            <a:r>
              <a:rPr lang="en-US" sz="1100" dirty="0">
                <a:solidFill>
                  <a:srgbClr val="45516D"/>
                </a:solidFill>
                <a:latin typeface="Malgun Gothic" pitchFamily="34" charset="0"/>
                <a:ea typeface="Malgun Gothic" pitchFamily="34" charset="-122"/>
                <a:cs typeface="Malgun Gothic" pitchFamily="34" charset="-120"/>
              </a:rPr>
              <a:t>학습 시작 VRAM</a:t>
            </a:r>
            <a:endParaRPr lang="en-US" sz="1100" dirty="0"/>
          </a:p>
        </p:txBody>
      </p:sp>
      <p:sp>
        <p:nvSpPr>
          <p:cNvPr id="25" name="Shape 22"/>
          <p:cNvSpPr/>
          <p:nvPr/>
        </p:nvSpPr>
        <p:spPr>
          <a:xfrm>
            <a:off x="4736592" y="3537262"/>
            <a:ext cx="91440" cy="105459"/>
          </a:xfrm>
          <a:prstGeom prst="ellipse">
            <a:avLst/>
          </a:prstGeom>
          <a:solidFill>
            <a:srgbClr val="C2690B"/>
          </a:solidFill>
          <a:ln w="12700">
            <a:solidFill>
              <a:srgbClr val="C2690B"/>
            </a:solidFill>
            <a:prstDash val="solid"/>
          </a:ln>
        </p:spPr>
      </p:sp>
      <p:sp>
        <p:nvSpPr>
          <p:cNvPr id="26" name="Text 23"/>
          <p:cNvSpPr txBox="1"/>
          <p:nvPr/>
        </p:nvSpPr>
        <p:spPr>
          <a:xfrm>
            <a:off x="4919472" y="3442350"/>
            <a:ext cx="2926080" cy="295284"/>
          </a:xfrm>
          <a:prstGeom prst="rect">
            <a:avLst/>
          </a:prstGeom>
          <a:noFill/>
          <a:ln/>
        </p:spPr>
        <p:txBody>
          <a:bodyPr wrap="square" lIns="0" tIns="0" rIns="0" bIns="0" rtlCol="0" anchor="ctr"/>
          <a:lstStyle/>
          <a:p>
            <a:pPr indent="0" marL="0">
              <a:buNone/>
            </a:pPr>
            <a:r>
              <a:rPr lang="en-US" sz="1100" dirty="0">
                <a:solidFill>
                  <a:srgbClr val="45516D"/>
                </a:solidFill>
                <a:latin typeface="Malgun Gothic" pitchFamily="34" charset="0"/>
                <a:ea typeface="Malgun Gothic" pitchFamily="34" charset="-122"/>
                <a:cs typeface="Malgun Gothic" pitchFamily="34" charset="-120"/>
              </a:rPr>
              <a:t>Peak Allocated / Reserved VRAM</a:t>
            </a:r>
            <a:endParaRPr lang="en-US" sz="1100" dirty="0"/>
          </a:p>
        </p:txBody>
      </p:sp>
      <p:sp>
        <p:nvSpPr>
          <p:cNvPr id="27" name="Shape 24"/>
          <p:cNvSpPr/>
          <p:nvPr/>
        </p:nvSpPr>
        <p:spPr>
          <a:xfrm>
            <a:off x="4736592" y="3895822"/>
            <a:ext cx="91440" cy="105459"/>
          </a:xfrm>
          <a:prstGeom prst="ellipse">
            <a:avLst/>
          </a:prstGeom>
          <a:solidFill>
            <a:srgbClr val="C2690B"/>
          </a:solidFill>
          <a:ln w="12700">
            <a:solidFill>
              <a:srgbClr val="C2690B"/>
            </a:solidFill>
            <a:prstDash val="solid"/>
          </a:ln>
        </p:spPr>
      </p:sp>
      <p:sp>
        <p:nvSpPr>
          <p:cNvPr id="28" name="Text 25"/>
          <p:cNvSpPr txBox="1"/>
          <p:nvPr/>
        </p:nvSpPr>
        <p:spPr>
          <a:xfrm>
            <a:off x="4919472" y="3800909"/>
            <a:ext cx="2926080" cy="295284"/>
          </a:xfrm>
          <a:prstGeom prst="rect">
            <a:avLst/>
          </a:prstGeom>
          <a:noFill/>
          <a:ln/>
        </p:spPr>
        <p:txBody>
          <a:bodyPr wrap="square" lIns="0" tIns="0" rIns="0" bIns="0" rtlCol="0" anchor="ctr"/>
          <a:lstStyle/>
          <a:p>
            <a:pPr indent="0" marL="0">
              <a:buNone/>
            </a:pPr>
            <a:r>
              <a:rPr lang="en-US" sz="1100" dirty="0">
                <a:solidFill>
                  <a:srgbClr val="45516D"/>
                </a:solidFill>
                <a:latin typeface="Malgun Gothic" pitchFamily="34" charset="0"/>
                <a:ea typeface="Malgun Gothic" pitchFamily="34" charset="-122"/>
                <a:cs typeface="Malgun Gothic" pitchFamily="34" charset="-120"/>
              </a:rPr>
              <a:t>Training Time · Steps per second</a:t>
            </a:r>
            <a:endParaRPr lang="en-US" sz="1100" dirty="0"/>
          </a:p>
        </p:txBody>
      </p:sp>
      <p:sp>
        <p:nvSpPr>
          <p:cNvPr id="29" name="Shape 26"/>
          <p:cNvSpPr/>
          <p:nvPr/>
        </p:nvSpPr>
        <p:spPr>
          <a:xfrm>
            <a:off x="8394192" y="1923745"/>
            <a:ext cx="3584448" cy="2341183"/>
          </a:xfrm>
          <a:prstGeom prst="roundRect">
            <a:avLst>
              <a:gd name="adj" fmla="val 2343"/>
            </a:avLst>
          </a:prstGeom>
          <a:solidFill>
            <a:srgbClr val="FAFBFD"/>
          </a:solidFill>
          <a:ln w="12700">
            <a:solidFill>
              <a:srgbClr val="D8E0EC"/>
            </a:solidFill>
            <a:prstDash val="solid"/>
          </a:ln>
        </p:spPr>
      </p:sp>
      <p:sp>
        <p:nvSpPr>
          <p:cNvPr id="30" name="Shape 27"/>
          <p:cNvSpPr/>
          <p:nvPr/>
        </p:nvSpPr>
        <p:spPr>
          <a:xfrm>
            <a:off x="8613648" y="2113570"/>
            <a:ext cx="384048" cy="442926"/>
          </a:xfrm>
          <a:prstGeom prst="ellipse">
            <a:avLst/>
          </a:prstGeom>
          <a:solidFill>
            <a:srgbClr val="E1F3EC"/>
          </a:solidFill>
          <a:ln w="12700">
            <a:solidFill>
              <a:srgbClr val="E1F3EC"/>
            </a:solidFill>
            <a:prstDash val="solid"/>
          </a:ln>
        </p:spPr>
      </p:sp>
      <p:sp>
        <p:nvSpPr>
          <p:cNvPr id="31" name="Text 28"/>
          <p:cNvSpPr txBox="1"/>
          <p:nvPr/>
        </p:nvSpPr>
        <p:spPr>
          <a:xfrm>
            <a:off x="8613648" y="2113570"/>
            <a:ext cx="384048" cy="442926"/>
          </a:xfrm>
          <a:prstGeom prst="rect">
            <a:avLst/>
          </a:prstGeom>
          <a:noFill/>
          <a:ln/>
        </p:spPr>
        <p:txBody>
          <a:bodyPr wrap="square" lIns="0" tIns="0" rIns="0" bIns="0" rtlCol="0" anchor="ctr"/>
          <a:lstStyle/>
          <a:p>
            <a:pPr algn="ctr" indent="0" marL="0">
              <a:buNone/>
            </a:pPr>
            <a:r>
              <a:rPr lang="en-US" sz="1100" b="1" dirty="0">
                <a:solidFill>
                  <a:srgbClr val="1B7A5A"/>
                </a:solidFill>
                <a:latin typeface="Malgun Gothic" pitchFamily="34" charset="0"/>
                <a:ea typeface="Malgun Gothic" pitchFamily="34" charset="-122"/>
                <a:cs typeface="Malgun Gothic" pitchFamily="34" charset="-120"/>
              </a:rPr>
              <a:t>03</a:t>
            </a:r>
            <a:endParaRPr lang="en-US" sz="1100" dirty="0"/>
          </a:p>
        </p:txBody>
      </p:sp>
      <p:sp>
        <p:nvSpPr>
          <p:cNvPr id="32" name="Text 29"/>
          <p:cNvSpPr txBox="1"/>
          <p:nvPr/>
        </p:nvSpPr>
        <p:spPr>
          <a:xfrm>
            <a:off x="9089136" y="2113570"/>
            <a:ext cx="2670048" cy="442926"/>
          </a:xfrm>
          <a:prstGeom prst="rect">
            <a:avLst/>
          </a:prstGeom>
          <a:noFill/>
          <a:ln/>
        </p:spPr>
        <p:txBody>
          <a:bodyPr wrap="square" lIns="0" tIns="0" rIns="0" bIns="0" rtlCol="0" anchor="ctr"/>
          <a:lstStyle/>
          <a:p>
            <a:pPr indent="0" marL="0">
              <a:buNone/>
            </a:pPr>
            <a:r>
              <a:rPr lang="en-US" sz="1400" b="1" dirty="0">
                <a:solidFill>
                  <a:srgbClr val="15203A"/>
                </a:solidFill>
                <a:latin typeface="Malgun Gothic" pitchFamily="34" charset="0"/>
                <a:ea typeface="Malgun Gothic" pitchFamily="34" charset="-122"/>
                <a:cs typeface="Malgun Gothic" pitchFamily="34" charset="-120"/>
              </a:rPr>
              <a:t>Generation Quality</a:t>
            </a:r>
            <a:endParaRPr lang="en-US" sz="1400" dirty="0"/>
          </a:p>
        </p:txBody>
      </p:sp>
      <p:sp>
        <p:nvSpPr>
          <p:cNvPr id="33" name="Shape 30"/>
          <p:cNvSpPr/>
          <p:nvPr/>
        </p:nvSpPr>
        <p:spPr>
          <a:xfrm>
            <a:off x="8650224" y="2820143"/>
            <a:ext cx="91440" cy="105459"/>
          </a:xfrm>
          <a:prstGeom prst="ellipse">
            <a:avLst/>
          </a:prstGeom>
          <a:solidFill>
            <a:srgbClr val="1B7A5A"/>
          </a:solidFill>
          <a:ln w="12700">
            <a:solidFill>
              <a:srgbClr val="1B7A5A"/>
            </a:solidFill>
            <a:prstDash val="solid"/>
          </a:ln>
        </p:spPr>
      </p:sp>
      <p:sp>
        <p:nvSpPr>
          <p:cNvPr id="34" name="Text 31"/>
          <p:cNvSpPr txBox="1"/>
          <p:nvPr/>
        </p:nvSpPr>
        <p:spPr>
          <a:xfrm>
            <a:off x="8833104" y="2725231"/>
            <a:ext cx="2926080" cy="295284"/>
          </a:xfrm>
          <a:prstGeom prst="rect">
            <a:avLst/>
          </a:prstGeom>
          <a:noFill/>
          <a:ln/>
        </p:spPr>
        <p:txBody>
          <a:bodyPr wrap="square" lIns="0" tIns="0" rIns="0" bIns="0" rtlCol="0" anchor="ctr"/>
          <a:lstStyle/>
          <a:p>
            <a:pPr indent="0" marL="0">
              <a:buNone/>
            </a:pPr>
            <a:r>
              <a:rPr lang="en-US" sz="1100" dirty="0">
                <a:solidFill>
                  <a:srgbClr val="45516D"/>
                </a:solidFill>
                <a:latin typeface="Malgun Gothic" pitchFamily="34" charset="0"/>
                <a:ea typeface="Malgun Gothic" pitchFamily="34" charset="-122"/>
                <a:cs typeface="Malgun Gothic" pitchFamily="34" charset="-120"/>
              </a:rPr>
              <a:t>Fine-Tuning 전/후 동일 질문 사용</a:t>
            </a:r>
            <a:endParaRPr lang="en-US" sz="1100" dirty="0"/>
          </a:p>
        </p:txBody>
      </p:sp>
      <p:sp>
        <p:nvSpPr>
          <p:cNvPr id="35" name="Shape 32"/>
          <p:cNvSpPr/>
          <p:nvPr/>
        </p:nvSpPr>
        <p:spPr>
          <a:xfrm>
            <a:off x="8650224" y="3178703"/>
            <a:ext cx="91440" cy="105459"/>
          </a:xfrm>
          <a:prstGeom prst="ellipse">
            <a:avLst/>
          </a:prstGeom>
          <a:solidFill>
            <a:srgbClr val="1B7A5A"/>
          </a:solidFill>
          <a:ln w="12700">
            <a:solidFill>
              <a:srgbClr val="1B7A5A"/>
            </a:solidFill>
            <a:prstDash val="solid"/>
          </a:ln>
        </p:spPr>
      </p:sp>
      <p:sp>
        <p:nvSpPr>
          <p:cNvPr id="36" name="Text 33"/>
          <p:cNvSpPr txBox="1"/>
          <p:nvPr/>
        </p:nvSpPr>
        <p:spPr>
          <a:xfrm>
            <a:off x="8833104" y="3083790"/>
            <a:ext cx="2926080" cy="295284"/>
          </a:xfrm>
          <a:prstGeom prst="rect">
            <a:avLst/>
          </a:prstGeom>
          <a:noFill/>
          <a:ln/>
        </p:spPr>
        <p:txBody>
          <a:bodyPr wrap="square" lIns="0" tIns="0" rIns="0" bIns="0" rtlCol="0" anchor="ctr"/>
          <a:lstStyle/>
          <a:p>
            <a:pPr indent="0" marL="0">
              <a:buNone/>
            </a:pPr>
            <a:r>
              <a:rPr lang="en-US" sz="1100" dirty="0">
                <a:solidFill>
                  <a:srgbClr val="45516D"/>
                </a:solidFill>
                <a:latin typeface="Malgun Gothic" pitchFamily="34" charset="0"/>
                <a:ea typeface="Malgun Gothic" pitchFamily="34" charset="-122"/>
                <a:cs typeface="Malgun Gothic" pitchFamily="34" charset="-120"/>
              </a:rPr>
              <a:t>테스트 직무 5종</a:t>
            </a:r>
            <a:endParaRPr lang="en-US" sz="1100" dirty="0"/>
          </a:p>
        </p:txBody>
      </p:sp>
      <p:sp>
        <p:nvSpPr>
          <p:cNvPr id="37" name="Shape 34"/>
          <p:cNvSpPr/>
          <p:nvPr/>
        </p:nvSpPr>
        <p:spPr>
          <a:xfrm>
            <a:off x="8650224" y="3537262"/>
            <a:ext cx="91440" cy="105459"/>
          </a:xfrm>
          <a:prstGeom prst="ellipse">
            <a:avLst/>
          </a:prstGeom>
          <a:solidFill>
            <a:srgbClr val="1B7A5A"/>
          </a:solidFill>
          <a:ln w="12700">
            <a:solidFill>
              <a:srgbClr val="1B7A5A"/>
            </a:solidFill>
            <a:prstDash val="solid"/>
          </a:ln>
        </p:spPr>
      </p:sp>
      <p:sp>
        <p:nvSpPr>
          <p:cNvPr id="38" name="Text 35"/>
          <p:cNvSpPr txBox="1"/>
          <p:nvPr/>
        </p:nvSpPr>
        <p:spPr>
          <a:xfrm>
            <a:off x="8833104" y="3442350"/>
            <a:ext cx="2926080" cy="295284"/>
          </a:xfrm>
          <a:prstGeom prst="rect">
            <a:avLst/>
          </a:prstGeom>
          <a:noFill/>
          <a:ln/>
        </p:spPr>
        <p:txBody>
          <a:bodyPr wrap="square" lIns="0" tIns="0" rIns="0" bIns="0" rtlCol="0" anchor="ctr"/>
          <a:lstStyle/>
          <a:p>
            <a:pPr indent="0" marL="0">
              <a:buNone/>
            </a:pPr>
            <a:r>
              <a:rPr lang="en-US" sz="1100" dirty="0">
                <a:solidFill>
                  <a:srgbClr val="45516D"/>
                </a:solidFill>
                <a:latin typeface="Malgun Gothic" pitchFamily="34" charset="0"/>
                <a:ea typeface="Malgun Gothic" pitchFamily="34" charset="-122"/>
                <a:cs typeface="Malgun Gothic" pitchFamily="34" charset="-120"/>
              </a:rPr>
              <a:t>형식 · 구체성 · 경험 정합성</a:t>
            </a:r>
            <a:endParaRPr lang="en-US" sz="1100" dirty="0"/>
          </a:p>
        </p:txBody>
      </p:sp>
      <p:sp>
        <p:nvSpPr>
          <p:cNvPr id="39" name="Text 36"/>
          <p:cNvSpPr txBox="1"/>
          <p:nvPr/>
        </p:nvSpPr>
        <p:spPr>
          <a:xfrm>
            <a:off x="566928" y="4518028"/>
            <a:ext cx="5486400" cy="316376"/>
          </a:xfrm>
          <a:prstGeom prst="rect">
            <a:avLst/>
          </a:prstGeom>
          <a:noFill/>
          <a:ln/>
        </p:spPr>
        <p:txBody>
          <a:bodyPr wrap="square" lIns="0" tIns="0" rIns="0" bIns="0" rtlCol="0" anchor="ctr"/>
          <a:lstStyle/>
          <a:p>
            <a:pPr indent="0" marL="0">
              <a:buNone/>
            </a:pPr>
            <a:r>
              <a:rPr lang="en-US" sz="1200" b="1" dirty="0">
                <a:solidFill>
                  <a:srgbClr val="15203A"/>
                </a:solidFill>
                <a:latin typeface="Malgun Gothic" pitchFamily="34" charset="0"/>
                <a:ea typeface="Malgun Gothic" pitchFamily="34" charset="-122"/>
                <a:cs typeface="Malgun Gothic" pitchFamily="34" charset="-120"/>
              </a:rPr>
              <a:t>테스트 직무 (학습 데이터와 직접 겹치지 않는 조합)</a:t>
            </a:r>
            <a:endParaRPr lang="en-US" sz="1200" dirty="0"/>
          </a:p>
        </p:txBody>
      </p:sp>
      <p:sp>
        <p:nvSpPr>
          <p:cNvPr id="40" name="Shape 37"/>
          <p:cNvSpPr/>
          <p:nvPr/>
        </p:nvSpPr>
        <p:spPr>
          <a:xfrm>
            <a:off x="566928" y="4897679"/>
            <a:ext cx="2084832" cy="442926"/>
          </a:xfrm>
          <a:prstGeom prst="roundRect">
            <a:avLst>
              <a:gd name="adj" fmla="val 12387"/>
            </a:avLst>
          </a:prstGeom>
          <a:solidFill>
            <a:srgbClr val="F2F5FA"/>
          </a:solidFill>
          <a:ln w="12700">
            <a:solidFill>
              <a:srgbClr val="F2F5FA"/>
            </a:solidFill>
            <a:prstDash val="solid"/>
          </a:ln>
        </p:spPr>
      </p:sp>
      <p:sp>
        <p:nvSpPr>
          <p:cNvPr id="41" name="Text 38"/>
          <p:cNvSpPr txBox="1"/>
          <p:nvPr/>
        </p:nvSpPr>
        <p:spPr>
          <a:xfrm>
            <a:off x="566928" y="4897679"/>
            <a:ext cx="2084832" cy="442926"/>
          </a:xfrm>
          <a:prstGeom prst="rect">
            <a:avLst/>
          </a:prstGeom>
          <a:noFill/>
          <a:ln/>
        </p:spPr>
        <p:txBody>
          <a:bodyPr wrap="square" lIns="0" tIns="0" rIns="0" bIns="0" rtlCol="0" anchor="ctr"/>
          <a:lstStyle/>
          <a:p>
            <a:pPr algn="ctr" indent="0" marL="0">
              <a:buNone/>
            </a:pPr>
            <a:r>
              <a:rPr lang="en-US" sz="1100" dirty="0">
                <a:solidFill>
                  <a:srgbClr val="45516D"/>
                </a:solidFill>
                <a:latin typeface="Malgun Gothic" pitchFamily="34" charset="0"/>
                <a:ea typeface="Malgun Gothic" pitchFamily="34" charset="-122"/>
                <a:cs typeface="Malgun Gothic" pitchFamily="34" charset="-120"/>
              </a:rPr>
              <a:t>RAG 개발자</a:t>
            </a:r>
            <a:endParaRPr lang="en-US" sz="1100" dirty="0"/>
          </a:p>
        </p:txBody>
      </p:sp>
      <p:sp>
        <p:nvSpPr>
          <p:cNvPr id="42" name="Shape 39"/>
          <p:cNvSpPr/>
          <p:nvPr/>
        </p:nvSpPr>
        <p:spPr>
          <a:xfrm>
            <a:off x="2807208" y="4897679"/>
            <a:ext cx="2084832" cy="442926"/>
          </a:xfrm>
          <a:prstGeom prst="roundRect">
            <a:avLst>
              <a:gd name="adj" fmla="val 12387"/>
            </a:avLst>
          </a:prstGeom>
          <a:solidFill>
            <a:srgbClr val="F2F5FA"/>
          </a:solidFill>
          <a:ln w="12700">
            <a:solidFill>
              <a:srgbClr val="F2F5FA"/>
            </a:solidFill>
            <a:prstDash val="solid"/>
          </a:ln>
        </p:spPr>
      </p:sp>
      <p:sp>
        <p:nvSpPr>
          <p:cNvPr id="43" name="Text 40"/>
          <p:cNvSpPr txBox="1"/>
          <p:nvPr/>
        </p:nvSpPr>
        <p:spPr>
          <a:xfrm>
            <a:off x="2807208" y="4897679"/>
            <a:ext cx="2084832" cy="442926"/>
          </a:xfrm>
          <a:prstGeom prst="rect">
            <a:avLst/>
          </a:prstGeom>
          <a:noFill/>
          <a:ln/>
        </p:spPr>
        <p:txBody>
          <a:bodyPr wrap="square" lIns="0" tIns="0" rIns="0" bIns="0" rtlCol="0" anchor="ctr"/>
          <a:lstStyle/>
          <a:p>
            <a:pPr algn="ctr" indent="0" marL="0">
              <a:buNone/>
            </a:pPr>
            <a:r>
              <a:rPr lang="en-US" sz="1100" dirty="0">
                <a:solidFill>
                  <a:srgbClr val="45516D"/>
                </a:solidFill>
                <a:latin typeface="Malgun Gothic" pitchFamily="34" charset="0"/>
                <a:ea typeface="Malgun Gothic" pitchFamily="34" charset="-122"/>
                <a:cs typeface="Malgun Gothic" pitchFamily="34" charset="-120"/>
              </a:rPr>
              <a:t>MLOps 엔지니어</a:t>
            </a:r>
            <a:endParaRPr lang="en-US" sz="1100" dirty="0"/>
          </a:p>
        </p:txBody>
      </p:sp>
      <p:sp>
        <p:nvSpPr>
          <p:cNvPr id="44" name="Shape 41"/>
          <p:cNvSpPr/>
          <p:nvPr/>
        </p:nvSpPr>
        <p:spPr>
          <a:xfrm>
            <a:off x="5047488" y="4897679"/>
            <a:ext cx="2084832" cy="442926"/>
          </a:xfrm>
          <a:prstGeom prst="roundRect">
            <a:avLst>
              <a:gd name="adj" fmla="val 12387"/>
            </a:avLst>
          </a:prstGeom>
          <a:solidFill>
            <a:srgbClr val="F2F5FA"/>
          </a:solidFill>
          <a:ln w="12700">
            <a:solidFill>
              <a:srgbClr val="F2F5FA"/>
            </a:solidFill>
            <a:prstDash val="solid"/>
          </a:ln>
        </p:spPr>
      </p:sp>
      <p:sp>
        <p:nvSpPr>
          <p:cNvPr id="45" name="Text 42"/>
          <p:cNvSpPr txBox="1"/>
          <p:nvPr/>
        </p:nvSpPr>
        <p:spPr>
          <a:xfrm>
            <a:off x="5047488" y="4897679"/>
            <a:ext cx="2084832" cy="442926"/>
          </a:xfrm>
          <a:prstGeom prst="rect">
            <a:avLst/>
          </a:prstGeom>
          <a:noFill/>
          <a:ln/>
        </p:spPr>
        <p:txBody>
          <a:bodyPr wrap="square" lIns="0" tIns="0" rIns="0" bIns="0" rtlCol="0" anchor="ctr"/>
          <a:lstStyle/>
          <a:p>
            <a:pPr algn="ctr" indent="0" marL="0">
              <a:buNone/>
            </a:pPr>
            <a:r>
              <a:rPr lang="en-US" sz="1100" dirty="0">
                <a:solidFill>
                  <a:srgbClr val="45516D"/>
                </a:solidFill>
                <a:latin typeface="Malgun Gothic" pitchFamily="34" charset="0"/>
                <a:ea typeface="Malgun Gothic" pitchFamily="34" charset="-122"/>
                <a:cs typeface="Malgun Gothic" pitchFamily="34" charset="-120"/>
              </a:rPr>
              <a:t>데이터 엔지니어</a:t>
            </a:r>
            <a:endParaRPr lang="en-US" sz="1100" dirty="0"/>
          </a:p>
        </p:txBody>
      </p:sp>
      <p:sp>
        <p:nvSpPr>
          <p:cNvPr id="46" name="Shape 43"/>
          <p:cNvSpPr/>
          <p:nvPr/>
        </p:nvSpPr>
        <p:spPr>
          <a:xfrm>
            <a:off x="7287768" y="4897679"/>
            <a:ext cx="2084832" cy="442926"/>
          </a:xfrm>
          <a:prstGeom prst="roundRect">
            <a:avLst>
              <a:gd name="adj" fmla="val 12387"/>
            </a:avLst>
          </a:prstGeom>
          <a:solidFill>
            <a:srgbClr val="F2F5FA"/>
          </a:solidFill>
          <a:ln w="12700">
            <a:solidFill>
              <a:srgbClr val="F2F5FA"/>
            </a:solidFill>
            <a:prstDash val="solid"/>
          </a:ln>
        </p:spPr>
      </p:sp>
      <p:sp>
        <p:nvSpPr>
          <p:cNvPr id="47" name="Text 44"/>
          <p:cNvSpPr txBox="1"/>
          <p:nvPr/>
        </p:nvSpPr>
        <p:spPr>
          <a:xfrm>
            <a:off x="7287768" y="4897679"/>
            <a:ext cx="2084832" cy="442926"/>
          </a:xfrm>
          <a:prstGeom prst="rect">
            <a:avLst/>
          </a:prstGeom>
          <a:noFill/>
          <a:ln/>
        </p:spPr>
        <p:txBody>
          <a:bodyPr wrap="square" lIns="0" tIns="0" rIns="0" bIns="0" rtlCol="0" anchor="ctr"/>
          <a:lstStyle/>
          <a:p>
            <a:pPr algn="ctr" indent="0" marL="0">
              <a:buNone/>
            </a:pPr>
            <a:r>
              <a:rPr lang="en-US" sz="1100" dirty="0">
                <a:solidFill>
                  <a:srgbClr val="45516D"/>
                </a:solidFill>
                <a:latin typeface="Malgun Gothic" pitchFamily="34" charset="0"/>
                <a:ea typeface="Malgun Gothic" pitchFamily="34" charset="-122"/>
                <a:cs typeface="Malgun Gothic" pitchFamily="34" charset="-120"/>
              </a:rPr>
              <a:t>백엔드 개발자</a:t>
            </a:r>
            <a:endParaRPr lang="en-US" sz="1100" dirty="0"/>
          </a:p>
        </p:txBody>
      </p:sp>
      <p:sp>
        <p:nvSpPr>
          <p:cNvPr id="48" name="Shape 45"/>
          <p:cNvSpPr/>
          <p:nvPr/>
        </p:nvSpPr>
        <p:spPr>
          <a:xfrm>
            <a:off x="9528048" y="4897679"/>
            <a:ext cx="2084832" cy="442926"/>
          </a:xfrm>
          <a:prstGeom prst="roundRect">
            <a:avLst>
              <a:gd name="adj" fmla="val 12387"/>
            </a:avLst>
          </a:prstGeom>
          <a:solidFill>
            <a:srgbClr val="F2F5FA"/>
          </a:solidFill>
          <a:ln w="12700">
            <a:solidFill>
              <a:srgbClr val="F2F5FA"/>
            </a:solidFill>
            <a:prstDash val="solid"/>
          </a:ln>
        </p:spPr>
      </p:sp>
      <p:sp>
        <p:nvSpPr>
          <p:cNvPr id="49" name="Text 46"/>
          <p:cNvSpPr txBox="1"/>
          <p:nvPr/>
        </p:nvSpPr>
        <p:spPr>
          <a:xfrm>
            <a:off x="9528048" y="4897679"/>
            <a:ext cx="2084832" cy="442926"/>
          </a:xfrm>
          <a:prstGeom prst="rect">
            <a:avLst/>
          </a:prstGeom>
          <a:noFill/>
          <a:ln/>
        </p:spPr>
        <p:txBody>
          <a:bodyPr wrap="square" lIns="0" tIns="0" rIns="0" bIns="0" rtlCol="0" anchor="ctr"/>
          <a:lstStyle/>
          <a:p>
            <a:pPr algn="ctr" indent="0" marL="0">
              <a:buNone/>
            </a:pPr>
            <a:r>
              <a:rPr lang="en-US" sz="1100" dirty="0">
                <a:solidFill>
                  <a:srgbClr val="45516D"/>
                </a:solidFill>
                <a:latin typeface="Malgun Gothic" pitchFamily="34" charset="0"/>
                <a:ea typeface="Malgun Gothic" pitchFamily="34" charset="-122"/>
                <a:cs typeface="Malgun Gothic" pitchFamily="34" charset="-120"/>
              </a:rPr>
              <a:t>컴퓨터비전 엔지니어</a:t>
            </a:r>
            <a:endParaRPr lang="en-US" sz="1100" dirty="0"/>
          </a:p>
        </p:txBody>
      </p:sp>
      <p:sp>
        <p:nvSpPr>
          <p:cNvPr id="50" name="Shape 47"/>
          <p:cNvSpPr/>
          <p:nvPr/>
        </p:nvSpPr>
        <p:spPr>
          <a:xfrm>
            <a:off x="566928" y="5551523"/>
            <a:ext cx="11045952" cy="885853"/>
          </a:xfrm>
          <a:prstGeom prst="roundRect">
            <a:avLst>
              <a:gd name="adj" fmla="val 6193"/>
            </a:avLst>
          </a:prstGeom>
          <a:solidFill>
            <a:srgbClr val="0E1A33"/>
          </a:solidFill>
          <a:ln w="12700">
            <a:solidFill>
              <a:srgbClr val="0E1A33"/>
            </a:solidFill>
            <a:prstDash val="solid"/>
          </a:ln>
        </p:spPr>
      </p:sp>
      <p:sp>
        <p:nvSpPr>
          <p:cNvPr id="51" name="Text 48"/>
          <p:cNvSpPr txBox="1"/>
          <p:nvPr/>
        </p:nvSpPr>
        <p:spPr>
          <a:xfrm>
            <a:off x="804672" y="5551523"/>
            <a:ext cx="1920240" cy="885853"/>
          </a:xfrm>
          <a:prstGeom prst="rect">
            <a:avLst/>
          </a:prstGeom>
          <a:noFill/>
          <a:ln/>
        </p:spPr>
        <p:txBody>
          <a:bodyPr wrap="square" lIns="0" tIns="0" rIns="0" bIns="0" rtlCol="0" anchor="ctr"/>
          <a:lstStyle/>
          <a:p>
            <a:pPr indent="0" marL="0">
              <a:buNone/>
            </a:pPr>
            <a:r>
              <a:rPr lang="en-US" sz="1100" b="1" dirty="0">
                <a:solidFill>
                  <a:srgbClr val="6FA8FF"/>
                </a:solidFill>
                <a:latin typeface="Malgun Gothic" pitchFamily="34" charset="0"/>
                <a:ea typeface="Malgun Gothic" pitchFamily="34" charset="-122"/>
                <a:cs typeface="Malgun Gothic" pitchFamily="34" charset="-120"/>
              </a:rPr>
              <a:t>생성 품질 평가 기준</a:t>
            </a:r>
            <a:endParaRPr lang="en-US" sz="1100" dirty="0"/>
          </a:p>
        </p:txBody>
      </p:sp>
      <p:sp>
        <p:nvSpPr>
          <p:cNvPr id="52" name="Text 49"/>
          <p:cNvSpPr txBox="1"/>
          <p:nvPr/>
        </p:nvSpPr>
        <p:spPr>
          <a:xfrm>
            <a:off x="2779776" y="5551523"/>
            <a:ext cx="8595360" cy="885853"/>
          </a:xfrm>
          <a:prstGeom prst="rect">
            <a:avLst/>
          </a:prstGeom>
          <a:noFill/>
          <a:ln/>
        </p:spPr>
        <p:txBody>
          <a:bodyPr wrap="square" lIns="0" tIns="0" rIns="0" bIns="0" rtlCol="0" anchor="ctr"/>
          <a:lstStyle/>
          <a:p>
            <a:pPr indent="0" marL="0">
              <a:buNone/>
            </a:pPr>
            <a:r>
              <a:rPr lang="en-US" sz="1100" dirty="0">
                <a:solidFill>
                  <a:srgbClr val="B7C6E0"/>
                </a:solidFill>
                <a:latin typeface="Malgun Gothic" pitchFamily="34" charset="0"/>
                <a:ea typeface="Malgun Gothic" pitchFamily="34" charset="-122"/>
                <a:cs typeface="Malgun Gothic" pitchFamily="34" charset="-120"/>
              </a:rPr>
              <a:t>질문이 정확히 3개인가  ·  입력 경험의 기술을 반영하는가  ·  질문이 구체적인가  ·  무관한 기술을 임의로 추가하지 않는가  ·  문장이 자연스럽고 기술적으로 타당한가</a:t>
            </a:r>
            <a:endParaRPr lang="en-US" sz="1100" dirty="0"/>
          </a:p>
        </p:txBody>
      </p:sp>
      <p:sp>
        <p:nvSpPr>
          <p:cNvPr id="53" name="Text 50"/>
          <p:cNvSpPr txBox="1"/>
          <p:nvPr/>
        </p:nvSpPr>
        <p:spPr>
          <a:xfrm>
            <a:off x="11277295" y="6355080"/>
            <a:ext cx="457200" cy="274320"/>
          </a:xfrm>
          <a:prstGeom prst="rect">
            <a:avLst/>
          </a:prstGeom>
          <a:noFill/>
          <a:ln/>
        </p:spPr>
        <p:txBody>
          <a:bodyPr wrap="square" lIns="0" tIns="0" rIns="0" bIns="0" rtlCol="0" anchor="ctr"/>
          <a:lstStyle/>
          <a:p>
            <a:pPr algn="r" indent="0" marL="0">
              <a:buNone/>
            </a:pPr>
            <a:r>
              <a:rPr lang="en-US" sz="1000" dirty="0">
                <a:solidFill>
                  <a:srgbClr val="9AA6BC"/>
                </a:solidFill>
                <a:latin typeface="Malgun Gothic" pitchFamily="34" charset="0"/>
                <a:ea typeface="Malgun Gothic" pitchFamily="34" charset="-122"/>
                <a:cs typeface="Malgun Gothic"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66928" y="384048"/>
            <a:ext cx="1609344" cy="301661"/>
          </a:xfrm>
          <a:prstGeom prst="roundRect">
            <a:avLst>
              <a:gd name="adj" fmla="val 45468"/>
            </a:avLst>
          </a:prstGeom>
          <a:solidFill>
            <a:srgbClr val="E4EDFE"/>
          </a:solidFill>
          <a:ln w="12700">
            <a:solidFill>
              <a:srgbClr val="E4EDFE"/>
            </a:solidFill>
            <a:prstDash val="solid"/>
          </a:ln>
        </p:spPr>
      </p:sp>
      <p:sp>
        <p:nvSpPr>
          <p:cNvPr id="4" name="Text 1"/>
          <p:cNvSpPr txBox="1"/>
          <p:nvPr/>
        </p:nvSpPr>
        <p:spPr>
          <a:xfrm>
            <a:off x="566928" y="384048"/>
            <a:ext cx="1609344" cy="301661"/>
          </a:xfrm>
          <a:prstGeom prst="rect">
            <a:avLst/>
          </a:prstGeom>
          <a:noFill/>
          <a:ln/>
        </p:spPr>
        <p:txBody>
          <a:bodyPr wrap="square" lIns="0" tIns="0" rIns="0" bIns="0" rtlCol="0" anchor="ctr"/>
          <a:lstStyle/>
          <a:p>
            <a:pPr algn="ctr" indent="0" marL="0">
              <a:buNone/>
            </a:pPr>
            <a:r>
              <a:rPr lang="en-US" sz="1050" b="1" spc="60" kern="0" dirty="0">
                <a:solidFill>
                  <a:srgbClr val="1D4ED8"/>
                </a:solidFill>
                <a:latin typeface="Malgun Gothic" pitchFamily="34" charset="0"/>
                <a:ea typeface="Malgun Gothic" pitchFamily="34" charset="-122"/>
                <a:cs typeface="Malgun Gothic" pitchFamily="34" charset="-120"/>
              </a:rPr>
              <a:t>05  VALIDATION</a:t>
            </a:r>
            <a:endParaRPr lang="en-US" sz="1050" dirty="0"/>
          </a:p>
        </p:txBody>
      </p:sp>
      <p:sp>
        <p:nvSpPr>
          <p:cNvPr id="5" name="Text 2"/>
          <p:cNvSpPr txBox="1"/>
          <p:nvPr/>
        </p:nvSpPr>
        <p:spPr>
          <a:xfrm>
            <a:off x="566928" y="746041"/>
            <a:ext cx="11057839" cy="563100"/>
          </a:xfrm>
          <a:prstGeom prst="rect">
            <a:avLst/>
          </a:prstGeom>
          <a:noFill/>
          <a:ln/>
        </p:spPr>
        <p:txBody>
          <a:bodyPr wrap="square" lIns="0" tIns="0" rIns="0" bIns="0" rtlCol="0" anchor="ctr"/>
          <a:lstStyle/>
          <a:p>
            <a:pPr indent="0" marL="0">
              <a:buNone/>
            </a:pPr>
            <a:r>
              <a:rPr lang="en-US" sz="3000" b="1" dirty="0">
                <a:solidFill>
                  <a:srgbClr val="15203A"/>
                </a:solidFill>
                <a:latin typeface="Malgun Gothic" pitchFamily="34" charset="0"/>
                <a:ea typeface="Malgun Gothic" pitchFamily="34" charset="-122"/>
                <a:cs typeface="Malgun Gothic" pitchFamily="34" charset="-120"/>
              </a:rPr>
              <a:t>학습 Loss 비교</a:t>
            </a:r>
            <a:endParaRPr lang="en-US" sz="3000" dirty="0"/>
          </a:p>
        </p:txBody>
      </p:sp>
      <p:sp>
        <p:nvSpPr>
          <p:cNvPr id="6" name="Text 3"/>
          <p:cNvSpPr txBox="1"/>
          <p:nvPr/>
        </p:nvSpPr>
        <p:spPr>
          <a:xfrm>
            <a:off x="566928" y="1299086"/>
            <a:ext cx="11057839" cy="321772"/>
          </a:xfrm>
          <a:prstGeom prst="rect">
            <a:avLst/>
          </a:prstGeom>
          <a:noFill/>
          <a:ln/>
        </p:spPr>
        <p:txBody>
          <a:bodyPr wrap="square" lIns="0" tIns="0" rIns="0" bIns="0" rtlCol="0" anchor="t"/>
          <a:lstStyle/>
          <a:p>
            <a:pPr indent="0" marL="0">
              <a:buNone/>
            </a:pPr>
            <a:r>
              <a:rPr lang="en-US" sz="1300" dirty="0">
                <a:solidFill>
                  <a:srgbClr val="64748B"/>
                </a:solidFill>
                <a:latin typeface="Malgun Gothic" pitchFamily="34" charset="0"/>
                <a:ea typeface="Malgun Gothic" pitchFamily="34" charset="-122"/>
                <a:cs typeface="Malgun Gothic" pitchFamily="34" charset="-120"/>
              </a:rPr>
              <a:t>Chart 1 — logging_steps=5 기준 실제 로그, 80 step (약 20 epoch)</a:t>
            </a:r>
            <a:endParaRPr lang="en-US" sz="1300" dirty="0"/>
          </a:p>
        </p:txBody>
      </p:sp>
      <p:graphicFrame>
        <p:nvGraphicFramePr>
          <p:cNvPr id="7" name="Chart 0" descr=""/>
          <p:cNvGraphicFramePr/>
          <p:nvPr/>
        </p:nvGraphicFramePr>
        <p:xfrm>
          <a:off x="566928" y="1852131"/>
          <a:ext cx="7242048" cy="3479155"/>
        </p:xfrm>
        <a:graphic xmlns:a="http://schemas.openxmlformats.org/drawingml/2006/main">
          <a:graphicData uri="http://schemas.openxmlformats.org/drawingml/2006/chart">
            <c:chart xmlns:c="http://schemas.openxmlformats.org/drawingml/2006/chart" r:id="rId1"/>
          </a:graphicData>
        </a:graphic>
      </p:graphicFrame>
      <p:sp>
        <p:nvSpPr>
          <p:cNvPr id="8" name="Shape 4"/>
          <p:cNvSpPr/>
          <p:nvPr/>
        </p:nvSpPr>
        <p:spPr>
          <a:xfrm>
            <a:off x="8101584" y="1852131"/>
            <a:ext cx="3511296" cy="2694837"/>
          </a:xfrm>
          <a:prstGeom prst="roundRect">
            <a:avLst>
              <a:gd name="adj" fmla="val 2036"/>
            </a:avLst>
          </a:prstGeom>
          <a:solidFill>
            <a:srgbClr val="FAFBFD"/>
          </a:solidFill>
          <a:ln w="12700">
            <a:solidFill>
              <a:srgbClr val="D8E0EC"/>
            </a:solidFill>
            <a:prstDash val="solid"/>
          </a:ln>
        </p:spPr>
      </p:sp>
      <p:sp>
        <p:nvSpPr>
          <p:cNvPr id="9" name="Text 5"/>
          <p:cNvSpPr txBox="1"/>
          <p:nvPr/>
        </p:nvSpPr>
        <p:spPr>
          <a:xfrm>
            <a:off x="10076688" y="1952684"/>
            <a:ext cx="731520" cy="261439"/>
          </a:xfrm>
          <a:prstGeom prst="rect">
            <a:avLst/>
          </a:prstGeom>
          <a:noFill/>
          <a:ln/>
        </p:spPr>
        <p:txBody>
          <a:bodyPr wrap="square" lIns="0" tIns="0" rIns="0" bIns="0" rtlCol="0" anchor="ctr"/>
          <a:lstStyle/>
          <a:p>
            <a:pPr algn="r" indent="0" marL="0">
              <a:buNone/>
            </a:pPr>
            <a:r>
              <a:rPr lang="en-US" sz="1000" b="1" dirty="0">
                <a:solidFill>
                  <a:srgbClr val="2563EB"/>
                </a:solidFill>
                <a:latin typeface="Malgun Gothic" pitchFamily="34" charset="0"/>
                <a:ea typeface="Malgun Gothic" pitchFamily="34" charset="-122"/>
                <a:cs typeface="Malgun Gothic" pitchFamily="34" charset="-120"/>
              </a:rPr>
              <a:t>LoRA</a:t>
            </a:r>
            <a:endParaRPr lang="en-US" sz="1000" dirty="0"/>
          </a:p>
        </p:txBody>
      </p:sp>
      <p:sp>
        <p:nvSpPr>
          <p:cNvPr id="10" name="Text 6"/>
          <p:cNvSpPr txBox="1"/>
          <p:nvPr/>
        </p:nvSpPr>
        <p:spPr>
          <a:xfrm>
            <a:off x="10808208" y="1952684"/>
            <a:ext cx="731520" cy="261439"/>
          </a:xfrm>
          <a:prstGeom prst="rect">
            <a:avLst/>
          </a:prstGeom>
          <a:noFill/>
          <a:ln/>
        </p:spPr>
        <p:txBody>
          <a:bodyPr wrap="square" lIns="0" tIns="0" rIns="0" bIns="0" rtlCol="0" anchor="ctr"/>
          <a:lstStyle/>
          <a:p>
            <a:pPr algn="r" indent="0" marL="0">
              <a:buNone/>
            </a:pPr>
            <a:r>
              <a:rPr lang="en-US" sz="1000" b="1" dirty="0">
                <a:solidFill>
                  <a:srgbClr val="C2690B"/>
                </a:solidFill>
                <a:latin typeface="Malgun Gothic" pitchFamily="34" charset="0"/>
                <a:ea typeface="Malgun Gothic" pitchFamily="34" charset="-122"/>
                <a:cs typeface="Malgun Gothic" pitchFamily="34" charset="-120"/>
              </a:rPr>
              <a:t>QLoRA</a:t>
            </a:r>
            <a:endParaRPr lang="en-US" sz="1000" dirty="0"/>
          </a:p>
        </p:txBody>
      </p:sp>
      <p:sp>
        <p:nvSpPr>
          <p:cNvPr id="11" name="Text 7"/>
          <p:cNvSpPr txBox="1"/>
          <p:nvPr/>
        </p:nvSpPr>
        <p:spPr>
          <a:xfrm>
            <a:off x="8302752" y="2314678"/>
            <a:ext cx="1773936" cy="442436"/>
          </a:xfrm>
          <a:prstGeom prst="rect">
            <a:avLst/>
          </a:prstGeom>
          <a:noFill/>
          <a:ln/>
        </p:spPr>
        <p:txBody>
          <a:bodyPr wrap="square" lIns="0" tIns="0" rIns="0" bIns="0" rtlCol="0" anchor="ctr"/>
          <a:lstStyle/>
          <a:p>
            <a:pPr indent="0" marL="0">
              <a:buNone/>
            </a:pPr>
            <a:r>
              <a:rPr lang="en-US" sz="950" dirty="0">
                <a:solidFill>
                  <a:srgbClr val="64748B"/>
                </a:solidFill>
                <a:latin typeface="Malgun Gothic" pitchFamily="34" charset="0"/>
                <a:ea typeface="Malgun Gothic" pitchFamily="34" charset="-122"/>
                <a:cs typeface="Malgun Gothic" pitchFamily="34" charset="-120"/>
              </a:rPr>
              <a:t>초기 logged loss (step 5)</a:t>
            </a:r>
            <a:endParaRPr lang="en-US" sz="950" dirty="0"/>
          </a:p>
        </p:txBody>
      </p:sp>
      <p:sp>
        <p:nvSpPr>
          <p:cNvPr id="12" name="Text 8"/>
          <p:cNvSpPr txBox="1"/>
          <p:nvPr/>
        </p:nvSpPr>
        <p:spPr>
          <a:xfrm>
            <a:off x="10076688" y="2314678"/>
            <a:ext cx="731520" cy="442436"/>
          </a:xfrm>
          <a:prstGeom prst="rect">
            <a:avLst/>
          </a:prstGeom>
          <a:noFill/>
          <a:ln/>
        </p:spPr>
        <p:txBody>
          <a:bodyPr wrap="square" lIns="0" tIns="0" rIns="0" bIns="0" rtlCol="0" anchor="ctr"/>
          <a:lstStyle/>
          <a:p>
            <a:pPr algn="r" indent="0" marL="0">
              <a:buNone/>
            </a:pPr>
            <a:r>
              <a:rPr lang="en-US" sz="1200" b="1" dirty="0">
                <a:solidFill>
                  <a:srgbClr val="2563EB"/>
                </a:solidFill>
                <a:latin typeface="Courier New" pitchFamily="34" charset="0"/>
                <a:ea typeface="Courier New" pitchFamily="34" charset="-122"/>
                <a:cs typeface="Courier New" pitchFamily="34" charset="-120"/>
              </a:rPr>
              <a:t>3.188</a:t>
            </a:r>
            <a:endParaRPr lang="en-US" sz="1200" dirty="0"/>
          </a:p>
        </p:txBody>
      </p:sp>
      <p:sp>
        <p:nvSpPr>
          <p:cNvPr id="13" name="Text 9"/>
          <p:cNvSpPr txBox="1"/>
          <p:nvPr/>
        </p:nvSpPr>
        <p:spPr>
          <a:xfrm>
            <a:off x="10808208" y="2314678"/>
            <a:ext cx="731520" cy="442436"/>
          </a:xfrm>
          <a:prstGeom prst="rect">
            <a:avLst/>
          </a:prstGeom>
          <a:noFill/>
          <a:ln/>
        </p:spPr>
        <p:txBody>
          <a:bodyPr wrap="square" lIns="0" tIns="0" rIns="0" bIns="0" rtlCol="0" anchor="ctr"/>
          <a:lstStyle/>
          <a:p>
            <a:pPr algn="r" indent="0" marL="0">
              <a:buNone/>
            </a:pPr>
            <a:r>
              <a:rPr lang="en-US" sz="1200" b="1" dirty="0">
                <a:solidFill>
                  <a:srgbClr val="C2690B"/>
                </a:solidFill>
                <a:latin typeface="Courier New" pitchFamily="34" charset="0"/>
                <a:ea typeface="Courier New" pitchFamily="34" charset="-122"/>
                <a:cs typeface="Courier New" pitchFamily="34" charset="-120"/>
              </a:rPr>
              <a:t>2.927</a:t>
            </a:r>
            <a:endParaRPr lang="en-US" sz="1200" dirty="0"/>
          </a:p>
        </p:txBody>
      </p:sp>
      <p:sp>
        <p:nvSpPr>
          <p:cNvPr id="14" name="Text 10"/>
          <p:cNvSpPr txBox="1"/>
          <p:nvPr/>
        </p:nvSpPr>
        <p:spPr>
          <a:xfrm>
            <a:off x="8302752" y="2837556"/>
            <a:ext cx="1773936" cy="442436"/>
          </a:xfrm>
          <a:prstGeom prst="rect">
            <a:avLst/>
          </a:prstGeom>
          <a:noFill/>
          <a:ln/>
        </p:spPr>
        <p:txBody>
          <a:bodyPr wrap="square" lIns="0" tIns="0" rIns="0" bIns="0" rtlCol="0" anchor="ctr"/>
          <a:lstStyle/>
          <a:p>
            <a:pPr indent="0" marL="0">
              <a:buNone/>
            </a:pPr>
            <a:r>
              <a:rPr lang="en-US" sz="950" dirty="0">
                <a:solidFill>
                  <a:srgbClr val="64748B"/>
                </a:solidFill>
                <a:latin typeface="Malgun Gothic" pitchFamily="34" charset="0"/>
                <a:ea typeface="Malgun Gothic" pitchFamily="34" charset="-122"/>
                <a:cs typeface="Malgun Gothic" pitchFamily="34" charset="-120"/>
              </a:rPr>
              <a:t>마지막 logged loss (step 80)</a:t>
            </a:r>
            <a:endParaRPr lang="en-US" sz="950" dirty="0"/>
          </a:p>
        </p:txBody>
      </p:sp>
      <p:sp>
        <p:nvSpPr>
          <p:cNvPr id="15" name="Text 11"/>
          <p:cNvSpPr txBox="1"/>
          <p:nvPr/>
        </p:nvSpPr>
        <p:spPr>
          <a:xfrm>
            <a:off x="10076688" y="2837556"/>
            <a:ext cx="731520" cy="442436"/>
          </a:xfrm>
          <a:prstGeom prst="rect">
            <a:avLst/>
          </a:prstGeom>
          <a:noFill/>
          <a:ln/>
        </p:spPr>
        <p:txBody>
          <a:bodyPr wrap="square" lIns="0" tIns="0" rIns="0" bIns="0" rtlCol="0" anchor="ctr"/>
          <a:lstStyle/>
          <a:p>
            <a:pPr algn="r" indent="0" marL="0">
              <a:buNone/>
            </a:pPr>
            <a:r>
              <a:rPr lang="en-US" sz="1200" b="1" dirty="0">
                <a:solidFill>
                  <a:srgbClr val="2563EB"/>
                </a:solidFill>
                <a:latin typeface="Courier New" pitchFamily="34" charset="0"/>
                <a:ea typeface="Courier New" pitchFamily="34" charset="-122"/>
                <a:cs typeface="Courier New" pitchFamily="34" charset="-120"/>
              </a:rPr>
              <a:t>0.0084</a:t>
            </a:r>
            <a:endParaRPr lang="en-US" sz="1200" dirty="0"/>
          </a:p>
        </p:txBody>
      </p:sp>
      <p:sp>
        <p:nvSpPr>
          <p:cNvPr id="16" name="Text 12"/>
          <p:cNvSpPr txBox="1"/>
          <p:nvPr/>
        </p:nvSpPr>
        <p:spPr>
          <a:xfrm>
            <a:off x="10808208" y="2837556"/>
            <a:ext cx="731520" cy="442436"/>
          </a:xfrm>
          <a:prstGeom prst="rect">
            <a:avLst/>
          </a:prstGeom>
          <a:noFill/>
          <a:ln/>
        </p:spPr>
        <p:txBody>
          <a:bodyPr wrap="square" lIns="0" tIns="0" rIns="0" bIns="0" rtlCol="0" anchor="ctr"/>
          <a:lstStyle/>
          <a:p>
            <a:pPr algn="r" indent="0" marL="0">
              <a:buNone/>
            </a:pPr>
            <a:r>
              <a:rPr lang="en-US" sz="1200" b="1" dirty="0">
                <a:solidFill>
                  <a:srgbClr val="C2690B"/>
                </a:solidFill>
                <a:latin typeface="Courier New" pitchFamily="34" charset="0"/>
                <a:ea typeface="Courier New" pitchFamily="34" charset="-122"/>
                <a:cs typeface="Courier New" pitchFamily="34" charset="-120"/>
              </a:rPr>
              <a:t>0.0073</a:t>
            </a:r>
            <a:endParaRPr lang="en-US" sz="1200" dirty="0"/>
          </a:p>
        </p:txBody>
      </p:sp>
      <p:sp>
        <p:nvSpPr>
          <p:cNvPr id="17" name="Text 13"/>
          <p:cNvSpPr txBox="1"/>
          <p:nvPr/>
        </p:nvSpPr>
        <p:spPr>
          <a:xfrm>
            <a:off x="8302752" y="3360435"/>
            <a:ext cx="1773936" cy="442436"/>
          </a:xfrm>
          <a:prstGeom prst="rect">
            <a:avLst/>
          </a:prstGeom>
          <a:noFill/>
          <a:ln/>
        </p:spPr>
        <p:txBody>
          <a:bodyPr wrap="square" lIns="0" tIns="0" rIns="0" bIns="0" rtlCol="0" anchor="ctr"/>
          <a:lstStyle/>
          <a:p>
            <a:pPr indent="0" marL="0">
              <a:buNone/>
            </a:pPr>
            <a:r>
              <a:rPr lang="en-US" sz="950" dirty="0">
                <a:solidFill>
                  <a:srgbClr val="64748B"/>
                </a:solidFill>
                <a:latin typeface="Malgun Gothic" pitchFamily="34" charset="0"/>
                <a:ea typeface="Malgun Gothic" pitchFamily="34" charset="-122"/>
                <a:cs typeface="Malgun Gothic" pitchFamily="34" charset="-120"/>
              </a:rPr>
              <a:t>전체 학습 평균 train loss</a:t>
            </a:r>
            <a:endParaRPr lang="en-US" sz="950" dirty="0"/>
          </a:p>
        </p:txBody>
      </p:sp>
      <p:sp>
        <p:nvSpPr>
          <p:cNvPr id="18" name="Text 14"/>
          <p:cNvSpPr txBox="1"/>
          <p:nvPr/>
        </p:nvSpPr>
        <p:spPr>
          <a:xfrm>
            <a:off x="10076688" y="3360435"/>
            <a:ext cx="731520" cy="442436"/>
          </a:xfrm>
          <a:prstGeom prst="rect">
            <a:avLst/>
          </a:prstGeom>
          <a:noFill/>
          <a:ln/>
        </p:spPr>
        <p:txBody>
          <a:bodyPr wrap="square" lIns="0" tIns="0" rIns="0" bIns="0" rtlCol="0" anchor="ctr"/>
          <a:lstStyle/>
          <a:p>
            <a:pPr algn="r" indent="0" marL="0">
              <a:buNone/>
            </a:pPr>
            <a:r>
              <a:rPr lang="en-US" sz="1200" b="1" dirty="0">
                <a:solidFill>
                  <a:srgbClr val="2563EB"/>
                </a:solidFill>
                <a:latin typeface="Courier New" pitchFamily="34" charset="0"/>
                <a:ea typeface="Courier New" pitchFamily="34" charset="-122"/>
                <a:cs typeface="Courier New" pitchFamily="34" charset="-120"/>
              </a:rPr>
              <a:t>0.6192</a:t>
            </a:r>
            <a:endParaRPr lang="en-US" sz="1200" dirty="0"/>
          </a:p>
        </p:txBody>
      </p:sp>
      <p:sp>
        <p:nvSpPr>
          <p:cNvPr id="19" name="Text 15"/>
          <p:cNvSpPr txBox="1"/>
          <p:nvPr/>
        </p:nvSpPr>
        <p:spPr>
          <a:xfrm>
            <a:off x="10808208" y="3360435"/>
            <a:ext cx="731520" cy="442436"/>
          </a:xfrm>
          <a:prstGeom prst="rect">
            <a:avLst/>
          </a:prstGeom>
          <a:noFill/>
          <a:ln/>
        </p:spPr>
        <p:txBody>
          <a:bodyPr wrap="square" lIns="0" tIns="0" rIns="0" bIns="0" rtlCol="0" anchor="ctr"/>
          <a:lstStyle/>
          <a:p>
            <a:pPr algn="r" indent="0" marL="0">
              <a:buNone/>
            </a:pPr>
            <a:r>
              <a:rPr lang="en-US" sz="1200" b="1" dirty="0">
                <a:solidFill>
                  <a:srgbClr val="C2690B"/>
                </a:solidFill>
                <a:latin typeface="Courier New" pitchFamily="34" charset="0"/>
                <a:ea typeface="Courier New" pitchFamily="34" charset="-122"/>
                <a:cs typeface="Courier New" pitchFamily="34" charset="-120"/>
              </a:rPr>
              <a:t>0.5775</a:t>
            </a:r>
            <a:endParaRPr lang="en-US" sz="1200" dirty="0"/>
          </a:p>
        </p:txBody>
      </p:sp>
      <p:sp>
        <p:nvSpPr>
          <p:cNvPr id="20" name="Text 16"/>
          <p:cNvSpPr txBox="1"/>
          <p:nvPr/>
        </p:nvSpPr>
        <p:spPr>
          <a:xfrm>
            <a:off x="8302752" y="3883314"/>
            <a:ext cx="1773936" cy="442436"/>
          </a:xfrm>
          <a:prstGeom prst="rect">
            <a:avLst/>
          </a:prstGeom>
          <a:noFill/>
          <a:ln/>
        </p:spPr>
        <p:txBody>
          <a:bodyPr wrap="square" lIns="0" tIns="0" rIns="0" bIns="0" rtlCol="0" anchor="ctr"/>
          <a:lstStyle/>
          <a:p>
            <a:pPr indent="0" marL="0">
              <a:buNone/>
            </a:pPr>
            <a:r>
              <a:rPr lang="en-US" sz="950" dirty="0">
                <a:solidFill>
                  <a:srgbClr val="64748B"/>
                </a:solidFill>
                <a:latin typeface="Malgun Gothic" pitchFamily="34" charset="0"/>
                <a:ea typeface="Malgun Gothic" pitchFamily="34" charset="-122"/>
                <a:cs typeface="Malgun Gothic" pitchFamily="34" charset="-120"/>
              </a:rPr>
              <a:t>Mean Token Accuracy (step 50~)</a:t>
            </a:r>
            <a:endParaRPr lang="en-US" sz="950" dirty="0"/>
          </a:p>
        </p:txBody>
      </p:sp>
      <p:sp>
        <p:nvSpPr>
          <p:cNvPr id="21" name="Text 17"/>
          <p:cNvSpPr txBox="1"/>
          <p:nvPr/>
        </p:nvSpPr>
        <p:spPr>
          <a:xfrm>
            <a:off x="10076688" y="3883314"/>
            <a:ext cx="731520" cy="442436"/>
          </a:xfrm>
          <a:prstGeom prst="rect">
            <a:avLst/>
          </a:prstGeom>
          <a:noFill/>
          <a:ln/>
        </p:spPr>
        <p:txBody>
          <a:bodyPr wrap="square" lIns="0" tIns="0" rIns="0" bIns="0" rtlCol="0" anchor="ctr"/>
          <a:lstStyle/>
          <a:p>
            <a:pPr algn="r" indent="0" marL="0">
              <a:buNone/>
            </a:pPr>
            <a:r>
              <a:rPr lang="en-US" sz="1200" b="1" dirty="0">
                <a:solidFill>
                  <a:srgbClr val="2563EB"/>
                </a:solidFill>
                <a:latin typeface="Courier New" pitchFamily="34" charset="0"/>
                <a:ea typeface="Courier New" pitchFamily="34" charset="-122"/>
                <a:cs typeface="Courier New" pitchFamily="34" charset="-120"/>
              </a:rPr>
              <a:t>1.0</a:t>
            </a:r>
            <a:endParaRPr lang="en-US" sz="1200" dirty="0"/>
          </a:p>
        </p:txBody>
      </p:sp>
      <p:sp>
        <p:nvSpPr>
          <p:cNvPr id="22" name="Text 18"/>
          <p:cNvSpPr txBox="1"/>
          <p:nvPr/>
        </p:nvSpPr>
        <p:spPr>
          <a:xfrm>
            <a:off x="10808208" y="3883314"/>
            <a:ext cx="731520" cy="442436"/>
          </a:xfrm>
          <a:prstGeom prst="rect">
            <a:avLst/>
          </a:prstGeom>
          <a:noFill/>
          <a:ln/>
        </p:spPr>
        <p:txBody>
          <a:bodyPr wrap="square" lIns="0" tIns="0" rIns="0" bIns="0" rtlCol="0" anchor="ctr"/>
          <a:lstStyle/>
          <a:p>
            <a:pPr algn="r" indent="0" marL="0">
              <a:buNone/>
            </a:pPr>
            <a:r>
              <a:rPr lang="en-US" sz="1200" b="1" dirty="0">
                <a:solidFill>
                  <a:srgbClr val="C2690B"/>
                </a:solidFill>
                <a:latin typeface="Courier New" pitchFamily="34" charset="0"/>
                <a:ea typeface="Courier New" pitchFamily="34" charset="-122"/>
                <a:cs typeface="Courier New" pitchFamily="34" charset="-120"/>
              </a:rPr>
              <a:t>1.0</a:t>
            </a:r>
            <a:endParaRPr lang="en-US" sz="1200" dirty="0"/>
          </a:p>
        </p:txBody>
      </p:sp>
      <p:sp>
        <p:nvSpPr>
          <p:cNvPr id="23" name="Shape 19"/>
          <p:cNvSpPr/>
          <p:nvPr/>
        </p:nvSpPr>
        <p:spPr>
          <a:xfrm>
            <a:off x="8101584" y="4707854"/>
            <a:ext cx="3511296" cy="1729522"/>
          </a:xfrm>
          <a:prstGeom prst="roundRect">
            <a:avLst>
              <a:gd name="adj" fmla="val 3172"/>
            </a:avLst>
          </a:prstGeom>
          <a:solidFill>
            <a:srgbClr val="FBF3E7"/>
          </a:solidFill>
          <a:ln w="12700">
            <a:solidFill>
              <a:srgbClr val="EED9B9"/>
            </a:solidFill>
            <a:prstDash val="solid"/>
          </a:ln>
        </p:spPr>
      </p:sp>
      <p:sp>
        <p:nvSpPr>
          <p:cNvPr id="24" name="Text 20"/>
          <p:cNvSpPr txBox="1"/>
          <p:nvPr/>
        </p:nvSpPr>
        <p:spPr>
          <a:xfrm>
            <a:off x="8302752" y="4868740"/>
            <a:ext cx="3108960" cy="281550"/>
          </a:xfrm>
          <a:prstGeom prst="rect">
            <a:avLst/>
          </a:prstGeom>
          <a:noFill/>
          <a:ln/>
        </p:spPr>
        <p:txBody>
          <a:bodyPr wrap="square" lIns="0" tIns="0" rIns="0" bIns="0" rtlCol="0" anchor="ctr"/>
          <a:lstStyle/>
          <a:p>
            <a:pPr indent="0" marL="0">
              <a:buNone/>
            </a:pPr>
            <a:r>
              <a:rPr lang="en-US" sz="1100" b="1" dirty="0">
                <a:solidFill>
                  <a:srgbClr val="C2690B"/>
                </a:solidFill>
                <a:latin typeface="Malgun Gothic" pitchFamily="34" charset="0"/>
                <a:ea typeface="Malgun Gothic" pitchFamily="34" charset="-122"/>
                <a:cs typeface="Malgun Gothic" pitchFamily="34" charset="-120"/>
              </a:rPr>
              <a:t>해석 시 주의</a:t>
            </a:r>
            <a:endParaRPr lang="en-US" sz="1100" dirty="0"/>
          </a:p>
        </p:txBody>
      </p:sp>
      <p:sp>
        <p:nvSpPr>
          <p:cNvPr id="25" name="Text 21"/>
          <p:cNvSpPr txBox="1"/>
          <p:nvPr/>
        </p:nvSpPr>
        <p:spPr>
          <a:xfrm>
            <a:off x="8302752" y="5170400"/>
            <a:ext cx="3108960" cy="1206643"/>
          </a:xfrm>
          <a:prstGeom prst="rect">
            <a:avLst/>
          </a:prstGeom>
          <a:noFill/>
          <a:ln/>
        </p:spPr>
        <p:txBody>
          <a:bodyPr wrap="square" lIns="0" tIns="0" rIns="0" bIns="0" rtlCol="0" anchor="ctr"/>
          <a:lstStyle/>
          <a:p>
            <a:pPr indent="0" marL="0">
              <a:lnSpc>
                <a:spcPts val="1400"/>
              </a:lnSpc>
              <a:buNone/>
            </a:pPr>
            <a:r>
              <a:rPr lang="en-US" sz="950" b="1" dirty="0">
                <a:solidFill>
                  <a:srgbClr val="5C4526"/>
                </a:solidFill>
                <a:latin typeface="Malgun Gothic" pitchFamily="34" charset="0"/>
                <a:ea typeface="Malgun Gothic" pitchFamily="34" charset="-122"/>
                <a:cs typeface="Malgun Gothic" pitchFamily="34" charset="-120"/>
              </a:rPr>
              <a:t>Train Loss가 낮다는 사실만으로 일반화 성능이 좋다고 판단할 수 없다.</a:t>
            </a:r>
            <a:endParaRPr lang="en-US" sz="950" dirty="0"/>
          </a:p>
          <a:p>
            <a:pPr indent="0" marL="0">
              <a:lnSpc>
                <a:spcPts val="1400"/>
              </a:lnSpc>
              <a:buNone/>
            </a:pPr>
            <a:endParaRPr lang="en-US" sz="950" dirty="0"/>
          </a:p>
          <a:p>
            <a:pPr indent="0" marL="0">
              <a:lnSpc>
                <a:spcPts val="1400"/>
              </a:lnSpc>
              <a:buNone/>
            </a:pPr>
            <a:r>
              <a:rPr lang="en-US" sz="950" dirty="0">
                <a:solidFill>
                  <a:srgbClr val="6B5636"/>
                </a:solidFill>
                <a:latin typeface="Malgun Gothic" pitchFamily="34" charset="0"/>
                <a:ea typeface="Malgun Gothic" pitchFamily="34" charset="-122"/>
                <a:cs typeface="Malgun Gothic" pitchFamily="34" charset="-120"/>
              </a:rPr>
              <a:t>31개 데이터로 약 20 epoch까지 반복 학습했으므로 Overfitting 가능성을 함께 검토해야 한다. QLoRA의 평균 train loss가 약간 낮다는 이유만으로 생성 품질이 더 우수하다고 결론 내리지 않는다.</a:t>
            </a:r>
            <a:endParaRPr lang="en-US" sz="950" dirty="0"/>
          </a:p>
        </p:txBody>
      </p:sp>
      <p:sp>
        <p:nvSpPr>
          <p:cNvPr id="26" name="Text 22"/>
          <p:cNvSpPr txBox="1"/>
          <p:nvPr/>
        </p:nvSpPr>
        <p:spPr>
          <a:xfrm>
            <a:off x="566928" y="5512283"/>
            <a:ext cx="7242048" cy="723986"/>
          </a:xfrm>
          <a:prstGeom prst="rect">
            <a:avLst/>
          </a:prstGeom>
          <a:noFill/>
          <a:ln/>
        </p:spPr>
        <p:txBody>
          <a:bodyPr wrap="square" lIns="0" tIns="0" rIns="0" bIns="0" rtlCol="0" anchor="ctr"/>
          <a:lstStyle/>
          <a:p>
            <a:pPr indent="0" marL="0">
              <a:lnSpc>
                <a:spcPts val="1800"/>
              </a:lnSpc>
              <a:buNone/>
            </a:pPr>
            <a:r>
              <a:rPr lang="en-US" sz="1100" dirty="0">
                <a:solidFill>
                  <a:srgbClr val="45516D"/>
                </a:solidFill>
                <a:latin typeface="Malgun Gothic" pitchFamily="34" charset="0"/>
                <a:ea typeface="Malgun Gothic" pitchFamily="34" charset="-122"/>
                <a:cs typeface="Malgun Gothic" pitchFamily="34" charset="-120"/>
              </a:rPr>
              <a:t>두 방식 모두 동일한 형태로 빠르게 수렴했다. step 50 이후 mean_token_accuracy가 1.0에 도달하며, 이는 학습 데이터를 거의 그대로 재현하고 있다는 신호이기도 하다.</a:t>
            </a:r>
            <a:endParaRPr lang="en-US" sz="1100" dirty="0"/>
          </a:p>
        </p:txBody>
      </p:sp>
      <p:sp>
        <p:nvSpPr>
          <p:cNvPr id="27" name="Text 23"/>
          <p:cNvSpPr txBox="1"/>
          <p:nvPr/>
        </p:nvSpPr>
        <p:spPr>
          <a:xfrm>
            <a:off x="11277295" y="6355080"/>
            <a:ext cx="457200" cy="274320"/>
          </a:xfrm>
          <a:prstGeom prst="rect">
            <a:avLst/>
          </a:prstGeom>
          <a:noFill/>
          <a:ln/>
        </p:spPr>
        <p:txBody>
          <a:bodyPr wrap="square" lIns="0" tIns="0" rIns="0" bIns="0" rtlCol="0" anchor="ctr"/>
          <a:lstStyle/>
          <a:p>
            <a:pPr algn="r" indent="0" marL="0">
              <a:buNone/>
            </a:pPr>
            <a:r>
              <a:rPr lang="en-US" sz="1000" dirty="0">
                <a:solidFill>
                  <a:srgbClr val="9AA6BC"/>
                </a:solidFill>
                <a:latin typeface="Malgun Gothic" pitchFamily="34" charset="0"/>
                <a:ea typeface="Malgun Gothic" pitchFamily="34" charset="-122"/>
                <a:cs typeface="Malgun Gothic"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66928" y="384048"/>
            <a:ext cx="1609344" cy="291025"/>
          </a:xfrm>
          <a:prstGeom prst="roundRect">
            <a:avLst>
              <a:gd name="adj" fmla="val 47130"/>
            </a:avLst>
          </a:prstGeom>
          <a:solidFill>
            <a:srgbClr val="E4EDFE"/>
          </a:solidFill>
          <a:ln w="12700">
            <a:solidFill>
              <a:srgbClr val="E4EDFE"/>
            </a:solidFill>
            <a:prstDash val="solid"/>
          </a:ln>
        </p:spPr>
      </p:sp>
      <p:sp>
        <p:nvSpPr>
          <p:cNvPr id="4" name="Text 1"/>
          <p:cNvSpPr txBox="1"/>
          <p:nvPr/>
        </p:nvSpPr>
        <p:spPr>
          <a:xfrm>
            <a:off x="566928" y="384048"/>
            <a:ext cx="1609344" cy="291025"/>
          </a:xfrm>
          <a:prstGeom prst="rect">
            <a:avLst/>
          </a:prstGeom>
          <a:noFill/>
          <a:ln/>
        </p:spPr>
        <p:txBody>
          <a:bodyPr wrap="square" lIns="0" tIns="0" rIns="0" bIns="0" rtlCol="0" anchor="ctr"/>
          <a:lstStyle/>
          <a:p>
            <a:pPr algn="ctr" indent="0" marL="0">
              <a:buNone/>
            </a:pPr>
            <a:r>
              <a:rPr lang="en-US" sz="1050" b="1" spc="60" kern="0" dirty="0">
                <a:solidFill>
                  <a:srgbClr val="1D4ED8"/>
                </a:solidFill>
                <a:latin typeface="Malgun Gothic" pitchFamily="34" charset="0"/>
                <a:ea typeface="Malgun Gothic" pitchFamily="34" charset="-122"/>
                <a:cs typeface="Malgun Gothic" pitchFamily="34" charset="-120"/>
              </a:rPr>
              <a:t>05  VALIDATION</a:t>
            </a:r>
            <a:endParaRPr lang="en-US" sz="1050" dirty="0"/>
          </a:p>
        </p:txBody>
      </p:sp>
      <p:sp>
        <p:nvSpPr>
          <p:cNvPr id="5" name="Text 2"/>
          <p:cNvSpPr txBox="1"/>
          <p:nvPr/>
        </p:nvSpPr>
        <p:spPr>
          <a:xfrm>
            <a:off x="566928" y="733278"/>
            <a:ext cx="11057839" cy="543247"/>
          </a:xfrm>
          <a:prstGeom prst="rect">
            <a:avLst/>
          </a:prstGeom>
          <a:noFill/>
          <a:ln/>
        </p:spPr>
        <p:txBody>
          <a:bodyPr wrap="square" lIns="0" tIns="0" rIns="0" bIns="0" rtlCol="0" anchor="ctr"/>
          <a:lstStyle/>
          <a:p>
            <a:pPr indent="0" marL="0">
              <a:buNone/>
            </a:pPr>
            <a:r>
              <a:rPr lang="en-US" sz="3000" b="1" dirty="0">
                <a:solidFill>
                  <a:srgbClr val="15203A"/>
                </a:solidFill>
                <a:latin typeface="Malgun Gothic" pitchFamily="34" charset="0"/>
                <a:ea typeface="Malgun Gothic" pitchFamily="34" charset="-122"/>
                <a:cs typeface="Malgun Gothic" pitchFamily="34" charset="-120"/>
              </a:rPr>
              <a:t>GPU Memory와 Training Time</a:t>
            </a:r>
            <a:endParaRPr lang="en-US" sz="3000" dirty="0"/>
          </a:p>
        </p:txBody>
      </p:sp>
      <p:sp>
        <p:nvSpPr>
          <p:cNvPr id="6" name="Text 3"/>
          <p:cNvSpPr txBox="1"/>
          <p:nvPr/>
        </p:nvSpPr>
        <p:spPr>
          <a:xfrm>
            <a:off x="566928" y="1266825"/>
            <a:ext cx="11057839" cy="310427"/>
          </a:xfrm>
          <a:prstGeom prst="rect">
            <a:avLst/>
          </a:prstGeom>
          <a:noFill/>
          <a:ln/>
        </p:spPr>
        <p:txBody>
          <a:bodyPr wrap="square" lIns="0" tIns="0" rIns="0" bIns="0" rtlCol="0" anchor="t"/>
          <a:lstStyle/>
          <a:p>
            <a:pPr indent="0" marL="0">
              <a:buNone/>
            </a:pPr>
            <a:r>
              <a:rPr lang="en-US" sz="1300" dirty="0">
                <a:solidFill>
                  <a:srgbClr val="64748B"/>
                </a:solidFill>
                <a:latin typeface="Malgun Gothic" pitchFamily="34" charset="0"/>
                <a:ea typeface="Malgun Gothic" pitchFamily="34" charset="-122"/>
                <a:cs typeface="Malgun Gothic" pitchFamily="34" charset="-120"/>
              </a:rPr>
              <a:t>Chart 2 · 3 — torch.cuda 측정값, RTX 4060 Laptop 8GB 단일 GPU</a:t>
            </a:r>
            <a:endParaRPr lang="en-US" sz="1300" dirty="0"/>
          </a:p>
        </p:txBody>
      </p:sp>
      <p:sp>
        <p:nvSpPr>
          <p:cNvPr id="7" name="Shape 4"/>
          <p:cNvSpPr/>
          <p:nvPr/>
        </p:nvSpPr>
        <p:spPr>
          <a:xfrm>
            <a:off x="566928" y="1761568"/>
            <a:ext cx="3584448" cy="1125298"/>
          </a:xfrm>
          <a:prstGeom prst="roundRect">
            <a:avLst>
              <a:gd name="adj" fmla="val 4876"/>
            </a:avLst>
          </a:prstGeom>
          <a:solidFill>
            <a:srgbClr val="F2F5FA"/>
          </a:solidFill>
          <a:ln w="12700">
            <a:solidFill>
              <a:srgbClr val="F2F5FA"/>
            </a:solidFill>
            <a:prstDash val="solid"/>
          </a:ln>
        </p:spPr>
      </p:sp>
      <p:sp>
        <p:nvSpPr>
          <p:cNvPr id="8" name="Text 5"/>
          <p:cNvSpPr txBox="1"/>
          <p:nvPr/>
        </p:nvSpPr>
        <p:spPr>
          <a:xfrm>
            <a:off x="768096" y="1877978"/>
            <a:ext cx="3182112" cy="426837"/>
          </a:xfrm>
          <a:prstGeom prst="rect">
            <a:avLst/>
          </a:prstGeom>
          <a:noFill/>
          <a:ln/>
        </p:spPr>
        <p:txBody>
          <a:bodyPr wrap="square" lIns="0" tIns="0" rIns="0" bIns="0" rtlCol="0" anchor="ctr"/>
          <a:lstStyle/>
          <a:p>
            <a:pPr indent="0" marL="0">
              <a:buNone/>
            </a:pPr>
            <a:r>
              <a:rPr lang="en-US" sz="2100" b="1" dirty="0">
                <a:solidFill>
                  <a:srgbClr val="15203A"/>
                </a:solidFill>
                <a:latin typeface="Malgun Gothic" pitchFamily="34" charset="0"/>
                <a:ea typeface="Malgun Gothic" pitchFamily="34" charset="-122"/>
                <a:cs typeface="Malgun Gothic" pitchFamily="34" charset="-120"/>
              </a:rPr>
              <a:t>3.83 → 1.91 GB</a:t>
            </a:r>
            <a:endParaRPr lang="en-US" sz="2100" dirty="0"/>
          </a:p>
        </p:txBody>
      </p:sp>
      <p:sp>
        <p:nvSpPr>
          <p:cNvPr id="9" name="Text 6"/>
          <p:cNvSpPr txBox="1"/>
          <p:nvPr/>
        </p:nvSpPr>
        <p:spPr>
          <a:xfrm>
            <a:off x="768096" y="2324217"/>
            <a:ext cx="2103120" cy="291025"/>
          </a:xfrm>
          <a:prstGeom prst="rect">
            <a:avLst/>
          </a:prstGeom>
          <a:noFill/>
          <a:ln/>
        </p:spPr>
        <p:txBody>
          <a:bodyPr wrap="square" lIns="0" tIns="0" rIns="0" bIns="0" rtlCol="0" anchor="ctr"/>
          <a:lstStyle/>
          <a:p>
            <a:pPr indent="0" marL="0">
              <a:buNone/>
            </a:pPr>
            <a:r>
              <a:rPr lang="en-US" sz="1050" dirty="0">
                <a:solidFill>
                  <a:srgbClr val="64748B"/>
                </a:solidFill>
                <a:latin typeface="Malgun Gothic" pitchFamily="34" charset="0"/>
                <a:ea typeface="Malgun Gothic" pitchFamily="34" charset="-122"/>
                <a:cs typeface="Malgun Gothic" pitchFamily="34" charset="-120"/>
              </a:rPr>
              <a:t>Peak Allocated VRAM</a:t>
            </a:r>
            <a:endParaRPr lang="en-US" sz="1050" dirty="0"/>
          </a:p>
        </p:txBody>
      </p:sp>
      <p:sp>
        <p:nvSpPr>
          <p:cNvPr id="10" name="Shape 7"/>
          <p:cNvSpPr/>
          <p:nvPr/>
        </p:nvSpPr>
        <p:spPr>
          <a:xfrm>
            <a:off x="2834640" y="2343619"/>
            <a:ext cx="1115568" cy="271624"/>
          </a:xfrm>
          <a:prstGeom prst="roundRect">
            <a:avLst>
              <a:gd name="adj" fmla="val 47130"/>
            </a:avLst>
          </a:prstGeom>
          <a:solidFill>
            <a:srgbClr val="E1F3EC"/>
          </a:solidFill>
          <a:ln w="12700">
            <a:solidFill>
              <a:srgbClr val="E1F3EC"/>
            </a:solidFill>
            <a:prstDash val="solid"/>
          </a:ln>
        </p:spPr>
      </p:sp>
      <p:sp>
        <p:nvSpPr>
          <p:cNvPr id="11" name="Text 8"/>
          <p:cNvSpPr txBox="1"/>
          <p:nvPr/>
        </p:nvSpPr>
        <p:spPr>
          <a:xfrm>
            <a:off x="2834640" y="2343619"/>
            <a:ext cx="1115568" cy="271624"/>
          </a:xfrm>
          <a:prstGeom prst="rect">
            <a:avLst/>
          </a:prstGeom>
          <a:noFill/>
          <a:ln/>
        </p:spPr>
        <p:txBody>
          <a:bodyPr wrap="square" lIns="0" tIns="0" rIns="0" bIns="0" rtlCol="0" anchor="ctr"/>
          <a:lstStyle/>
          <a:p>
            <a:pPr algn="ctr" indent="0" marL="0">
              <a:buNone/>
            </a:pPr>
            <a:r>
              <a:rPr lang="en-US" sz="950" b="1" dirty="0">
                <a:solidFill>
                  <a:srgbClr val="1B7A5A"/>
                </a:solidFill>
                <a:latin typeface="Malgun Gothic" pitchFamily="34" charset="0"/>
                <a:ea typeface="Malgun Gothic" pitchFamily="34" charset="-122"/>
                <a:cs typeface="Malgun Gothic" pitchFamily="34" charset="-120"/>
              </a:rPr>
              <a:t>약 50% 감소</a:t>
            </a:r>
            <a:endParaRPr lang="en-US" sz="950" dirty="0"/>
          </a:p>
        </p:txBody>
      </p:sp>
      <p:sp>
        <p:nvSpPr>
          <p:cNvPr id="12" name="Shape 9"/>
          <p:cNvSpPr/>
          <p:nvPr/>
        </p:nvSpPr>
        <p:spPr>
          <a:xfrm>
            <a:off x="4480560" y="1761568"/>
            <a:ext cx="3584448" cy="1125298"/>
          </a:xfrm>
          <a:prstGeom prst="roundRect">
            <a:avLst>
              <a:gd name="adj" fmla="val 4876"/>
            </a:avLst>
          </a:prstGeom>
          <a:solidFill>
            <a:srgbClr val="F2F5FA"/>
          </a:solidFill>
          <a:ln w="12700">
            <a:solidFill>
              <a:srgbClr val="F2F5FA"/>
            </a:solidFill>
            <a:prstDash val="solid"/>
          </a:ln>
        </p:spPr>
      </p:sp>
      <p:sp>
        <p:nvSpPr>
          <p:cNvPr id="13" name="Text 10"/>
          <p:cNvSpPr txBox="1"/>
          <p:nvPr/>
        </p:nvSpPr>
        <p:spPr>
          <a:xfrm>
            <a:off x="4681728" y="1877978"/>
            <a:ext cx="3182112" cy="426837"/>
          </a:xfrm>
          <a:prstGeom prst="rect">
            <a:avLst/>
          </a:prstGeom>
          <a:noFill/>
          <a:ln/>
        </p:spPr>
        <p:txBody>
          <a:bodyPr wrap="square" lIns="0" tIns="0" rIns="0" bIns="0" rtlCol="0" anchor="ctr"/>
          <a:lstStyle/>
          <a:p>
            <a:pPr indent="0" marL="0">
              <a:buNone/>
            </a:pPr>
            <a:r>
              <a:rPr lang="en-US" sz="2100" b="1" dirty="0">
                <a:solidFill>
                  <a:srgbClr val="15203A"/>
                </a:solidFill>
                <a:latin typeface="Malgun Gothic" pitchFamily="34" charset="0"/>
                <a:ea typeface="Malgun Gothic" pitchFamily="34" charset="-122"/>
                <a:cs typeface="Malgun Gothic" pitchFamily="34" charset="-120"/>
              </a:rPr>
              <a:t>3.20 → 1.26 GB</a:t>
            </a:r>
            <a:endParaRPr lang="en-US" sz="2100" dirty="0"/>
          </a:p>
        </p:txBody>
      </p:sp>
      <p:sp>
        <p:nvSpPr>
          <p:cNvPr id="14" name="Text 11"/>
          <p:cNvSpPr txBox="1"/>
          <p:nvPr/>
        </p:nvSpPr>
        <p:spPr>
          <a:xfrm>
            <a:off x="4681728" y="2324217"/>
            <a:ext cx="2103120" cy="291025"/>
          </a:xfrm>
          <a:prstGeom prst="rect">
            <a:avLst/>
          </a:prstGeom>
          <a:noFill/>
          <a:ln/>
        </p:spPr>
        <p:txBody>
          <a:bodyPr wrap="square" lIns="0" tIns="0" rIns="0" bIns="0" rtlCol="0" anchor="ctr"/>
          <a:lstStyle/>
          <a:p>
            <a:pPr indent="0" marL="0">
              <a:buNone/>
            </a:pPr>
            <a:r>
              <a:rPr lang="en-US" sz="1050" dirty="0">
                <a:solidFill>
                  <a:srgbClr val="64748B"/>
                </a:solidFill>
                <a:latin typeface="Malgun Gothic" pitchFamily="34" charset="0"/>
                <a:ea typeface="Malgun Gothic" pitchFamily="34" charset="-122"/>
                <a:cs typeface="Malgun Gothic" pitchFamily="34" charset="-120"/>
              </a:rPr>
              <a:t>Model Load VRAM</a:t>
            </a:r>
            <a:endParaRPr lang="en-US" sz="1050" dirty="0"/>
          </a:p>
        </p:txBody>
      </p:sp>
      <p:sp>
        <p:nvSpPr>
          <p:cNvPr id="15" name="Shape 12"/>
          <p:cNvSpPr/>
          <p:nvPr/>
        </p:nvSpPr>
        <p:spPr>
          <a:xfrm>
            <a:off x="6748272" y="2343619"/>
            <a:ext cx="1115568" cy="271624"/>
          </a:xfrm>
          <a:prstGeom prst="roundRect">
            <a:avLst>
              <a:gd name="adj" fmla="val 47130"/>
            </a:avLst>
          </a:prstGeom>
          <a:solidFill>
            <a:srgbClr val="E1F3EC"/>
          </a:solidFill>
          <a:ln w="12700">
            <a:solidFill>
              <a:srgbClr val="E1F3EC"/>
            </a:solidFill>
            <a:prstDash val="solid"/>
          </a:ln>
        </p:spPr>
      </p:sp>
      <p:sp>
        <p:nvSpPr>
          <p:cNvPr id="16" name="Text 13"/>
          <p:cNvSpPr txBox="1"/>
          <p:nvPr/>
        </p:nvSpPr>
        <p:spPr>
          <a:xfrm>
            <a:off x="6748272" y="2343619"/>
            <a:ext cx="1115568" cy="271624"/>
          </a:xfrm>
          <a:prstGeom prst="rect">
            <a:avLst/>
          </a:prstGeom>
          <a:noFill/>
          <a:ln/>
        </p:spPr>
        <p:txBody>
          <a:bodyPr wrap="square" lIns="0" tIns="0" rIns="0" bIns="0" rtlCol="0" anchor="ctr"/>
          <a:lstStyle/>
          <a:p>
            <a:pPr algn="ctr" indent="0" marL="0">
              <a:buNone/>
            </a:pPr>
            <a:r>
              <a:rPr lang="en-US" sz="950" b="1" dirty="0">
                <a:solidFill>
                  <a:srgbClr val="1B7A5A"/>
                </a:solidFill>
                <a:latin typeface="Malgun Gothic" pitchFamily="34" charset="0"/>
                <a:ea typeface="Malgun Gothic" pitchFamily="34" charset="-122"/>
                <a:cs typeface="Malgun Gothic" pitchFamily="34" charset="-120"/>
              </a:rPr>
              <a:t>약 61% 감소</a:t>
            </a:r>
            <a:endParaRPr lang="en-US" sz="950" dirty="0"/>
          </a:p>
        </p:txBody>
      </p:sp>
      <p:sp>
        <p:nvSpPr>
          <p:cNvPr id="17" name="Shape 14"/>
          <p:cNvSpPr/>
          <p:nvPr/>
        </p:nvSpPr>
        <p:spPr>
          <a:xfrm>
            <a:off x="8394192" y="1761568"/>
            <a:ext cx="3584448" cy="1125298"/>
          </a:xfrm>
          <a:prstGeom prst="roundRect">
            <a:avLst>
              <a:gd name="adj" fmla="val 4876"/>
            </a:avLst>
          </a:prstGeom>
          <a:solidFill>
            <a:srgbClr val="F2F5FA"/>
          </a:solidFill>
          <a:ln w="12700">
            <a:solidFill>
              <a:srgbClr val="F2F5FA"/>
            </a:solidFill>
            <a:prstDash val="solid"/>
          </a:ln>
        </p:spPr>
      </p:sp>
      <p:sp>
        <p:nvSpPr>
          <p:cNvPr id="18" name="Text 15"/>
          <p:cNvSpPr txBox="1"/>
          <p:nvPr/>
        </p:nvSpPr>
        <p:spPr>
          <a:xfrm>
            <a:off x="8595360" y="1877978"/>
            <a:ext cx="3182112" cy="426837"/>
          </a:xfrm>
          <a:prstGeom prst="rect">
            <a:avLst/>
          </a:prstGeom>
          <a:noFill/>
          <a:ln/>
        </p:spPr>
        <p:txBody>
          <a:bodyPr wrap="square" lIns="0" tIns="0" rIns="0" bIns="0" rtlCol="0" anchor="ctr"/>
          <a:lstStyle/>
          <a:p>
            <a:pPr indent="0" marL="0">
              <a:buNone/>
            </a:pPr>
            <a:r>
              <a:rPr lang="en-US" sz="2100" b="1" dirty="0">
                <a:solidFill>
                  <a:srgbClr val="15203A"/>
                </a:solidFill>
                <a:latin typeface="Malgun Gothic" pitchFamily="34" charset="0"/>
                <a:ea typeface="Malgun Gothic" pitchFamily="34" charset="-122"/>
                <a:cs typeface="Malgun Gothic" pitchFamily="34" charset="-120"/>
              </a:rPr>
              <a:t>242.6 → 325.6 초</a:t>
            </a:r>
            <a:endParaRPr lang="en-US" sz="2100" dirty="0"/>
          </a:p>
        </p:txBody>
      </p:sp>
      <p:sp>
        <p:nvSpPr>
          <p:cNvPr id="19" name="Text 16"/>
          <p:cNvSpPr txBox="1"/>
          <p:nvPr/>
        </p:nvSpPr>
        <p:spPr>
          <a:xfrm>
            <a:off x="8595360" y="2324217"/>
            <a:ext cx="2103120" cy="291025"/>
          </a:xfrm>
          <a:prstGeom prst="rect">
            <a:avLst/>
          </a:prstGeom>
          <a:noFill/>
          <a:ln/>
        </p:spPr>
        <p:txBody>
          <a:bodyPr wrap="square" lIns="0" tIns="0" rIns="0" bIns="0" rtlCol="0" anchor="ctr"/>
          <a:lstStyle/>
          <a:p>
            <a:pPr indent="0" marL="0">
              <a:buNone/>
            </a:pPr>
            <a:r>
              <a:rPr lang="en-US" sz="1050" dirty="0">
                <a:solidFill>
                  <a:srgbClr val="64748B"/>
                </a:solidFill>
                <a:latin typeface="Malgun Gothic" pitchFamily="34" charset="0"/>
                <a:ea typeface="Malgun Gothic" pitchFamily="34" charset="-122"/>
                <a:cs typeface="Malgun Gothic" pitchFamily="34" charset="-120"/>
              </a:rPr>
              <a:t>실측 Training Time</a:t>
            </a:r>
            <a:endParaRPr lang="en-US" sz="1050" dirty="0"/>
          </a:p>
        </p:txBody>
      </p:sp>
      <p:sp>
        <p:nvSpPr>
          <p:cNvPr id="20" name="Shape 17"/>
          <p:cNvSpPr/>
          <p:nvPr/>
        </p:nvSpPr>
        <p:spPr>
          <a:xfrm>
            <a:off x="10661904" y="2343619"/>
            <a:ext cx="1115568" cy="271624"/>
          </a:xfrm>
          <a:prstGeom prst="roundRect">
            <a:avLst>
              <a:gd name="adj" fmla="val 47130"/>
            </a:avLst>
          </a:prstGeom>
          <a:solidFill>
            <a:srgbClr val="FAEEDD"/>
          </a:solidFill>
          <a:ln w="12700">
            <a:solidFill>
              <a:srgbClr val="FAEEDD"/>
            </a:solidFill>
            <a:prstDash val="solid"/>
          </a:ln>
        </p:spPr>
      </p:sp>
      <p:sp>
        <p:nvSpPr>
          <p:cNvPr id="21" name="Text 18"/>
          <p:cNvSpPr txBox="1"/>
          <p:nvPr/>
        </p:nvSpPr>
        <p:spPr>
          <a:xfrm>
            <a:off x="10661904" y="2343619"/>
            <a:ext cx="1115568" cy="271624"/>
          </a:xfrm>
          <a:prstGeom prst="rect">
            <a:avLst/>
          </a:prstGeom>
          <a:noFill/>
          <a:ln/>
        </p:spPr>
        <p:txBody>
          <a:bodyPr wrap="square" lIns="0" tIns="0" rIns="0" bIns="0" rtlCol="0" anchor="ctr"/>
          <a:lstStyle/>
          <a:p>
            <a:pPr algn="ctr" indent="0" marL="0">
              <a:buNone/>
            </a:pPr>
            <a:r>
              <a:rPr lang="en-US" sz="950" b="1" dirty="0">
                <a:solidFill>
                  <a:srgbClr val="8A3A12"/>
                </a:solidFill>
                <a:latin typeface="Malgun Gothic" pitchFamily="34" charset="0"/>
                <a:ea typeface="Malgun Gothic" pitchFamily="34" charset="-122"/>
                <a:cs typeface="Malgun Gothic" pitchFamily="34" charset="-120"/>
              </a:rPr>
              <a:t>약 34% 증가</a:t>
            </a:r>
            <a:endParaRPr lang="en-US" sz="950" dirty="0"/>
          </a:p>
        </p:txBody>
      </p:sp>
      <p:sp>
        <p:nvSpPr>
          <p:cNvPr id="22" name="Text 19"/>
          <p:cNvSpPr txBox="1"/>
          <p:nvPr/>
        </p:nvSpPr>
        <p:spPr>
          <a:xfrm>
            <a:off x="566928" y="3042080"/>
            <a:ext cx="3657600" cy="271624"/>
          </a:xfrm>
          <a:prstGeom prst="rect">
            <a:avLst/>
          </a:prstGeom>
          <a:noFill/>
          <a:ln/>
        </p:spPr>
        <p:txBody>
          <a:bodyPr wrap="square" lIns="0" tIns="0" rIns="0" bIns="0" rtlCol="0" anchor="ctr"/>
          <a:lstStyle/>
          <a:p>
            <a:pPr indent="0" marL="0">
              <a:buNone/>
            </a:pPr>
            <a:r>
              <a:rPr lang="en-US" sz="1200" b="1" dirty="0">
                <a:solidFill>
                  <a:srgbClr val="15203A"/>
                </a:solidFill>
                <a:latin typeface="Malgun Gothic" pitchFamily="34" charset="0"/>
                <a:ea typeface="Malgun Gothic" pitchFamily="34" charset="-122"/>
                <a:cs typeface="Malgun Gothic" pitchFamily="34" charset="-120"/>
              </a:rPr>
              <a:t>VRAM 사용량 (GB)</a:t>
            </a:r>
            <a:endParaRPr lang="en-US" sz="1200" dirty="0"/>
          </a:p>
        </p:txBody>
      </p:sp>
      <p:graphicFrame>
        <p:nvGraphicFramePr>
          <p:cNvPr id="23" name="Chart 0" descr=""/>
          <p:cNvGraphicFramePr/>
          <p:nvPr/>
        </p:nvGraphicFramePr>
        <p:xfrm>
          <a:off x="566928" y="3313704"/>
          <a:ext cx="5577840" cy="2638630"/>
        </p:xfrm>
        <a:graphic xmlns:a="http://schemas.openxmlformats.org/drawingml/2006/main">
          <a:graphicData uri="http://schemas.openxmlformats.org/drawingml/2006/chart">
            <c:chart xmlns:c="http://schemas.openxmlformats.org/drawingml/2006/chart" r:id="rId1"/>
          </a:graphicData>
        </a:graphic>
      </p:graphicFrame>
      <p:sp>
        <p:nvSpPr>
          <p:cNvPr id="24" name="Text 20"/>
          <p:cNvSpPr txBox="1"/>
          <p:nvPr/>
        </p:nvSpPr>
        <p:spPr>
          <a:xfrm>
            <a:off x="6419088" y="3042080"/>
            <a:ext cx="3657600" cy="271624"/>
          </a:xfrm>
          <a:prstGeom prst="rect">
            <a:avLst/>
          </a:prstGeom>
          <a:noFill/>
          <a:ln/>
        </p:spPr>
        <p:txBody>
          <a:bodyPr wrap="square" lIns="0" tIns="0" rIns="0" bIns="0" rtlCol="0" anchor="ctr"/>
          <a:lstStyle/>
          <a:p>
            <a:pPr indent="0" marL="0">
              <a:buNone/>
            </a:pPr>
            <a:r>
              <a:rPr lang="en-US" sz="1200" b="1" dirty="0">
                <a:solidFill>
                  <a:srgbClr val="15203A"/>
                </a:solidFill>
                <a:latin typeface="Malgun Gothic" pitchFamily="34" charset="0"/>
                <a:ea typeface="Malgun Gothic" pitchFamily="34" charset="-122"/>
                <a:cs typeface="Malgun Gothic" pitchFamily="34" charset="-120"/>
              </a:rPr>
              <a:t>학습 시간 (초)</a:t>
            </a:r>
            <a:endParaRPr lang="en-US" sz="1200" dirty="0"/>
          </a:p>
        </p:txBody>
      </p:sp>
      <p:graphicFrame>
        <p:nvGraphicFramePr>
          <p:cNvPr id="25" name="Chart 1" descr=""/>
          <p:cNvGraphicFramePr/>
          <p:nvPr/>
        </p:nvGraphicFramePr>
        <p:xfrm>
          <a:off x="6419088" y="3313704"/>
          <a:ext cx="3127248" cy="2638630"/>
        </p:xfrm>
        <a:graphic xmlns:a="http://schemas.openxmlformats.org/drawingml/2006/main">
          <a:graphicData uri="http://schemas.openxmlformats.org/drawingml/2006/chart">
            <c:chart xmlns:c="http://schemas.openxmlformats.org/drawingml/2006/chart" r:id="rId2"/>
          </a:graphicData>
        </a:graphic>
      </p:graphicFrame>
      <p:sp>
        <p:nvSpPr>
          <p:cNvPr id="26" name="Shape 21"/>
          <p:cNvSpPr/>
          <p:nvPr/>
        </p:nvSpPr>
        <p:spPr>
          <a:xfrm>
            <a:off x="9710928" y="3313704"/>
            <a:ext cx="1901952" cy="2638630"/>
          </a:xfrm>
          <a:prstGeom prst="roundRect">
            <a:avLst>
              <a:gd name="adj" fmla="val 2885"/>
            </a:avLst>
          </a:prstGeom>
          <a:solidFill>
            <a:srgbClr val="0E1A33"/>
          </a:solidFill>
          <a:ln w="12700">
            <a:solidFill>
              <a:srgbClr val="0E1A33"/>
            </a:solidFill>
            <a:prstDash val="solid"/>
          </a:ln>
        </p:spPr>
      </p:sp>
      <p:sp>
        <p:nvSpPr>
          <p:cNvPr id="27" name="Text 22"/>
          <p:cNvSpPr txBox="1"/>
          <p:nvPr/>
        </p:nvSpPr>
        <p:spPr>
          <a:xfrm>
            <a:off x="9875520" y="3468917"/>
            <a:ext cx="1609344" cy="252222"/>
          </a:xfrm>
          <a:prstGeom prst="rect">
            <a:avLst/>
          </a:prstGeom>
          <a:noFill/>
          <a:ln/>
        </p:spPr>
        <p:txBody>
          <a:bodyPr wrap="square" lIns="0" tIns="0" rIns="0" bIns="0" rtlCol="0" anchor="ctr"/>
          <a:lstStyle/>
          <a:p>
            <a:pPr indent="0" marL="0">
              <a:buNone/>
            </a:pPr>
            <a:r>
              <a:rPr lang="en-US" sz="1000" b="1" dirty="0">
                <a:solidFill>
                  <a:srgbClr val="6FA8FF"/>
                </a:solidFill>
                <a:latin typeface="Malgun Gothic" pitchFamily="34" charset="0"/>
                <a:ea typeface="Malgun Gothic" pitchFamily="34" charset="-122"/>
                <a:cs typeface="Malgun Gothic" pitchFamily="34" charset="-120"/>
              </a:rPr>
              <a:t>Steps / sec</a:t>
            </a:r>
            <a:endParaRPr lang="en-US" sz="1000" dirty="0"/>
          </a:p>
        </p:txBody>
      </p:sp>
      <p:sp>
        <p:nvSpPr>
          <p:cNvPr id="28" name="Text 23"/>
          <p:cNvSpPr txBox="1"/>
          <p:nvPr/>
        </p:nvSpPr>
        <p:spPr>
          <a:xfrm>
            <a:off x="9875520" y="3740541"/>
            <a:ext cx="1609344" cy="329829"/>
          </a:xfrm>
          <a:prstGeom prst="rect">
            <a:avLst/>
          </a:prstGeom>
          <a:noFill/>
          <a:ln/>
        </p:spPr>
        <p:txBody>
          <a:bodyPr wrap="square" lIns="0" tIns="0" rIns="0" bIns="0" rtlCol="0" anchor="ctr"/>
          <a:lstStyle/>
          <a:p>
            <a:pPr indent="0" marL="0">
              <a:buNone/>
            </a:pPr>
            <a:r>
              <a:rPr lang="en-US" sz="1800" b="1" dirty="0">
                <a:solidFill>
                  <a:srgbClr val="9FC3FF"/>
                </a:solidFill>
                <a:latin typeface="Courier New" pitchFamily="34" charset="0"/>
                <a:ea typeface="Courier New" pitchFamily="34" charset="-122"/>
                <a:cs typeface="Courier New" pitchFamily="34" charset="-120"/>
              </a:rPr>
              <a:t>0.349</a:t>
            </a:r>
            <a:endParaRPr lang="en-US" sz="1800" dirty="0"/>
          </a:p>
        </p:txBody>
      </p:sp>
      <p:sp>
        <p:nvSpPr>
          <p:cNvPr id="29" name="Text 24"/>
          <p:cNvSpPr txBox="1"/>
          <p:nvPr/>
        </p:nvSpPr>
        <p:spPr>
          <a:xfrm>
            <a:off x="9875520" y="4050968"/>
            <a:ext cx="1609344" cy="213419"/>
          </a:xfrm>
          <a:prstGeom prst="rect">
            <a:avLst/>
          </a:prstGeom>
          <a:noFill/>
          <a:ln/>
        </p:spPr>
        <p:txBody>
          <a:bodyPr wrap="square" lIns="0" tIns="0" rIns="0" bIns="0" rtlCol="0" anchor="ctr"/>
          <a:lstStyle/>
          <a:p>
            <a:pPr indent="0" marL="0">
              <a:buNone/>
            </a:pPr>
            <a:r>
              <a:rPr lang="en-US" sz="900" dirty="0">
                <a:solidFill>
                  <a:srgbClr val="8FA3C4"/>
                </a:solidFill>
                <a:latin typeface="Malgun Gothic" pitchFamily="34" charset="0"/>
                <a:ea typeface="Malgun Gothic" pitchFamily="34" charset="-122"/>
                <a:cs typeface="Malgun Gothic" pitchFamily="34" charset="-120"/>
              </a:rPr>
              <a:t>LoRA</a:t>
            </a:r>
            <a:endParaRPr lang="en-US" sz="900" dirty="0"/>
          </a:p>
        </p:txBody>
      </p:sp>
      <p:sp>
        <p:nvSpPr>
          <p:cNvPr id="30" name="Text 25"/>
          <p:cNvSpPr txBox="1"/>
          <p:nvPr/>
        </p:nvSpPr>
        <p:spPr>
          <a:xfrm>
            <a:off x="9875520" y="4322592"/>
            <a:ext cx="1609344" cy="329829"/>
          </a:xfrm>
          <a:prstGeom prst="rect">
            <a:avLst/>
          </a:prstGeom>
          <a:noFill/>
          <a:ln/>
        </p:spPr>
        <p:txBody>
          <a:bodyPr wrap="square" lIns="0" tIns="0" rIns="0" bIns="0" rtlCol="0" anchor="ctr"/>
          <a:lstStyle/>
          <a:p>
            <a:pPr indent="0" marL="0">
              <a:buNone/>
            </a:pPr>
            <a:r>
              <a:rPr lang="en-US" sz="1800" b="1" dirty="0">
                <a:solidFill>
                  <a:srgbClr val="F0B96A"/>
                </a:solidFill>
                <a:latin typeface="Courier New" pitchFamily="34" charset="0"/>
                <a:ea typeface="Courier New" pitchFamily="34" charset="-122"/>
                <a:cs typeface="Courier New" pitchFamily="34" charset="-120"/>
              </a:rPr>
              <a:t>0.261</a:t>
            </a:r>
            <a:endParaRPr lang="en-US" sz="1800" dirty="0"/>
          </a:p>
        </p:txBody>
      </p:sp>
      <p:sp>
        <p:nvSpPr>
          <p:cNvPr id="31" name="Text 26"/>
          <p:cNvSpPr txBox="1"/>
          <p:nvPr/>
        </p:nvSpPr>
        <p:spPr>
          <a:xfrm>
            <a:off x="9875520" y="4633019"/>
            <a:ext cx="1609344" cy="213419"/>
          </a:xfrm>
          <a:prstGeom prst="rect">
            <a:avLst/>
          </a:prstGeom>
          <a:noFill/>
          <a:ln/>
        </p:spPr>
        <p:txBody>
          <a:bodyPr wrap="square" lIns="0" tIns="0" rIns="0" bIns="0" rtlCol="0" anchor="ctr"/>
          <a:lstStyle/>
          <a:p>
            <a:pPr indent="0" marL="0">
              <a:buNone/>
            </a:pPr>
            <a:r>
              <a:rPr lang="en-US" sz="900" dirty="0">
                <a:solidFill>
                  <a:srgbClr val="8FA3C4"/>
                </a:solidFill>
                <a:latin typeface="Malgun Gothic" pitchFamily="34" charset="0"/>
                <a:ea typeface="Malgun Gothic" pitchFamily="34" charset="-122"/>
                <a:cs typeface="Malgun Gothic" pitchFamily="34" charset="-120"/>
              </a:rPr>
              <a:t>QLoRA</a:t>
            </a:r>
            <a:endParaRPr lang="en-US" sz="900" dirty="0"/>
          </a:p>
        </p:txBody>
      </p:sp>
      <p:sp>
        <p:nvSpPr>
          <p:cNvPr id="32" name="Text 27"/>
          <p:cNvSpPr txBox="1"/>
          <p:nvPr/>
        </p:nvSpPr>
        <p:spPr>
          <a:xfrm>
            <a:off x="9875520" y="4962847"/>
            <a:ext cx="1609344" cy="892478"/>
          </a:xfrm>
          <a:prstGeom prst="rect">
            <a:avLst/>
          </a:prstGeom>
          <a:noFill/>
          <a:ln/>
        </p:spPr>
        <p:txBody>
          <a:bodyPr wrap="square" lIns="0" tIns="0" rIns="0" bIns="0" rtlCol="0" anchor="ctr"/>
          <a:lstStyle/>
          <a:p>
            <a:pPr indent="0" marL="0">
              <a:lnSpc>
                <a:spcPts val="1200"/>
              </a:lnSpc>
              <a:buNone/>
            </a:pPr>
            <a:r>
              <a:rPr lang="en-US" sz="900" dirty="0">
                <a:solidFill>
                  <a:srgbClr val="9BADCC"/>
                </a:solidFill>
                <a:latin typeface="Malgun Gothic" pitchFamily="34" charset="0"/>
                <a:ea typeface="Malgun Gothic" pitchFamily="34" charset="-122"/>
                <a:cs typeface="Malgun Gothic" pitchFamily="34" charset="-120"/>
              </a:rPr>
              <a:t>학습 중 추가 allocated VRAM은 0.56GB와 0.58GB로 거의 같다. 줄어든 것은 상주하는 Base Weight다.</a:t>
            </a:r>
            <a:endParaRPr lang="en-US" sz="900" dirty="0"/>
          </a:p>
        </p:txBody>
      </p:sp>
      <p:sp>
        <p:nvSpPr>
          <p:cNvPr id="33" name="Text 28"/>
          <p:cNvSpPr txBox="1"/>
          <p:nvPr/>
        </p:nvSpPr>
        <p:spPr>
          <a:xfrm>
            <a:off x="566928" y="6107547"/>
            <a:ext cx="11045952" cy="329829"/>
          </a:xfrm>
          <a:prstGeom prst="rect">
            <a:avLst/>
          </a:prstGeom>
          <a:noFill/>
          <a:ln/>
        </p:spPr>
        <p:txBody>
          <a:bodyPr wrap="square" lIns="0" tIns="0" rIns="0" bIns="0" rtlCol="0" anchor="ctr"/>
          <a:lstStyle/>
          <a:p>
            <a:pPr indent="0" marL="0">
              <a:buNone/>
            </a:pPr>
            <a:r>
              <a:rPr lang="en-US" sz="1200" b="1" dirty="0">
                <a:solidFill>
                  <a:srgbClr val="15203A"/>
                </a:solidFill>
                <a:latin typeface="Malgun Gothic" pitchFamily="34" charset="0"/>
                <a:ea typeface="Malgun Gothic" pitchFamily="34" charset="-122"/>
                <a:cs typeface="Malgun Gothic" pitchFamily="34" charset="-120"/>
              </a:rPr>
              <a:t>QLoRA는 GPU Memory 사용량을 크게 줄였지만, 이 실험 환경에서는 학습 시간이 증가했다. 양자화·역양자화 연산이 매 forward마다 추가되기 때문이다.</a:t>
            </a:r>
            <a:endParaRPr lang="en-US" sz="1200" dirty="0"/>
          </a:p>
        </p:txBody>
      </p:sp>
      <p:sp>
        <p:nvSpPr>
          <p:cNvPr id="34" name="Text 29"/>
          <p:cNvSpPr txBox="1"/>
          <p:nvPr/>
        </p:nvSpPr>
        <p:spPr>
          <a:xfrm>
            <a:off x="11277295" y="6355080"/>
            <a:ext cx="457200" cy="274320"/>
          </a:xfrm>
          <a:prstGeom prst="rect">
            <a:avLst/>
          </a:prstGeom>
          <a:noFill/>
          <a:ln/>
        </p:spPr>
        <p:txBody>
          <a:bodyPr wrap="square" lIns="0" tIns="0" rIns="0" bIns="0" rtlCol="0" anchor="ctr"/>
          <a:lstStyle/>
          <a:p>
            <a:pPr algn="r" indent="0" marL="0">
              <a:buNone/>
            </a:pPr>
            <a:r>
              <a:rPr lang="en-US" sz="1000" dirty="0">
                <a:solidFill>
                  <a:srgbClr val="9AA6BC"/>
                </a:solidFill>
                <a:latin typeface="Malgun Gothic" pitchFamily="34" charset="0"/>
                <a:ea typeface="Malgun Gothic" pitchFamily="34" charset="-122"/>
                <a:cs typeface="Malgun Gothic"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66928" y="384048"/>
            <a:ext cx="1609344" cy="305724"/>
          </a:xfrm>
          <a:prstGeom prst="roundRect">
            <a:avLst>
              <a:gd name="adj" fmla="val 44864"/>
            </a:avLst>
          </a:prstGeom>
          <a:solidFill>
            <a:srgbClr val="E4EDFE"/>
          </a:solidFill>
          <a:ln w="12700">
            <a:solidFill>
              <a:srgbClr val="E4EDFE"/>
            </a:solidFill>
            <a:prstDash val="solid"/>
          </a:ln>
        </p:spPr>
      </p:sp>
      <p:sp>
        <p:nvSpPr>
          <p:cNvPr id="4" name="Text 1"/>
          <p:cNvSpPr txBox="1"/>
          <p:nvPr/>
        </p:nvSpPr>
        <p:spPr>
          <a:xfrm>
            <a:off x="566928" y="384048"/>
            <a:ext cx="1609344" cy="305724"/>
          </a:xfrm>
          <a:prstGeom prst="rect">
            <a:avLst/>
          </a:prstGeom>
          <a:noFill/>
          <a:ln/>
        </p:spPr>
        <p:txBody>
          <a:bodyPr wrap="square" lIns="0" tIns="0" rIns="0" bIns="0" rtlCol="0" anchor="ctr"/>
          <a:lstStyle/>
          <a:p>
            <a:pPr algn="ctr" indent="0" marL="0">
              <a:buNone/>
            </a:pPr>
            <a:r>
              <a:rPr lang="en-US" sz="1050" b="1" spc="60" kern="0" dirty="0">
                <a:solidFill>
                  <a:srgbClr val="1D4ED8"/>
                </a:solidFill>
                <a:latin typeface="Malgun Gothic" pitchFamily="34" charset="0"/>
                <a:ea typeface="Malgun Gothic" pitchFamily="34" charset="-122"/>
                <a:cs typeface="Malgun Gothic" pitchFamily="34" charset="-120"/>
              </a:rPr>
              <a:t>05  VALIDATION</a:t>
            </a:r>
            <a:endParaRPr lang="en-US" sz="1050" dirty="0"/>
          </a:p>
        </p:txBody>
      </p:sp>
      <p:sp>
        <p:nvSpPr>
          <p:cNvPr id="5" name="Text 2"/>
          <p:cNvSpPr txBox="1"/>
          <p:nvPr/>
        </p:nvSpPr>
        <p:spPr>
          <a:xfrm>
            <a:off x="566928" y="750916"/>
            <a:ext cx="11057839" cy="570684"/>
          </a:xfrm>
          <a:prstGeom prst="rect">
            <a:avLst/>
          </a:prstGeom>
          <a:noFill/>
          <a:ln/>
        </p:spPr>
        <p:txBody>
          <a:bodyPr wrap="square" lIns="0" tIns="0" rIns="0" bIns="0" rtlCol="0" anchor="ctr"/>
          <a:lstStyle/>
          <a:p>
            <a:pPr indent="0" marL="0">
              <a:buNone/>
            </a:pPr>
            <a:r>
              <a:rPr lang="en-US" sz="3000" b="1" dirty="0">
                <a:solidFill>
                  <a:srgbClr val="15203A"/>
                </a:solidFill>
                <a:latin typeface="Malgun Gothic" pitchFamily="34" charset="0"/>
                <a:ea typeface="Malgun Gothic" pitchFamily="34" charset="-122"/>
                <a:cs typeface="Malgun Gothic" pitchFamily="34" charset="-120"/>
              </a:rPr>
              <a:t>생성 결과 Before / After</a:t>
            </a:r>
            <a:endParaRPr lang="en-US" sz="3000" dirty="0"/>
          </a:p>
        </p:txBody>
      </p:sp>
      <p:sp>
        <p:nvSpPr>
          <p:cNvPr id="6" name="Text 3"/>
          <p:cNvSpPr txBox="1"/>
          <p:nvPr/>
        </p:nvSpPr>
        <p:spPr>
          <a:xfrm>
            <a:off x="566928" y="1311410"/>
            <a:ext cx="11057839" cy="326105"/>
          </a:xfrm>
          <a:prstGeom prst="rect">
            <a:avLst/>
          </a:prstGeom>
          <a:noFill/>
          <a:ln/>
        </p:spPr>
        <p:txBody>
          <a:bodyPr wrap="square" lIns="0" tIns="0" rIns="0" bIns="0" rtlCol="0" anchor="t"/>
          <a:lstStyle/>
          <a:p>
            <a:pPr indent="0" marL="0">
              <a:buNone/>
            </a:pPr>
            <a:r>
              <a:rPr lang="en-US" sz="1300" dirty="0">
                <a:solidFill>
                  <a:srgbClr val="64748B"/>
                </a:solidFill>
                <a:latin typeface="Malgun Gothic" pitchFamily="34" charset="0"/>
                <a:ea typeface="Malgun Gothic" pitchFamily="34" charset="-122"/>
                <a:cs typeface="Malgun Gothic" pitchFamily="34" charset="-120"/>
              </a:rPr>
              <a:t>테스트 직무: RAG 개발자 — LlamaIndex · Weaviate · cross-encoder reranker</a:t>
            </a:r>
            <a:endParaRPr lang="en-US" sz="1300" dirty="0"/>
          </a:p>
        </p:txBody>
      </p:sp>
      <p:sp>
        <p:nvSpPr>
          <p:cNvPr id="7" name="Shape 4"/>
          <p:cNvSpPr/>
          <p:nvPr/>
        </p:nvSpPr>
        <p:spPr>
          <a:xfrm>
            <a:off x="566928" y="1851521"/>
            <a:ext cx="3584448" cy="3362960"/>
          </a:xfrm>
          <a:prstGeom prst="roundRect">
            <a:avLst>
              <a:gd name="adj" fmla="val 1631"/>
            </a:avLst>
          </a:prstGeom>
          <a:solidFill>
            <a:srgbClr val="FAFBFD"/>
          </a:solidFill>
          <a:ln w="12700">
            <a:solidFill>
              <a:srgbClr val="D8E0EC"/>
            </a:solidFill>
            <a:prstDash val="solid"/>
          </a:ln>
        </p:spPr>
      </p:sp>
      <p:sp>
        <p:nvSpPr>
          <p:cNvPr id="8" name="Text 5"/>
          <p:cNvSpPr txBox="1"/>
          <p:nvPr/>
        </p:nvSpPr>
        <p:spPr>
          <a:xfrm>
            <a:off x="768096" y="1994192"/>
            <a:ext cx="3108960" cy="264960"/>
          </a:xfrm>
          <a:prstGeom prst="rect">
            <a:avLst/>
          </a:prstGeom>
          <a:noFill/>
          <a:ln/>
        </p:spPr>
        <p:txBody>
          <a:bodyPr wrap="square" lIns="0" tIns="0" rIns="0" bIns="0" rtlCol="0" anchor="ctr"/>
          <a:lstStyle/>
          <a:p>
            <a:pPr indent="0" marL="0">
              <a:buNone/>
            </a:pPr>
            <a:r>
              <a:rPr lang="en-US" sz="950" b="1" spc="100" kern="0" dirty="0">
                <a:solidFill>
                  <a:srgbClr val="64748B"/>
                </a:solidFill>
                <a:latin typeface="Malgun Gothic" pitchFamily="34" charset="0"/>
                <a:ea typeface="Malgun Gothic" pitchFamily="34" charset="-122"/>
                <a:cs typeface="Malgun Gothic" pitchFamily="34" charset="-120"/>
              </a:rPr>
              <a:t>BEFORE  ·  Base Model</a:t>
            </a:r>
            <a:endParaRPr lang="en-US" sz="950" dirty="0"/>
          </a:p>
        </p:txBody>
      </p:sp>
      <p:sp>
        <p:nvSpPr>
          <p:cNvPr id="9" name="Text 6"/>
          <p:cNvSpPr txBox="1"/>
          <p:nvPr/>
        </p:nvSpPr>
        <p:spPr>
          <a:xfrm>
            <a:off x="768096" y="2320298"/>
            <a:ext cx="3182112" cy="2140065"/>
          </a:xfrm>
          <a:prstGeom prst="rect">
            <a:avLst/>
          </a:prstGeom>
          <a:noFill/>
          <a:ln/>
        </p:spPr>
        <p:txBody>
          <a:bodyPr wrap="square" lIns="0" tIns="0" rIns="0" bIns="0" rtlCol="0" anchor="ctr"/>
          <a:lstStyle/>
          <a:p>
            <a:pPr indent="0" marL="0">
              <a:lnSpc>
                <a:spcPts val="1400"/>
              </a:lnSpc>
              <a:buNone/>
            </a:pPr>
            <a:r>
              <a:rPr lang="en-US" sz="950" dirty="0">
                <a:solidFill>
                  <a:srgbClr val="5C6780"/>
                </a:solidFill>
                <a:latin typeface="Malgun Gothic" pitchFamily="34" charset="0"/>
                <a:ea typeface="Malgun Gothic" pitchFamily="34" charset="-122"/>
                <a:cs typeface="Malgun Gothic" pitchFamily="34" charset="-120"/>
              </a:rPr>
              <a:t>다음은 RAG(Relevant Article Generation) 개발자가 갖는 … 3가지입니다.</a:t>
            </a:r>
            <a:endParaRPr lang="en-US" sz="950" dirty="0"/>
          </a:p>
          <a:p>
            <a:pPr indent="0" marL="0">
              <a:lnSpc>
                <a:spcPts val="1400"/>
              </a:lnSpc>
              <a:buNone/>
            </a:pPr>
            <a:endParaRPr lang="en-US" sz="950" dirty="0"/>
          </a:p>
          <a:p>
            <a:pPr indent="0" marL="0">
              <a:lnSpc>
                <a:spcPts val="1400"/>
              </a:lnSpc>
              <a:buNone/>
            </a:pPr>
            <a:r>
              <a:rPr lang="en-US" sz="950" dirty="0">
                <a:solidFill>
                  <a:srgbClr val="5C6780"/>
                </a:solidFill>
                <a:latin typeface="Malgun Gothic" pitchFamily="34" charset="0"/>
                <a:ea typeface="Malgun Gothic" pitchFamily="34" charset="-122"/>
                <a:cs typeface="Malgun Gothic" pitchFamily="34" charset="-120"/>
              </a:rPr>
              <a:t>🧠 1. 문서 검색 및 레이어링 기술의 응용 사례</a:t>
            </a:r>
            <a:endParaRPr lang="en-US" sz="950" dirty="0"/>
          </a:p>
          <a:p>
            <a:pPr indent="0" marL="0">
              <a:lnSpc>
                <a:spcPts val="1400"/>
              </a:lnSpc>
              <a:buNone/>
            </a:pPr>
            <a:r>
              <a:rPr lang="en-US" sz="950" dirty="0">
                <a:solidFill>
                  <a:srgbClr val="5C6780"/>
                </a:solidFill>
                <a:latin typeface="Malgun Gothic" pitchFamily="34" charset="0"/>
                <a:ea typeface="Malgun Gothic" pitchFamily="34" charset="-122"/>
                <a:cs typeface="Malgun Gothic" pitchFamily="34" charset="-120"/>
              </a:rPr>
              <a:t>검증 포인트: – 문서 검토 및 관련성 판단 방법 …</a:t>
            </a:r>
            <a:endParaRPr lang="en-US" sz="950" dirty="0"/>
          </a:p>
          <a:p>
            <a:pPr indent="0" marL="0">
              <a:lnSpc>
                <a:spcPts val="1400"/>
              </a:lnSpc>
              <a:buNone/>
            </a:pPr>
            <a:endParaRPr lang="en-US" sz="950" dirty="0"/>
          </a:p>
          <a:p>
            <a:pPr indent="0" marL="0">
              <a:lnSpc>
                <a:spcPts val="1400"/>
              </a:lnSpc>
              <a:buNone/>
            </a:pPr>
            <a:r>
              <a:rPr lang="en-US" sz="950" dirty="0">
                <a:solidFill>
                  <a:srgbClr val="5C6780"/>
                </a:solidFill>
                <a:latin typeface="Malgun Gothic" pitchFamily="34" charset="0"/>
                <a:ea typeface="Malgun Gothic" pitchFamily="34" charset="-122"/>
                <a:cs typeface="Malgun Gothic" pitchFamily="34" charset="-120"/>
              </a:rPr>
              <a:t>#### 예시 대답 참고:</a:t>
            </a:r>
            <a:endParaRPr lang="en-US" sz="950" dirty="0"/>
          </a:p>
          <a:p>
            <a:pPr indent="0" marL="0">
              <a:lnSpc>
                <a:spcPts val="1400"/>
              </a:lnSpc>
              <a:buNone/>
            </a:pPr>
            <a:r>
              <a:rPr lang="en-US" sz="950" dirty="0">
                <a:solidFill>
                  <a:srgbClr val="5C6780"/>
                </a:solidFill>
                <a:latin typeface="Malgun Gothic" pitchFamily="34" charset="0"/>
                <a:ea typeface="Malgun Gothic" pitchFamily="34" charset="-122"/>
                <a:cs typeface="Malgun Gothic" pitchFamily="34" charset="-120"/>
              </a:rPr>
              <a:t>cross-encoding reranker는 원래의 검사 결과를 재정렬하여 …</a:t>
            </a:r>
            <a:endParaRPr lang="en-US" sz="950" dirty="0"/>
          </a:p>
          <a:p>
            <a:pPr indent="0" marL="0">
              <a:lnSpc>
                <a:spcPts val="1400"/>
              </a:lnSpc>
              <a:buNone/>
            </a:pPr>
            <a:endParaRPr lang="en-US" sz="950" dirty="0"/>
          </a:p>
          <a:p>
            <a:pPr indent="0" marL="0">
              <a:lnSpc>
                <a:spcPts val="1400"/>
              </a:lnSpc>
              <a:buNone/>
            </a:pPr>
            <a:r>
              <a:rPr lang="en-US" sz="950" dirty="0">
                <a:solidFill>
                  <a:srgbClr val="5C6780"/>
                </a:solidFill>
                <a:latin typeface="Malgun Gothic" pitchFamily="34" charset="0"/>
                <a:ea typeface="Malgun Gothic" pitchFamily="34" charset="-122"/>
                <a:cs typeface="Malgun Gothic" pitchFamily="34" charset="-120"/>
              </a:rPr>
              <a:t>✅ 요약: 3 가지 심장 기술 면 접 질문  (표 삽입, 문장 미완결로 종료)</a:t>
            </a:r>
            <a:endParaRPr lang="en-US" sz="950" dirty="0"/>
          </a:p>
        </p:txBody>
      </p:sp>
      <p:sp>
        <p:nvSpPr>
          <p:cNvPr id="10" name="Text 7"/>
          <p:cNvSpPr txBox="1"/>
          <p:nvPr/>
        </p:nvSpPr>
        <p:spPr>
          <a:xfrm>
            <a:off x="768096" y="4541889"/>
            <a:ext cx="3182112" cy="193625"/>
          </a:xfrm>
          <a:prstGeom prst="rect">
            <a:avLst/>
          </a:prstGeom>
          <a:noFill/>
          <a:ln/>
        </p:spPr>
        <p:txBody>
          <a:bodyPr wrap="square" lIns="0" tIns="0" rIns="0" bIns="0" rtlCol="0" anchor="ctr"/>
          <a:lstStyle/>
          <a:p>
            <a:pPr indent="0" marL="0">
              <a:buNone/>
            </a:pPr>
            <a:r>
              <a:rPr lang="en-US" sz="950" dirty="0">
                <a:solidFill>
                  <a:srgbClr val="8A3A12"/>
                </a:solidFill>
                <a:latin typeface="Malgun Gothic" pitchFamily="34" charset="0"/>
                <a:ea typeface="Malgun Gothic" pitchFamily="34" charset="-122"/>
                <a:cs typeface="Malgun Gothic" pitchFamily="34" charset="-120"/>
              </a:rPr>
              <a:t>· 장황한 해설·예시답변 포함</a:t>
            </a:r>
            <a:endParaRPr lang="en-US" sz="950" dirty="0"/>
          </a:p>
        </p:txBody>
      </p:sp>
      <p:sp>
        <p:nvSpPr>
          <p:cNvPr id="11" name="Text 8"/>
          <p:cNvSpPr txBox="1"/>
          <p:nvPr/>
        </p:nvSpPr>
        <p:spPr>
          <a:xfrm>
            <a:off x="768096" y="4735514"/>
            <a:ext cx="3182112" cy="193625"/>
          </a:xfrm>
          <a:prstGeom prst="rect">
            <a:avLst/>
          </a:prstGeom>
          <a:noFill/>
          <a:ln/>
        </p:spPr>
        <p:txBody>
          <a:bodyPr wrap="square" lIns="0" tIns="0" rIns="0" bIns="0" rtlCol="0" anchor="ctr"/>
          <a:lstStyle/>
          <a:p>
            <a:pPr indent="0" marL="0">
              <a:buNone/>
            </a:pPr>
            <a:r>
              <a:rPr lang="en-US" sz="950" dirty="0">
                <a:solidFill>
                  <a:srgbClr val="8A3A12"/>
                </a:solidFill>
                <a:latin typeface="Malgun Gothic" pitchFamily="34" charset="0"/>
                <a:ea typeface="Malgun Gothic" pitchFamily="34" charset="-122"/>
                <a:cs typeface="Malgun Gothic" pitchFamily="34" charset="-120"/>
              </a:rPr>
              <a:t>· 언어 혼용 · 오탈자</a:t>
            </a:r>
            <a:endParaRPr lang="en-US" sz="950" dirty="0"/>
          </a:p>
        </p:txBody>
      </p:sp>
      <p:sp>
        <p:nvSpPr>
          <p:cNvPr id="12" name="Text 9"/>
          <p:cNvSpPr txBox="1"/>
          <p:nvPr/>
        </p:nvSpPr>
        <p:spPr>
          <a:xfrm>
            <a:off x="768096" y="4929139"/>
            <a:ext cx="3182112" cy="193625"/>
          </a:xfrm>
          <a:prstGeom prst="rect">
            <a:avLst/>
          </a:prstGeom>
          <a:noFill/>
          <a:ln/>
        </p:spPr>
        <p:txBody>
          <a:bodyPr wrap="square" lIns="0" tIns="0" rIns="0" bIns="0" rtlCol="0" anchor="ctr"/>
          <a:lstStyle/>
          <a:p>
            <a:pPr indent="0" marL="0">
              <a:buNone/>
            </a:pPr>
            <a:r>
              <a:rPr lang="en-US" sz="950" dirty="0">
                <a:solidFill>
                  <a:srgbClr val="8A3A12"/>
                </a:solidFill>
                <a:latin typeface="Malgun Gothic" pitchFamily="34" charset="0"/>
                <a:ea typeface="Malgun Gothic" pitchFamily="34" charset="-122"/>
                <a:cs typeface="Malgun Gothic" pitchFamily="34" charset="-120"/>
              </a:rPr>
              <a:t>· max_new_tokens 내 종료 실패</a:t>
            </a:r>
            <a:endParaRPr lang="en-US" sz="950" dirty="0"/>
          </a:p>
        </p:txBody>
      </p:sp>
      <p:sp>
        <p:nvSpPr>
          <p:cNvPr id="13" name="Shape 10"/>
          <p:cNvSpPr/>
          <p:nvPr/>
        </p:nvSpPr>
        <p:spPr>
          <a:xfrm>
            <a:off x="4407408" y="1851521"/>
            <a:ext cx="3584448" cy="3362960"/>
          </a:xfrm>
          <a:prstGeom prst="roundRect">
            <a:avLst>
              <a:gd name="adj" fmla="val 1631"/>
            </a:avLst>
          </a:prstGeom>
          <a:solidFill>
            <a:srgbClr val="E4EDFE"/>
          </a:solidFill>
          <a:ln w="12700">
            <a:solidFill>
              <a:srgbClr val="C9DCFC"/>
            </a:solidFill>
            <a:prstDash val="solid"/>
          </a:ln>
        </p:spPr>
      </p:sp>
      <p:sp>
        <p:nvSpPr>
          <p:cNvPr id="14" name="Text 11"/>
          <p:cNvSpPr txBox="1"/>
          <p:nvPr/>
        </p:nvSpPr>
        <p:spPr>
          <a:xfrm>
            <a:off x="4608576" y="1994192"/>
            <a:ext cx="3108960" cy="264960"/>
          </a:xfrm>
          <a:prstGeom prst="rect">
            <a:avLst/>
          </a:prstGeom>
          <a:noFill/>
          <a:ln/>
        </p:spPr>
        <p:txBody>
          <a:bodyPr wrap="square" lIns="0" tIns="0" rIns="0" bIns="0" rtlCol="0" anchor="ctr"/>
          <a:lstStyle/>
          <a:p>
            <a:pPr indent="0" marL="0">
              <a:buNone/>
            </a:pPr>
            <a:r>
              <a:rPr lang="en-US" sz="950" b="1" spc="100" kern="0" dirty="0">
                <a:solidFill>
                  <a:srgbClr val="2563EB"/>
                </a:solidFill>
                <a:latin typeface="Malgun Gothic" pitchFamily="34" charset="0"/>
                <a:ea typeface="Malgun Gothic" pitchFamily="34" charset="-122"/>
                <a:cs typeface="Malgun Gothic" pitchFamily="34" charset="-120"/>
              </a:rPr>
              <a:t>AFTER  ·  LoRA</a:t>
            </a:r>
            <a:endParaRPr lang="en-US" sz="950" dirty="0"/>
          </a:p>
        </p:txBody>
      </p:sp>
      <p:sp>
        <p:nvSpPr>
          <p:cNvPr id="15" name="Text 12"/>
          <p:cNvSpPr txBox="1"/>
          <p:nvPr/>
        </p:nvSpPr>
        <p:spPr>
          <a:xfrm>
            <a:off x="4608576" y="2320298"/>
            <a:ext cx="3182112" cy="2140065"/>
          </a:xfrm>
          <a:prstGeom prst="rect">
            <a:avLst/>
          </a:prstGeom>
          <a:noFill/>
          <a:ln/>
        </p:spPr>
        <p:txBody>
          <a:bodyPr wrap="square" lIns="0" tIns="0" rIns="0" bIns="0" rtlCol="0" anchor="ctr"/>
          <a:lstStyle/>
          <a:p>
            <a:pPr indent="0" marL="0">
              <a:lnSpc>
                <a:spcPts val="1600"/>
              </a:lnSpc>
              <a:buNone/>
            </a:pPr>
            <a:r>
              <a:rPr lang="en-US" sz="1050" dirty="0">
                <a:solidFill>
                  <a:srgbClr val="1F2C48"/>
                </a:solidFill>
                <a:latin typeface="Malgun Gothic" pitchFamily="34" charset="0"/>
                <a:ea typeface="Malgun Gothic" pitchFamily="34" charset="-122"/>
                <a:cs typeface="Malgun Gothic" pitchFamily="34" charset="-120"/>
              </a:rPr>
              <a:t>1. Llama Index의 index 파일이 매우 큰 경우 pruning을 어떻게 설계하겠습니까?</a:t>
            </a:r>
            <a:endParaRPr lang="en-US" sz="1050" dirty="0"/>
          </a:p>
          <a:p>
            <a:pPr indent="0" marL="0">
              <a:lnSpc>
                <a:spcPts val="1600"/>
              </a:lnSpc>
              <a:buNone/>
            </a:pPr>
            <a:endParaRPr lang="en-US" sz="1050" dirty="0"/>
          </a:p>
          <a:p>
            <a:pPr indent="0" marL="0">
              <a:lnSpc>
                <a:spcPts val="1600"/>
              </a:lnSpc>
              <a:buNone/>
            </a:pPr>
            <a:r>
              <a:rPr lang="en-US" sz="1050" dirty="0">
                <a:solidFill>
                  <a:srgbClr val="1F2C48"/>
                </a:solidFill>
                <a:latin typeface="Malgun Gothic" pitchFamily="34" charset="0"/>
                <a:ea typeface="Malgun Gothic" pitchFamily="34" charset="-122"/>
                <a:cs typeface="Malgun Gothic" pitchFamily="34" charset="-120"/>
              </a:rPr>
              <a:t>2. Weaviata에서 relevance score 외에 다른 필드를 search에 추가하면 어떤 효과가 있나요?</a:t>
            </a:r>
            <a:endParaRPr lang="en-US" sz="1050" dirty="0"/>
          </a:p>
          <a:p>
            <a:pPr indent="0" marL="0">
              <a:lnSpc>
                <a:spcPts val="1600"/>
              </a:lnSpc>
              <a:buNone/>
            </a:pPr>
            <a:endParaRPr lang="en-US" sz="1050" dirty="0"/>
          </a:p>
          <a:p>
            <a:pPr indent="0" marL="0">
              <a:lnSpc>
                <a:spcPts val="1600"/>
              </a:lnSpc>
              <a:buNone/>
            </a:pPr>
            <a:r>
              <a:rPr lang="en-US" sz="1050" dirty="0">
                <a:solidFill>
                  <a:srgbClr val="1F2C48"/>
                </a:solidFill>
                <a:latin typeface="Malgun Gothic" pitchFamily="34" charset="0"/>
                <a:ea typeface="Malgun Gothic" pitchFamily="34" charset="-122"/>
                <a:cs typeface="Malgun Gothic" pitchFamily="34" charset="-120"/>
              </a:rPr>
              <a:t>3. cross-encode reranker의 penalty를 학습 데이터와 동일한 언어에서만 적용해야 하는 이유는 무엇인가요?</a:t>
            </a:r>
            <a:endParaRPr lang="en-US" sz="1050" dirty="0"/>
          </a:p>
        </p:txBody>
      </p:sp>
      <p:sp>
        <p:nvSpPr>
          <p:cNvPr id="16" name="Text 13"/>
          <p:cNvSpPr txBox="1"/>
          <p:nvPr/>
        </p:nvSpPr>
        <p:spPr>
          <a:xfrm>
            <a:off x="4608576" y="4603034"/>
            <a:ext cx="3182112" cy="468776"/>
          </a:xfrm>
          <a:prstGeom prst="rect">
            <a:avLst/>
          </a:prstGeom>
          <a:noFill/>
          <a:ln/>
        </p:spPr>
        <p:txBody>
          <a:bodyPr wrap="square" lIns="0" tIns="0" rIns="0" bIns="0" rtlCol="0" anchor="ctr"/>
          <a:lstStyle/>
          <a:p>
            <a:pPr indent="0" marL="0">
              <a:lnSpc>
                <a:spcPts val="1300"/>
              </a:lnSpc>
              <a:buNone/>
            </a:pPr>
            <a:r>
              <a:rPr lang="en-US" sz="950" dirty="0">
                <a:solidFill>
                  <a:srgbClr val="3A5285"/>
                </a:solidFill>
                <a:latin typeface="Malgun Gothic" pitchFamily="34" charset="0"/>
                <a:ea typeface="Malgun Gothic" pitchFamily="34" charset="-122"/>
                <a:cs typeface="Malgun Gothic" pitchFamily="34" charset="-120"/>
              </a:rPr>
              <a:t>질문 3개 형식 준수 · 경험 기술 용어 활용 · 고유명사 표기 흔들림(Weaviata) · 3번 질문의 기술적 타당성 불명확</a:t>
            </a:r>
            <a:endParaRPr lang="en-US" sz="950" dirty="0"/>
          </a:p>
        </p:txBody>
      </p:sp>
      <p:sp>
        <p:nvSpPr>
          <p:cNvPr id="17" name="Shape 14"/>
          <p:cNvSpPr/>
          <p:nvPr/>
        </p:nvSpPr>
        <p:spPr>
          <a:xfrm>
            <a:off x="8028432" y="1851521"/>
            <a:ext cx="3584448" cy="3362960"/>
          </a:xfrm>
          <a:prstGeom prst="roundRect">
            <a:avLst>
              <a:gd name="adj" fmla="val 1631"/>
            </a:avLst>
          </a:prstGeom>
          <a:solidFill>
            <a:srgbClr val="FAEEDD"/>
          </a:solidFill>
          <a:ln w="12700">
            <a:solidFill>
              <a:srgbClr val="EED9B9"/>
            </a:solidFill>
            <a:prstDash val="solid"/>
          </a:ln>
        </p:spPr>
      </p:sp>
      <p:sp>
        <p:nvSpPr>
          <p:cNvPr id="18" name="Text 15"/>
          <p:cNvSpPr txBox="1"/>
          <p:nvPr/>
        </p:nvSpPr>
        <p:spPr>
          <a:xfrm>
            <a:off x="8229600" y="1994192"/>
            <a:ext cx="3108960" cy="264960"/>
          </a:xfrm>
          <a:prstGeom prst="rect">
            <a:avLst/>
          </a:prstGeom>
          <a:noFill/>
          <a:ln/>
        </p:spPr>
        <p:txBody>
          <a:bodyPr wrap="square" lIns="0" tIns="0" rIns="0" bIns="0" rtlCol="0" anchor="ctr"/>
          <a:lstStyle/>
          <a:p>
            <a:pPr indent="0" marL="0">
              <a:buNone/>
            </a:pPr>
            <a:r>
              <a:rPr lang="en-US" sz="950" b="1" spc="100" kern="0" dirty="0">
                <a:solidFill>
                  <a:srgbClr val="C2690B"/>
                </a:solidFill>
                <a:latin typeface="Malgun Gothic" pitchFamily="34" charset="0"/>
                <a:ea typeface="Malgun Gothic" pitchFamily="34" charset="-122"/>
                <a:cs typeface="Malgun Gothic" pitchFamily="34" charset="-120"/>
              </a:rPr>
              <a:t>AFTER  ·  QLoRA</a:t>
            </a:r>
            <a:endParaRPr lang="en-US" sz="950" dirty="0"/>
          </a:p>
        </p:txBody>
      </p:sp>
      <p:sp>
        <p:nvSpPr>
          <p:cNvPr id="19" name="Text 16"/>
          <p:cNvSpPr txBox="1"/>
          <p:nvPr/>
        </p:nvSpPr>
        <p:spPr>
          <a:xfrm>
            <a:off x="8229600" y="2320298"/>
            <a:ext cx="3182112" cy="2140065"/>
          </a:xfrm>
          <a:prstGeom prst="rect">
            <a:avLst/>
          </a:prstGeom>
          <a:noFill/>
          <a:ln/>
        </p:spPr>
        <p:txBody>
          <a:bodyPr wrap="square" lIns="0" tIns="0" rIns="0" bIns="0" rtlCol="0" anchor="ctr"/>
          <a:lstStyle/>
          <a:p>
            <a:pPr indent="0" marL="0">
              <a:lnSpc>
                <a:spcPts val="1600"/>
              </a:lnSpc>
              <a:buNone/>
            </a:pPr>
            <a:r>
              <a:rPr lang="en-US" sz="1050" dirty="0">
                <a:solidFill>
                  <a:srgbClr val="3A2E1B"/>
                </a:solidFill>
                <a:latin typeface="Malgun Gothic" pitchFamily="34" charset="0"/>
                <a:ea typeface="Malgun Gothic" pitchFamily="34" charset="-122"/>
                <a:cs typeface="Malgun Gothic" pitchFamily="34" charset="-120"/>
              </a:rPr>
              <a:t>1. exact search와 fuzzy search이 각각 어떤 용도에 적합한가요?</a:t>
            </a:r>
            <a:endParaRPr lang="en-US" sz="1050" dirty="0"/>
          </a:p>
          <a:p>
            <a:pPr indent="0" marL="0">
              <a:lnSpc>
                <a:spcPts val="1600"/>
              </a:lnSpc>
              <a:buNone/>
            </a:pPr>
            <a:endParaRPr lang="en-US" sz="1050" dirty="0"/>
          </a:p>
          <a:p>
            <a:pPr indent="0" marL="0">
              <a:lnSpc>
                <a:spcPts val="1600"/>
              </a:lnSpc>
              <a:buNone/>
            </a:pPr>
            <a:r>
              <a:rPr lang="en-US" sz="1050" dirty="0">
                <a:solidFill>
                  <a:srgbClr val="3A2E1B"/>
                </a:solidFill>
                <a:latin typeface="Malgun Gothic" pitchFamily="34" charset="0"/>
                <a:ea typeface="Malgun Gothic" pitchFamily="34" charset="-122"/>
                <a:cs typeface="Malgun Gothic" pitchFamily="34" charset="-120"/>
              </a:rPr>
              <a:t>2. Vector similarity를 높이기 위해 어떤 하이퍼파라미터를 조정하겠습니까?</a:t>
            </a:r>
            <a:endParaRPr lang="en-US" sz="1050" dirty="0"/>
          </a:p>
          <a:p>
            <a:pPr indent="0" marL="0">
              <a:lnSpc>
                <a:spcPts val="1600"/>
              </a:lnSpc>
              <a:buNone/>
            </a:pPr>
            <a:endParaRPr lang="en-US" sz="1050" dirty="0"/>
          </a:p>
          <a:p>
            <a:pPr indent="0" marL="0">
              <a:lnSpc>
                <a:spcPts val="1600"/>
              </a:lnSpc>
              <a:buNone/>
            </a:pPr>
            <a:r>
              <a:rPr lang="en-US" sz="1050" dirty="0">
                <a:solidFill>
                  <a:srgbClr val="3A2E1B"/>
                </a:solidFill>
                <a:latin typeface="Malgun Gothic" pitchFamily="34" charset="0"/>
                <a:ea typeface="Malgun Gothic" pitchFamily="34" charset="-122"/>
                <a:cs typeface="Malgun Gothic" pitchFamily="34" charset="-120"/>
              </a:rPr>
              <a:t>3. reranker의 CANDIDATE 수를 너무 크게하면 어떤 문제가 생길 수 있나요?</a:t>
            </a:r>
            <a:endParaRPr lang="en-US" sz="1050" dirty="0"/>
          </a:p>
        </p:txBody>
      </p:sp>
      <p:sp>
        <p:nvSpPr>
          <p:cNvPr id="20" name="Text 17"/>
          <p:cNvSpPr txBox="1"/>
          <p:nvPr/>
        </p:nvSpPr>
        <p:spPr>
          <a:xfrm>
            <a:off x="8229600" y="4603034"/>
            <a:ext cx="3182112" cy="468776"/>
          </a:xfrm>
          <a:prstGeom prst="rect">
            <a:avLst/>
          </a:prstGeom>
          <a:noFill/>
          <a:ln/>
        </p:spPr>
        <p:txBody>
          <a:bodyPr wrap="square" lIns="0" tIns="0" rIns="0" bIns="0" rtlCol="0" anchor="ctr"/>
          <a:lstStyle/>
          <a:p>
            <a:pPr indent="0" marL="0">
              <a:lnSpc>
                <a:spcPts val="1300"/>
              </a:lnSpc>
              <a:buNone/>
            </a:pPr>
            <a:r>
              <a:rPr lang="en-US" sz="950" dirty="0">
                <a:solidFill>
                  <a:srgbClr val="6B5636"/>
                </a:solidFill>
                <a:latin typeface="Malgun Gothic" pitchFamily="34" charset="0"/>
                <a:ea typeface="Malgun Gothic" pitchFamily="34" charset="-122"/>
                <a:cs typeface="Malgun Gothic" pitchFamily="34" charset="-120"/>
              </a:rPr>
              <a:t>질문 3개 형식 준수 · 간결성 확보 · 1·2번은 LlamaIndex/Weaviate 고유 맥락이 약해 일반 검색 질문에 가까움</a:t>
            </a:r>
            <a:endParaRPr lang="en-US" sz="950" dirty="0"/>
          </a:p>
        </p:txBody>
      </p:sp>
      <p:sp>
        <p:nvSpPr>
          <p:cNvPr id="21" name="Shape 18"/>
          <p:cNvSpPr/>
          <p:nvPr/>
        </p:nvSpPr>
        <p:spPr>
          <a:xfrm>
            <a:off x="566928" y="5397916"/>
            <a:ext cx="7205472" cy="1039460"/>
          </a:xfrm>
          <a:prstGeom prst="roundRect">
            <a:avLst>
              <a:gd name="adj" fmla="val 5278"/>
            </a:avLst>
          </a:prstGeom>
          <a:solidFill>
            <a:srgbClr val="F2F5FA"/>
          </a:solidFill>
          <a:ln w="12700">
            <a:solidFill>
              <a:srgbClr val="F2F5FA"/>
            </a:solidFill>
            <a:prstDash val="solid"/>
          </a:ln>
        </p:spPr>
      </p:sp>
      <p:sp>
        <p:nvSpPr>
          <p:cNvPr id="22" name="Text 19"/>
          <p:cNvSpPr txBox="1"/>
          <p:nvPr/>
        </p:nvSpPr>
        <p:spPr>
          <a:xfrm>
            <a:off x="768096" y="5520205"/>
            <a:ext cx="1280160" cy="264960"/>
          </a:xfrm>
          <a:prstGeom prst="rect">
            <a:avLst/>
          </a:prstGeom>
          <a:noFill/>
          <a:ln/>
        </p:spPr>
        <p:txBody>
          <a:bodyPr wrap="square" lIns="0" tIns="0" rIns="0" bIns="0" rtlCol="0" anchor="ctr"/>
          <a:lstStyle/>
          <a:p>
            <a:pPr indent="0" marL="0">
              <a:buNone/>
            </a:pPr>
            <a:r>
              <a:rPr lang="en-US" sz="1050" b="1" dirty="0">
                <a:solidFill>
                  <a:srgbClr val="1B7A5A"/>
                </a:solidFill>
                <a:latin typeface="Malgun Gothic" pitchFamily="34" charset="0"/>
                <a:ea typeface="Malgun Gothic" pitchFamily="34" charset="-122"/>
                <a:cs typeface="Malgun Gothic" pitchFamily="34" charset="-120"/>
              </a:rPr>
              <a:t>개선된 것</a:t>
            </a:r>
            <a:endParaRPr lang="en-US" sz="1050" dirty="0"/>
          </a:p>
        </p:txBody>
      </p:sp>
      <p:sp>
        <p:nvSpPr>
          <p:cNvPr id="23" name="Text 20"/>
          <p:cNvSpPr txBox="1"/>
          <p:nvPr/>
        </p:nvSpPr>
        <p:spPr>
          <a:xfrm>
            <a:off x="1938528" y="5520205"/>
            <a:ext cx="5577840" cy="264960"/>
          </a:xfrm>
          <a:prstGeom prst="rect">
            <a:avLst/>
          </a:prstGeom>
          <a:noFill/>
          <a:ln/>
        </p:spPr>
        <p:txBody>
          <a:bodyPr wrap="square" lIns="0" tIns="0" rIns="0" bIns="0" rtlCol="0" anchor="ctr"/>
          <a:lstStyle/>
          <a:p>
            <a:pPr indent="0" marL="0">
              <a:buNone/>
            </a:pPr>
            <a:r>
              <a:rPr lang="en-US" sz="1050" dirty="0">
                <a:solidFill>
                  <a:srgbClr val="45516D"/>
                </a:solidFill>
                <a:latin typeface="Malgun Gothic" pitchFamily="34" charset="0"/>
                <a:ea typeface="Malgun Gothic" pitchFamily="34" charset="-122"/>
                <a:cs typeface="Malgun Gothic" pitchFamily="34" charset="-120"/>
              </a:rPr>
              <a:t>출력 형식 · 간결성 · EOS 기반 정상 종료 · 경험 기술 용어 사용 경향</a:t>
            </a:r>
            <a:endParaRPr lang="en-US" sz="1050" dirty="0"/>
          </a:p>
        </p:txBody>
      </p:sp>
      <p:sp>
        <p:nvSpPr>
          <p:cNvPr id="24" name="Text 21"/>
          <p:cNvSpPr txBox="1"/>
          <p:nvPr/>
        </p:nvSpPr>
        <p:spPr>
          <a:xfrm>
            <a:off x="768096" y="5887073"/>
            <a:ext cx="1280160" cy="264960"/>
          </a:xfrm>
          <a:prstGeom prst="rect">
            <a:avLst/>
          </a:prstGeom>
          <a:noFill/>
          <a:ln/>
        </p:spPr>
        <p:txBody>
          <a:bodyPr wrap="square" lIns="0" tIns="0" rIns="0" bIns="0" rtlCol="0" anchor="ctr"/>
          <a:lstStyle/>
          <a:p>
            <a:pPr indent="0" marL="0">
              <a:buNone/>
            </a:pPr>
            <a:r>
              <a:rPr lang="en-US" sz="1050" b="1" dirty="0">
                <a:solidFill>
                  <a:srgbClr val="8A3A12"/>
                </a:solidFill>
                <a:latin typeface="Malgun Gothic" pitchFamily="34" charset="0"/>
                <a:ea typeface="Malgun Gothic" pitchFamily="34" charset="-122"/>
                <a:cs typeface="Malgun Gothic" pitchFamily="34" charset="-120"/>
              </a:rPr>
              <a:t>남은 문제</a:t>
            </a:r>
            <a:endParaRPr lang="en-US" sz="1050" dirty="0"/>
          </a:p>
        </p:txBody>
      </p:sp>
      <p:sp>
        <p:nvSpPr>
          <p:cNvPr id="25" name="Text 22"/>
          <p:cNvSpPr txBox="1"/>
          <p:nvPr/>
        </p:nvSpPr>
        <p:spPr>
          <a:xfrm>
            <a:off x="1938528" y="5887073"/>
            <a:ext cx="5577840" cy="264960"/>
          </a:xfrm>
          <a:prstGeom prst="rect">
            <a:avLst/>
          </a:prstGeom>
          <a:noFill/>
          <a:ln/>
        </p:spPr>
        <p:txBody>
          <a:bodyPr wrap="square" lIns="0" tIns="0" rIns="0" bIns="0" rtlCol="0" anchor="ctr"/>
          <a:lstStyle/>
          <a:p>
            <a:pPr indent="0" marL="0">
              <a:buNone/>
            </a:pPr>
            <a:r>
              <a:rPr lang="en-US" sz="1050" dirty="0">
                <a:solidFill>
                  <a:srgbClr val="45516D"/>
                </a:solidFill>
                <a:latin typeface="Malgun Gothic" pitchFamily="34" charset="0"/>
                <a:ea typeface="Malgun Gothic" pitchFamily="34" charset="-122"/>
                <a:cs typeface="Malgun Gothic" pitchFamily="34" charset="-120"/>
              </a:rPr>
              <a:t>무관 기술 유입(Spark Streaming 등) · 기술적으로 어색한 질문 · 학습 질문 패턴의 과도한 모방</a:t>
            </a:r>
            <a:endParaRPr lang="en-US" sz="1050" dirty="0"/>
          </a:p>
        </p:txBody>
      </p:sp>
      <p:sp>
        <p:nvSpPr>
          <p:cNvPr id="26" name="Shape 23"/>
          <p:cNvSpPr/>
          <p:nvPr/>
        </p:nvSpPr>
        <p:spPr>
          <a:xfrm>
            <a:off x="8028432" y="5397916"/>
            <a:ext cx="3584448" cy="1039460"/>
          </a:xfrm>
          <a:prstGeom prst="roundRect">
            <a:avLst>
              <a:gd name="adj" fmla="val 5278"/>
            </a:avLst>
          </a:prstGeom>
          <a:solidFill>
            <a:srgbClr val="0E1A33"/>
          </a:solidFill>
          <a:ln w="12700">
            <a:solidFill>
              <a:srgbClr val="0E1A33"/>
            </a:solidFill>
            <a:prstDash val="solid"/>
          </a:ln>
        </p:spPr>
      </p:sp>
      <p:sp>
        <p:nvSpPr>
          <p:cNvPr id="27" name="Text 24"/>
          <p:cNvSpPr txBox="1"/>
          <p:nvPr/>
        </p:nvSpPr>
        <p:spPr>
          <a:xfrm>
            <a:off x="8229600" y="5499824"/>
            <a:ext cx="3182112" cy="856026"/>
          </a:xfrm>
          <a:prstGeom prst="rect">
            <a:avLst/>
          </a:prstGeom>
          <a:noFill/>
          <a:ln/>
        </p:spPr>
        <p:txBody>
          <a:bodyPr wrap="square" lIns="0" tIns="0" rIns="0" bIns="0" rtlCol="0" anchor="ctr"/>
          <a:lstStyle/>
          <a:p>
            <a:pPr indent="0" marL="0">
              <a:lnSpc>
                <a:spcPts val="1500"/>
              </a:lnSpc>
              <a:buNone/>
            </a:pPr>
            <a:r>
              <a:rPr lang="en-US" sz="1000" dirty="0">
                <a:solidFill>
                  <a:srgbClr val="B7C6E0"/>
                </a:solidFill>
                <a:latin typeface="Malgun Gothic" pitchFamily="34" charset="0"/>
                <a:ea typeface="Malgun Gothic" pitchFamily="34" charset="-122"/>
                <a:cs typeface="Malgun Gothic" pitchFamily="34" charset="-120"/>
              </a:rPr>
              <a:t>Fine-Tuning으로 출력 형식과 간결성은 개선되었으나, 기술적 정확성과 경험 정합성은 추가 검증이 필요하다. 단일 사례로 LoRA와 QLoRA의 품질 우열을 단정하지 않는다.</a:t>
            </a:r>
            <a:endParaRPr lang="en-US" sz="1000" dirty="0"/>
          </a:p>
        </p:txBody>
      </p:sp>
      <p:sp>
        <p:nvSpPr>
          <p:cNvPr id="28" name="Text 25"/>
          <p:cNvSpPr txBox="1"/>
          <p:nvPr/>
        </p:nvSpPr>
        <p:spPr>
          <a:xfrm>
            <a:off x="11277295" y="6355080"/>
            <a:ext cx="457200" cy="274320"/>
          </a:xfrm>
          <a:prstGeom prst="rect">
            <a:avLst/>
          </a:prstGeom>
          <a:noFill/>
          <a:ln/>
        </p:spPr>
        <p:txBody>
          <a:bodyPr wrap="square" lIns="0" tIns="0" rIns="0" bIns="0" rtlCol="0" anchor="ctr"/>
          <a:lstStyle/>
          <a:p>
            <a:pPr algn="r" indent="0" marL="0">
              <a:buNone/>
            </a:pPr>
            <a:r>
              <a:rPr lang="en-US" sz="1000" dirty="0">
                <a:solidFill>
                  <a:srgbClr val="9AA6BC"/>
                </a:solidFill>
                <a:latin typeface="Malgun Gothic" pitchFamily="34" charset="0"/>
                <a:ea typeface="Malgun Gothic" pitchFamily="34" charset="-122"/>
                <a:cs typeface="Malgun Gothic"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566928" y="384048"/>
            <a:ext cx="1700784" cy="292903"/>
          </a:xfrm>
          <a:prstGeom prst="roundRect">
            <a:avLst>
              <a:gd name="adj" fmla="val 46828"/>
            </a:avLst>
          </a:prstGeom>
          <a:solidFill>
            <a:srgbClr val="FAEEDD"/>
          </a:solidFill>
          <a:ln w="12700">
            <a:solidFill>
              <a:srgbClr val="FAEEDD"/>
            </a:solidFill>
            <a:prstDash val="solid"/>
          </a:ln>
        </p:spPr>
      </p:sp>
      <p:sp>
        <p:nvSpPr>
          <p:cNvPr id="4" name="Text 1"/>
          <p:cNvSpPr txBox="1"/>
          <p:nvPr/>
        </p:nvSpPr>
        <p:spPr>
          <a:xfrm>
            <a:off x="566928" y="384048"/>
            <a:ext cx="1700784" cy="292903"/>
          </a:xfrm>
          <a:prstGeom prst="rect">
            <a:avLst/>
          </a:prstGeom>
          <a:noFill/>
          <a:ln/>
        </p:spPr>
        <p:txBody>
          <a:bodyPr wrap="square" lIns="0" tIns="0" rIns="0" bIns="0" rtlCol="0" anchor="ctr"/>
          <a:lstStyle/>
          <a:p>
            <a:pPr algn="ctr" indent="0" marL="0">
              <a:buNone/>
            </a:pPr>
            <a:r>
              <a:rPr lang="en-US" sz="1050" b="1" spc="60" kern="0" dirty="0">
                <a:solidFill>
                  <a:srgbClr val="8A3A12"/>
                </a:solidFill>
                <a:latin typeface="Malgun Gothic" pitchFamily="34" charset="0"/>
                <a:ea typeface="Malgun Gothic" pitchFamily="34" charset="-122"/>
                <a:cs typeface="Malgun Gothic" pitchFamily="34" charset="-120"/>
              </a:rPr>
              <a:t>06  IMPROVEMENT</a:t>
            </a:r>
            <a:endParaRPr lang="en-US" sz="1050" dirty="0"/>
          </a:p>
        </p:txBody>
      </p:sp>
      <p:sp>
        <p:nvSpPr>
          <p:cNvPr id="5" name="Text 2"/>
          <p:cNvSpPr txBox="1"/>
          <p:nvPr/>
        </p:nvSpPr>
        <p:spPr>
          <a:xfrm>
            <a:off x="566928" y="735532"/>
            <a:ext cx="11057839" cy="546752"/>
          </a:xfrm>
          <a:prstGeom prst="rect">
            <a:avLst/>
          </a:prstGeom>
          <a:noFill/>
          <a:ln/>
        </p:spPr>
        <p:txBody>
          <a:bodyPr wrap="square" lIns="0" tIns="0" rIns="0" bIns="0" rtlCol="0" anchor="ctr"/>
          <a:lstStyle/>
          <a:p>
            <a:pPr indent="0" marL="0">
              <a:buNone/>
            </a:pPr>
            <a:r>
              <a:rPr lang="en-US" sz="3000" b="1" dirty="0">
                <a:solidFill>
                  <a:srgbClr val="15203A"/>
                </a:solidFill>
                <a:latin typeface="Malgun Gothic" pitchFamily="34" charset="0"/>
                <a:ea typeface="Malgun Gothic" pitchFamily="34" charset="-122"/>
                <a:cs typeface="Malgun Gothic" pitchFamily="34" charset="-120"/>
              </a:rPr>
              <a:t>한계와 개선 방향</a:t>
            </a:r>
            <a:endParaRPr lang="en-US" sz="3000" dirty="0"/>
          </a:p>
        </p:txBody>
      </p:sp>
      <p:sp>
        <p:nvSpPr>
          <p:cNvPr id="6" name="Text 3"/>
          <p:cNvSpPr txBox="1"/>
          <p:nvPr/>
        </p:nvSpPr>
        <p:spPr>
          <a:xfrm>
            <a:off x="566928" y="1272520"/>
            <a:ext cx="11057839" cy="312430"/>
          </a:xfrm>
          <a:prstGeom prst="rect">
            <a:avLst/>
          </a:prstGeom>
          <a:noFill/>
          <a:ln/>
        </p:spPr>
        <p:txBody>
          <a:bodyPr wrap="square" lIns="0" tIns="0" rIns="0" bIns="0" rtlCol="0" anchor="t"/>
          <a:lstStyle/>
          <a:p>
            <a:pPr indent="0" marL="0">
              <a:buNone/>
            </a:pPr>
            <a:r>
              <a:rPr lang="en-US" sz="1300" dirty="0">
                <a:solidFill>
                  <a:srgbClr val="64748B"/>
                </a:solidFill>
                <a:latin typeface="Malgun Gothic" pitchFamily="34" charset="0"/>
                <a:ea typeface="Malgun Gothic" pitchFamily="34" charset="-122"/>
                <a:cs typeface="Malgun Gothic" pitchFamily="34" charset="-120"/>
              </a:rPr>
              <a:t>현재 실험이 답하지 못하는 질문부터 정리한다</a:t>
            </a:r>
            <a:endParaRPr lang="en-US" sz="1300" dirty="0"/>
          </a:p>
        </p:txBody>
      </p:sp>
      <p:sp>
        <p:nvSpPr>
          <p:cNvPr id="7" name="Shape 4"/>
          <p:cNvSpPr/>
          <p:nvPr/>
        </p:nvSpPr>
        <p:spPr>
          <a:xfrm>
            <a:off x="566928" y="1789982"/>
            <a:ext cx="2651760" cy="3104771"/>
          </a:xfrm>
          <a:prstGeom prst="roundRect">
            <a:avLst>
              <a:gd name="adj" fmla="val 2069"/>
            </a:avLst>
          </a:prstGeom>
          <a:solidFill>
            <a:srgbClr val="FAFBFD"/>
          </a:solidFill>
          <a:ln w="12700">
            <a:solidFill>
              <a:srgbClr val="D8E0EC"/>
            </a:solidFill>
            <a:prstDash val="solid"/>
          </a:ln>
        </p:spPr>
      </p:sp>
      <p:sp>
        <p:nvSpPr>
          <p:cNvPr id="8" name="Shape 5"/>
          <p:cNvSpPr/>
          <p:nvPr/>
        </p:nvSpPr>
        <p:spPr>
          <a:xfrm>
            <a:off x="749808" y="1946197"/>
            <a:ext cx="384048" cy="273376"/>
          </a:xfrm>
          <a:prstGeom prst="roundRect">
            <a:avLst>
              <a:gd name="adj" fmla="val 43483"/>
            </a:avLst>
          </a:prstGeom>
          <a:solidFill>
            <a:srgbClr val="E4EDFE"/>
          </a:solidFill>
          <a:ln w="12700">
            <a:solidFill>
              <a:srgbClr val="E4EDFE"/>
            </a:solidFill>
            <a:prstDash val="solid"/>
          </a:ln>
        </p:spPr>
      </p:sp>
      <p:sp>
        <p:nvSpPr>
          <p:cNvPr id="9" name="Text 6"/>
          <p:cNvSpPr txBox="1"/>
          <p:nvPr/>
        </p:nvSpPr>
        <p:spPr>
          <a:xfrm>
            <a:off x="749808" y="1946197"/>
            <a:ext cx="384048" cy="273376"/>
          </a:xfrm>
          <a:prstGeom prst="rect">
            <a:avLst/>
          </a:prstGeom>
          <a:noFill/>
          <a:ln/>
        </p:spPr>
        <p:txBody>
          <a:bodyPr wrap="square" lIns="0" tIns="0" rIns="0" bIns="0" rtlCol="0" anchor="ctr"/>
          <a:lstStyle/>
          <a:p>
            <a:pPr algn="ctr" indent="0" marL="0">
              <a:buNone/>
            </a:pPr>
            <a:r>
              <a:rPr lang="en-US" sz="950" b="1" dirty="0">
                <a:solidFill>
                  <a:srgbClr val="2563EB"/>
                </a:solidFill>
                <a:latin typeface="Malgun Gothic" pitchFamily="34" charset="0"/>
                <a:ea typeface="Malgun Gothic" pitchFamily="34" charset="-122"/>
                <a:cs typeface="Malgun Gothic" pitchFamily="34" charset="-120"/>
              </a:rPr>
              <a:t>01</a:t>
            </a:r>
            <a:endParaRPr lang="en-US" sz="950" dirty="0"/>
          </a:p>
        </p:txBody>
      </p:sp>
      <p:sp>
        <p:nvSpPr>
          <p:cNvPr id="10" name="Text 7"/>
          <p:cNvSpPr txBox="1"/>
          <p:nvPr/>
        </p:nvSpPr>
        <p:spPr>
          <a:xfrm>
            <a:off x="749808" y="2297681"/>
            <a:ext cx="2286000" cy="331957"/>
          </a:xfrm>
          <a:prstGeom prst="rect">
            <a:avLst/>
          </a:prstGeom>
          <a:noFill/>
          <a:ln/>
        </p:spPr>
        <p:txBody>
          <a:bodyPr wrap="square" lIns="0" tIns="0" rIns="0" bIns="0" rtlCol="0" anchor="ctr"/>
          <a:lstStyle/>
          <a:p>
            <a:pPr indent="0" marL="0">
              <a:buNone/>
            </a:pPr>
            <a:r>
              <a:rPr lang="en-US" sz="1250" b="1" dirty="0">
                <a:solidFill>
                  <a:srgbClr val="15203A"/>
                </a:solidFill>
                <a:latin typeface="Malgun Gothic" pitchFamily="34" charset="0"/>
                <a:ea typeface="Malgun Gothic" pitchFamily="34" charset="-122"/>
                <a:cs typeface="Malgun Gothic" pitchFamily="34" charset="-120"/>
              </a:rPr>
              <a:t>Dataset Size</a:t>
            </a:r>
            <a:endParaRPr lang="en-US" sz="1250" dirty="0"/>
          </a:p>
        </p:txBody>
      </p:sp>
      <p:sp>
        <p:nvSpPr>
          <p:cNvPr id="11" name="Text 8"/>
          <p:cNvSpPr txBox="1"/>
          <p:nvPr/>
        </p:nvSpPr>
        <p:spPr>
          <a:xfrm>
            <a:off x="749808" y="2668691"/>
            <a:ext cx="457200" cy="214796"/>
          </a:xfrm>
          <a:prstGeom prst="rect">
            <a:avLst/>
          </a:prstGeom>
          <a:noFill/>
          <a:ln/>
        </p:spPr>
        <p:txBody>
          <a:bodyPr wrap="square" lIns="0" tIns="0" rIns="0" bIns="0" rtlCol="0" anchor="ctr"/>
          <a:lstStyle/>
          <a:p>
            <a:pPr indent="0" marL="0">
              <a:buNone/>
            </a:pPr>
            <a:r>
              <a:rPr lang="en-US" sz="900" b="1" dirty="0">
                <a:solidFill>
                  <a:srgbClr val="8A3A12"/>
                </a:solidFill>
                <a:latin typeface="Malgun Gothic" pitchFamily="34" charset="0"/>
                <a:ea typeface="Malgun Gothic" pitchFamily="34" charset="-122"/>
                <a:cs typeface="Malgun Gothic" pitchFamily="34" charset="-120"/>
              </a:rPr>
              <a:t>현재</a:t>
            </a:r>
            <a:endParaRPr lang="en-US" sz="900" dirty="0"/>
          </a:p>
        </p:txBody>
      </p:sp>
      <p:sp>
        <p:nvSpPr>
          <p:cNvPr id="12" name="Text 9"/>
          <p:cNvSpPr txBox="1"/>
          <p:nvPr/>
        </p:nvSpPr>
        <p:spPr>
          <a:xfrm>
            <a:off x="749808" y="2863960"/>
            <a:ext cx="2286000" cy="449118"/>
          </a:xfrm>
          <a:prstGeom prst="rect">
            <a:avLst/>
          </a:prstGeom>
          <a:noFill/>
          <a:ln/>
        </p:spPr>
        <p:txBody>
          <a:bodyPr wrap="square" lIns="0" tIns="0" rIns="0" bIns="0" rtlCol="0" anchor="ctr"/>
          <a:lstStyle/>
          <a:p>
            <a:pPr indent="0" marL="0">
              <a:lnSpc>
                <a:spcPts val="1300"/>
              </a:lnSpc>
              <a:buNone/>
            </a:pPr>
            <a:r>
              <a:rPr lang="en-US" sz="950" dirty="0">
                <a:solidFill>
                  <a:srgbClr val="5C6780"/>
                </a:solidFill>
                <a:latin typeface="Malgun Gothic" pitchFamily="34" charset="0"/>
                <a:ea typeface="Malgun Gothic" pitchFamily="34" charset="-122"/>
                <a:cs typeface="Malgun Gothic" pitchFamily="34" charset="-120"/>
              </a:rPr>
              <a:t>31 samples · 특정 패턴 암기 가능성</a:t>
            </a:r>
            <a:endParaRPr lang="en-US" sz="950" dirty="0"/>
          </a:p>
        </p:txBody>
      </p:sp>
      <p:sp>
        <p:nvSpPr>
          <p:cNvPr id="13" name="Text 10"/>
          <p:cNvSpPr txBox="1"/>
          <p:nvPr/>
        </p:nvSpPr>
        <p:spPr>
          <a:xfrm>
            <a:off x="749808" y="3371658"/>
            <a:ext cx="457200" cy="214796"/>
          </a:xfrm>
          <a:prstGeom prst="rect">
            <a:avLst/>
          </a:prstGeom>
          <a:noFill/>
          <a:ln/>
        </p:spPr>
        <p:txBody>
          <a:bodyPr wrap="square" lIns="0" tIns="0" rIns="0" bIns="0" rtlCol="0" anchor="ctr"/>
          <a:lstStyle/>
          <a:p>
            <a:pPr indent="0" marL="0">
              <a:buNone/>
            </a:pPr>
            <a:r>
              <a:rPr lang="en-US" sz="900" b="1" dirty="0">
                <a:solidFill>
                  <a:srgbClr val="2563EB"/>
                </a:solidFill>
                <a:latin typeface="Malgun Gothic" pitchFamily="34" charset="0"/>
                <a:ea typeface="Malgun Gothic" pitchFamily="34" charset="-122"/>
                <a:cs typeface="Malgun Gothic" pitchFamily="34" charset="-120"/>
              </a:rPr>
              <a:t>개선</a:t>
            </a:r>
            <a:endParaRPr lang="en-US" sz="900" dirty="0"/>
          </a:p>
        </p:txBody>
      </p:sp>
      <p:sp>
        <p:nvSpPr>
          <p:cNvPr id="14" name="Shape 11"/>
          <p:cNvSpPr/>
          <p:nvPr/>
        </p:nvSpPr>
        <p:spPr>
          <a:xfrm>
            <a:off x="768096" y="3654798"/>
            <a:ext cx="82296" cy="87871"/>
          </a:xfrm>
          <a:prstGeom prst="ellipse">
            <a:avLst/>
          </a:prstGeom>
          <a:solidFill>
            <a:srgbClr val="2563EB"/>
          </a:solidFill>
          <a:ln w="12700">
            <a:solidFill>
              <a:srgbClr val="2563EB"/>
            </a:solidFill>
            <a:prstDash val="solid"/>
          </a:ln>
        </p:spPr>
      </p:sp>
      <p:sp>
        <p:nvSpPr>
          <p:cNvPr id="15" name="Text 12"/>
          <p:cNvSpPr txBox="1"/>
          <p:nvPr/>
        </p:nvSpPr>
        <p:spPr>
          <a:xfrm>
            <a:off x="932688" y="3586454"/>
            <a:ext cx="2103120" cy="292903"/>
          </a:xfrm>
          <a:prstGeom prst="rect">
            <a:avLst/>
          </a:prstGeom>
          <a:noFill/>
          <a:ln/>
        </p:spPr>
        <p:txBody>
          <a:bodyPr wrap="square" lIns="0" tIns="0" rIns="0" bIns="0" rtlCol="0" anchor="ctr"/>
          <a:lstStyle/>
          <a:p>
            <a:pPr indent="0" marL="0">
              <a:lnSpc>
                <a:spcPts val="1200"/>
              </a:lnSpc>
              <a:buNone/>
            </a:pPr>
            <a:r>
              <a:rPr lang="en-US" sz="950" dirty="0">
                <a:solidFill>
                  <a:srgbClr val="45516D"/>
                </a:solidFill>
                <a:latin typeface="Malgun Gothic" pitchFamily="34" charset="0"/>
                <a:ea typeface="Malgun Gothic" pitchFamily="34" charset="-122"/>
                <a:cs typeface="Malgun Gothic" pitchFamily="34" charset="-120"/>
              </a:rPr>
              <a:t>직무별 데이터 확대</a:t>
            </a:r>
            <a:endParaRPr lang="en-US" sz="950" dirty="0"/>
          </a:p>
        </p:txBody>
      </p:sp>
      <p:sp>
        <p:nvSpPr>
          <p:cNvPr id="16" name="Shape 13"/>
          <p:cNvSpPr/>
          <p:nvPr/>
        </p:nvSpPr>
        <p:spPr>
          <a:xfrm>
            <a:off x="768096" y="3967228"/>
            <a:ext cx="82296" cy="87871"/>
          </a:xfrm>
          <a:prstGeom prst="ellipse">
            <a:avLst/>
          </a:prstGeom>
          <a:solidFill>
            <a:srgbClr val="2563EB"/>
          </a:solidFill>
          <a:ln w="12700">
            <a:solidFill>
              <a:srgbClr val="2563EB"/>
            </a:solidFill>
            <a:prstDash val="solid"/>
          </a:ln>
        </p:spPr>
      </p:sp>
      <p:sp>
        <p:nvSpPr>
          <p:cNvPr id="17" name="Text 14"/>
          <p:cNvSpPr txBox="1"/>
          <p:nvPr/>
        </p:nvSpPr>
        <p:spPr>
          <a:xfrm>
            <a:off x="932688" y="3898884"/>
            <a:ext cx="2103120" cy="292903"/>
          </a:xfrm>
          <a:prstGeom prst="rect">
            <a:avLst/>
          </a:prstGeom>
          <a:noFill/>
          <a:ln/>
        </p:spPr>
        <p:txBody>
          <a:bodyPr wrap="square" lIns="0" tIns="0" rIns="0" bIns="0" rtlCol="0" anchor="ctr"/>
          <a:lstStyle/>
          <a:p>
            <a:pPr indent="0" marL="0">
              <a:lnSpc>
                <a:spcPts val="1200"/>
              </a:lnSpc>
              <a:buNone/>
            </a:pPr>
            <a:r>
              <a:rPr lang="en-US" sz="950" dirty="0">
                <a:solidFill>
                  <a:srgbClr val="45516D"/>
                </a:solidFill>
                <a:latin typeface="Malgun Gothic" pitchFamily="34" charset="0"/>
                <a:ea typeface="Malgun Gothic" pitchFamily="34" charset="-122"/>
                <a:cs typeface="Malgun Gothic" pitchFamily="34" charset="-120"/>
              </a:rPr>
              <a:t>RAG / MLOps / CV / NLP / Backend / DE 균형</a:t>
            </a:r>
            <a:endParaRPr lang="en-US" sz="950" dirty="0"/>
          </a:p>
        </p:txBody>
      </p:sp>
      <p:sp>
        <p:nvSpPr>
          <p:cNvPr id="18" name="Shape 15"/>
          <p:cNvSpPr/>
          <p:nvPr/>
        </p:nvSpPr>
        <p:spPr>
          <a:xfrm>
            <a:off x="768096" y="4279657"/>
            <a:ext cx="82296" cy="87871"/>
          </a:xfrm>
          <a:prstGeom prst="ellipse">
            <a:avLst/>
          </a:prstGeom>
          <a:solidFill>
            <a:srgbClr val="2563EB"/>
          </a:solidFill>
          <a:ln w="12700">
            <a:solidFill>
              <a:srgbClr val="2563EB"/>
            </a:solidFill>
            <a:prstDash val="solid"/>
          </a:ln>
        </p:spPr>
      </p:sp>
      <p:sp>
        <p:nvSpPr>
          <p:cNvPr id="19" name="Text 16"/>
          <p:cNvSpPr txBox="1"/>
          <p:nvPr/>
        </p:nvSpPr>
        <p:spPr>
          <a:xfrm>
            <a:off x="932688" y="4211313"/>
            <a:ext cx="2103120" cy="292903"/>
          </a:xfrm>
          <a:prstGeom prst="rect">
            <a:avLst/>
          </a:prstGeom>
          <a:noFill/>
          <a:ln/>
        </p:spPr>
        <p:txBody>
          <a:bodyPr wrap="square" lIns="0" tIns="0" rIns="0" bIns="0" rtlCol="0" anchor="ctr"/>
          <a:lstStyle/>
          <a:p>
            <a:pPr indent="0" marL="0">
              <a:lnSpc>
                <a:spcPts val="1200"/>
              </a:lnSpc>
              <a:buNone/>
            </a:pPr>
            <a:r>
              <a:rPr lang="en-US" sz="950" dirty="0">
                <a:solidFill>
                  <a:srgbClr val="45516D"/>
                </a:solidFill>
                <a:latin typeface="Malgun Gothic" pitchFamily="34" charset="0"/>
                <a:ea typeface="Malgun Gothic" pitchFamily="34" charset="-122"/>
                <a:cs typeface="Malgun Gothic" pitchFamily="34" charset="-120"/>
              </a:rPr>
              <a:t>난이도와 경험 수준 다양화</a:t>
            </a:r>
            <a:endParaRPr lang="en-US" sz="950" dirty="0"/>
          </a:p>
        </p:txBody>
      </p:sp>
      <p:sp>
        <p:nvSpPr>
          <p:cNvPr id="20" name="Shape 17"/>
          <p:cNvSpPr/>
          <p:nvPr/>
        </p:nvSpPr>
        <p:spPr>
          <a:xfrm>
            <a:off x="3438144" y="1789982"/>
            <a:ext cx="2651760" cy="3104771"/>
          </a:xfrm>
          <a:prstGeom prst="roundRect">
            <a:avLst>
              <a:gd name="adj" fmla="val 2069"/>
            </a:avLst>
          </a:prstGeom>
          <a:solidFill>
            <a:srgbClr val="FAFBFD"/>
          </a:solidFill>
          <a:ln w="12700">
            <a:solidFill>
              <a:srgbClr val="D8E0EC"/>
            </a:solidFill>
            <a:prstDash val="solid"/>
          </a:ln>
        </p:spPr>
      </p:sp>
      <p:sp>
        <p:nvSpPr>
          <p:cNvPr id="21" name="Shape 18"/>
          <p:cNvSpPr/>
          <p:nvPr/>
        </p:nvSpPr>
        <p:spPr>
          <a:xfrm>
            <a:off x="3621024" y="1946197"/>
            <a:ext cx="384048" cy="273376"/>
          </a:xfrm>
          <a:prstGeom prst="roundRect">
            <a:avLst>
              <a:gd name="adj" fmla="val 43483"/>
            </a:avLst>
          </a:prstGeom>
          <a:solidFill>
            <a:srgbClr val="E4EDFE"/>
          </a:solidFill>
          <a:ln w="12700">
            <a:solidFill>
              <a:srgbClr val="E4EDFE"/>
            </a:solidFill>
            <a:prstDash val="solid"/>
          </a:ln>
        </p:spPr>
      </p:sp>
      <p:sp>
        <p:nvSpPr>
          <p:cNvPr id="22" name="Text 19"/>
          <p:cNvSpPr txBox="1"/>
          <p:nvPr/>
        </p:nvSpPr>
        <p:spPr>
          <a:xfrm>
            <a:off x="3621024" y="1946197"/>
            <a:ext cx="384048" cy="273376"/>
          </a:xfrm>
          <a:prstGeom prst="rect">
            <a:avLst/>
          </a:prstGeom>
          <a:noFill/>
          <a:ln/>
        </p:spPr>
        <p:txBody>
          <a:bodyPr wrap="square" lIns="0" tIns="0" rIns="0" bIns="0" rtlCol="0" anchor="ctr"/>
          <a:lstStyle/>
          <a:p>
            <a:pPr algn="ctr" indent="0" marL="0">
              <a:buNone/>
            </a:pPr>
            <a:r>
              <a:rPr lang="en-US" sz="950" b="1" dirty="0">
                <a:solidFill>
                  <a:srgbClr val="2563EB"/>
                </a:solidFill>
                <a:latin typeface="Malgun Gothic" pitchFamily="34" charset="0"/>
                <a:ea typeface="Malgun Gothic" pitchFamily="34" charset="-122"/>
                <a:cs typeface="Malgun Gothic" pitchFamily="34" charset="-120"/>
              </a:rPr>
              <a:t>02</a:t>
            </a:r>
            <a:endParaRPr lang="en-US" sz="950" dirty="0"/>
          </a:p>
        </p:txBody>
      </p:sp>
      <p:sp>
        <p:nvSpPr>
          <p:cNvPr id="23" name="Text 20"/>
          <p:cNvSpPr txBox="1"/>
          <p:nvPr/>
        </p:nvSpPr>
        <p:spPr>
          <a:xfrm>
            <a:off x="3621024" y="2297681"/>
            <a:ext cx="2286000" cy="331957"/>
          </a:xfrm>
          <a:prstGeom prst="rect">
            <a:avLst/>
          </a:prstGeom>
          <a:noFill/>
          <a:ln/>
        </p:spPr>
        <p:txBody>
          <a:bodyPr wrap="square" lIns="0" tIns="0" rIns="0" bIns="0" rtlCol="0" anchor="ctr"/>
          <a:lstStyle/>
          <a:p>
            <a:pPr indent="0" marL="0">
              <a:buNone/>
            </a:pPr>
            <a:r>
              <a:rPr lang="en-US" sz="1250" b="1" dirty="0">
                <a:solidFill>
                  <a:srgbClr val="15203A"/>
                </a:solidFill>
                <a:latin typeface="Malgun Gothic" pitchFamily="34" charset="0"/>
                <a:ea typeface="Malgun Gothic" pitchFamily="34" charset="-122"/>
                <a:cs typeface="Malgun Gothic" pitchFamily="34" charset="-120"/>
              </a:rPr>
              <a:t>Train / Validation 분리</a:t>
            </a:r>
            <a:endParaRPr lang="en-US" sz="1250" dirty="0"/>
          </a:p>
        </p:txBody>
      </p:sp>
      <p:sp>
        <p:nvSpPr>
          <p:cNvPr id="24" name="Text 21"/>
          <p:cNvSpPr txBox="1"/>
          <p:nvPr/>
        </p:nvSpPr>
        <p:spPr>
          <a:xfrm>
            <a:off x="3621024" y="2668691"/>
            <a:ext cx="457200" cy="214796"/>
          </a:xfrm>
          <a:prstGeom prst="rect">
            <a:avLst/>
          </a:prstGeom>
          <a:noFill/>
          <a:ln/>
        </p:spPr>
        <p:txBody>
          <a:bodyPr wrap="square" lIns="0" tIns="0" rIns="0" bIns="0" rtlCol="0" anchor="ctr"/>
          <a:lstStyle/>
          <a:p>
            <a:pPr indent="0" marL="0">
              <a:buNone/>
            </a:pPr>
            <a:r>
              <a:rPr lang="en-US" sz="900" b="1" dirty="0">
                <a:solidFill>
                  <a:srgbClr val="8A3A12"/>
                </a:solidFill>
                <a:latin typeface="Malgun Gothic" pitchFamily="34" charset="0"/>
                <a:ea typeface="Malgun Gothic" pitchFamily="34" charset="-122"/>
                <a:cs typeface="Malgun Gothic" pitchFamily="34" charset="-120"/>
              </a:rPr>
              <a:t>현재</a:t>
            </a:r>
            <a:endParaRPr lang="en-US" sz="900" dirty="0"/>
          </a:p>
        </p:txBody>
      </p:sp>
      <p:sp>
        <p:nvSpPr>
          <p:cNvPr id="25" name="Text 22"/>
          <p:cNvSpPr txBox="1"/>
          <p:nvPr/>
        </p:nvSpPr>
        <p:spPr>
          <a:xfrm>
            <a:off x="3621024" y="2863960"/>
            <a:ext cx="2286000" cy="449118"/>
          </a:xfrm>
          <a:prstGeom prst="rect">
            <a:avLst/>
          </a:prstGeom>
          <a:noFill/>
          <a:ln/>
        </p:spPr>
        <p:txBody>
          <a:bodyPr wrap="square" lIns="0" tIns="0" rIns="0" bIns="0" rtlCol="0" anchor="ctr"/>
          <a:lstStyle/>
          <a:p>
            <a:pPr indent="0" marL="0">
              <a:lnSpc>
                <a:spcPts val="1300"/>
              </a:lnSpc>
              <a:buNone/>
            </a:pPr>
            <a:r>
              <a:rPr lang="en-US" sz="950" dirty="0">
                <a:solidFill>
                  <a:srgbClr val="5C6780"/>
                </a:solidFill>
                <a:latin typeface="Malgun Gothic" pitchFamily="34" charset="0"/>
                <a:ea typeface="Malgun Gothic" pitchFamily="34" charset="-122"/>
                <a:cs typeface="Malgun Gothic" pitchFamily="34" charset="-120"/>
              </a:rPr>
              <a:t>Training Loss 중심 평가</a:t>
            </a:r>
            <a:endParaRPr lang="en-US" sz="950" dirty="0"/>
          </a:p>
        </p:txBody>
      </p:sp>
      <p:sp>
        <p:nvSpPr>
          <p:cNvPr id="26" name="Text 23"/>
          <p:cNvSpPr txBox="1"/>
          <p:nvPr/>
        </p:nvSpPr>
        <p:spPr>
          <a:xfrm>
            <a:off x="3621024" y="3371658"/>
            <a:ext cx="457200" cy="214796"/>
          </a:xfrm>
          <a:prstGeom prst="rect">
            <a:avLst/>
          </a:prstGeom>
          <a:noFill/>
          <a:ln/>
        </p:spPr>
        <p:txBody>
          <a:bodyPr wrap="square" lIns="0" tIns="0" rIns="0" bIns="0" rtlCol="0" anchor="ctr"/>
          <a:lstStyle/>
          <a:p>
            <a:pPr indent="0" marL="0">
              <a:buNone/>
            </a:pPr>
            <a:r>
              <a:rPr lang="en-US" sz="900" b="1" dirty="0">
                <a:solidFill>
                  <a:srgbClr val="2563EB"/>
                </a:solidFill>
                <a:latin typeface="Malgun Gothic" pitchFamily="34" charset="0"/>
                <a:ea typeface="Malgun Gothic" pitchFamily="34" charset="-122"/>
                <a:cs typeface="Malgun Gothic" pitchFamily="34" charset="-120"/>
              </a:rPr>
              <a:t>개선</a:t>
            </a:r>
            <a:endParaRPr lang="en-US" sz="900" dirty="0"/>
          </a:p>
        </p:txBody>
      </p:sp>
      <p:sp>
        <p:nvSpPr>
          <p:cNvPr id="27" name="Shape 24"/>
          <p:cNvSpPr/>
          <p:nvPr/>
        </p:nvSpPr>
        <p:spPr>
          <a:xfrm>
            <a:off x="3639312" y="3654798"/>
            <a:ext cx="82296" cy="87871"/>
          </a:xfrm>
          <a:prstGeom prst="ellipse">
            <a:avLst/>
          </a:prstGeom>
          <a:solidFill>
            <a:srgbClr val="2563EB"/>
          </a:solidFill>
          <a:ln w="12700">
            <a:solidFill>
              <a:srgbClr val="2563EB"/>
            </a:solidFill>
            <a:prstDash val="solid"/>
          </a:ln>
        </p:spPr>
      </p:sp>
      <p:sp>
        <p:nvSpPr>
          <p:cNvPr id="28" name="Text 25"/>
          <p:cNvSpPr txBox="1"/>
          <p:nvPr/>
        </p:nvSpPr>
        <p:spPr>
          <a:xfrm>
            <a:off x="3803904" y="3586454"/>
            <a:ext cx="2103120" cy="292903"/>
          </a:xfrm>
          <a:prstGeom prst="rect">
            <a:avLst/>
          </a:prstGeom>
          <a:noFill/>
          <a:ln/>
        </p:spPr>
        <p:txBody>
          <a:bodyPr wrap="square" lIns="0" tIns="0" rIns="0" bIns="0" rtlCol="0" anchor="ctr"/>
          <a:lstStyle/>
          <a:p>
            <a:pPr indent="0" marL="0">
              <a:lnSpc>
                <a:spcPts val="1200"/>
              </a:lnSpc>
              <a:buNone/>
            </a:pPr>
            <a:r>
              <a:rPr lang="en-US" sz="950" dirty="0">
                <a:solidFill>
                  <a:srgbClr val="45516D"/>
                </a:solidFill>
                <a:latin typeface="Malgun Gothic" pitchFamily="34" charset="0"/>
                <a:ea typeface="Malgun Gothic" pitchFamily="34" charset="-122"/>
                <a:cs typeface="Malgun Gothic" pitchFamily="34" charset="-120"/>
              </a:rPr>
              <a:t>Train / Validation / Test 분리</a:t>
            </a:r>
            <a:endParaRPr lang="en-US" sz="950" dirty="0"/>
          </a:p>
        </p:txBody>
      </p:sp>
      <p:sp>
        <p:nvSpPr>
          <p:cNvPr id="29" name="Shape 26"/>
          <p:cNvSpPr/>
          <p:nvPr/>
        </p:nvSpPr>
        <p:spPr>
          <a:xfrm>
            <a:off x="3639312" y="3967228"/>
            <a:ext cx="82296" cy="87871"/>
          </a:xfrm>
          <a:prstGeom prst="ellipse">
            <a:avLst/>
          </a:prstGeom>
          <a:solidFill>
            <a:srgbClr val="2563EB"/>
          </a:solidFill>
          <a:ln w="12700">
            <a:solidFill>
              <a:srgbClr val="2563EB"/>
            </a:solidFill>
            <a:prstDash val="solid"/>
          </a:ln>
        </p:spPr>
      </p:sp>
      <p:sp>
        <p:nvSpPr>
          <p:cNvPr id="30" name="Text 27"/>
          <p:cNvSpPr txBox="1"/>
          <p:nvPr/>
        </p:nvSpPr>
        <p:spPr>
          <a:xfrm>
            <a:off x="3803904" y="3898884"/>
            <a:ext cx="2103120" cy="292903"/>
          </a:xfrm>
          <a:prstGeom prst="rect">
            <a:avLst/>
          </a:prstGeom>
          <a:noFill/>
          <a:ln/>
        </p:spPr>
        <p:txBody>
          <a:bodyPr wrap="square" lIns="0" tIns="0" rIns="0" bIns="0" rtlCol="0" anchor="ctr"/>
          <a:lstStyle/>
          <a:p>
            <a:pPr indent="0" marL="0">
              <a:lnSpc>
                <a:spcPts val="1200"/>
              </a:lnSpc>
              <a:buNone/>
            </a:pPr>
            <a:r>
              <a:rPr lang="en-US" sz="950" dirty="0">
                <a:solidFill>
                  <a:srgbClr val="45516D"/>
                </a:solidFill>
                <a:latin typeface="Malgun Gothic" pitchFamily="34" charset="0"/>
                <a:ea typeface="Malgun Gothic" pitchFamily="34" charset="-122"/>
                <a:cs typeface="Malgun Gothic" pitchFamily="34" charset="-120"/>
              </a:rPr>
              <a:t>Validation Loss 측정</a:t>
            </a:r>
            <a:endParaRPr lang="en-US" sz="950" dirty="0"/>
          </a:p>
        </p:txBody>
      </p:sp>
      <p:sp>
        <p:nvSpPr>
          <p:cNvPr id="31" name="Shape 28"/>
          <p:cNvSpPr/>
          <p:nvPr/>
        </p:nvSpPr>
        <p:spPr>
          <a:xfrm>
            <a:off x="3639312" y="4279657"/>
            <a:ext cx="82296" cy="87871"/>
          </a:xfrm>
          <a:prstGeom prst="ellipse">
            <a:avLst/>
          </a:prstGeom>
          <a:solidFill>
            <a:srgbClr val="2563EB"/>
          </a:solidFill>
          <a:ln w="12700">
            <a:solidFill>
              <a:srgbClr val="2563EB"/>
            </a:solidFill>
            <a:prstDash val="solid"/>
          </a:ln>
        </p:spPr>
      </p:sp>
      <p:sp>
        <p:nvSpPr>
          <p:cNvPr id="32" name="Text 29"/>
          <p:cNvSpPr txBox="1"/>
          <p:nvPr/>
        </p:nvSpPr>
        <p:spPr>
          <a:xfrm>
            <a:off x="3803904" y="4211313"/>
            <a:ext cx="2103120" cy="292903"/>
          </a:xfrm>
          <a:prstGeom prst="rect">
            <a:avLst/>
          </a:prstGeom>
          <a:noFill/>
          <a:ln/>
        </p:spPr>
        <p:txBody>
          <a:bodyPr wrap="square" lIns="0" tIns="0" rIns="0" bIns="0" rtlCol="0" anchor="ctr"/>
          <a:lstStyle/>
          <a:p>
            <a:pPr indent="0" marL="0">
              <a:lnSpc>
                <a:spcPts val="1200"/>
              </a:lnSpc>
              <a:buNone/>
            </a:pPr>
            <a:r>
              <a:rPr lang="en-US" sz="950" dirty="0">
                <a:solidFill>
                  <a:srgbClr val="45516D"/>
                </a:solidFill>
                <a:latin typeface="Malgun Gothic" pitchFamily="34" charset="0"/>
                <a:ea typeface="Malgun Gothic" pitchFamily="34" charset="-122"/>
                <a:cs typeface="Malgun Gothic" pitchFamily="34" charset="-120"/>
              </a:rPr>
              <a:t>Early Stopping 적용</a:t>
            </a:r>
            <a:endParaRPr lang="en-US" sz="950" dirty="0"/>
          </a:p>
        </p:txBody>
      </p:sp>
      <p:sp>
        <p:nvSpPr>
          <p:cNvPr id="33" name="Shape 30"/>
          <p:cNvSpPr/>
          <p:nvPr/>
        </p:nvSpPr>
        <p:spPr>
          <a:xfrm>
            <a:off x="6309360" y="1789982"/>
            <a:ext cx="2651760" cy="3104771"/>
          </a:xfrm>
          <a:prstGeom prst="roundRect">
            <a:avLst>
              <a:gd name="adj" fmla="val 2069"/>
            </a:avLst>
          </a:prstGeom>
          <a:solidFill>
            <a:srgbClr val="FAFBFD"/>
          </a:solidFill>
          <a:ln w="12700">
            <a:solidFill>
              <a:srgbClr val="D8E0EC"/>
            </a:solidFill>
            <a:prstDash val="solid"/>
          </a:ln>
        </p:spPr>
      </p:sp>
      <p:sp>
        <p:nvSpPr>
          <p:cNvPr id="34" name="Shape 31"/>
          <p:cNvSpPr/>
          <p:nvPr/>
        </p:nvSpPr>
        <p:spPr>
          <a:xfrm>
            <a:off x="6492240" y="1946197"/>
            <a:ext cx="384048" cy="273376"/>
          </a:xfrm>
          <a:prstGeom prst="roundRect">
            <a:avLst>
              <a:gd name="adj" fmla="val 43483"/>
            </a:avLst>
          </a:prstGeom>
          <a:solidFill>
            <a:srgbClr val="E4EDFE"/>
          </a:solidFill>
          <a:ln w="12700">
            <a:solidFill>
              <a:srgbClr val="E4EDFE"/>
            </a:solidFill>
            <a:prstDash val="solid"/>
          </a:ln>
        </p:spPr>
      </p:sp>
      <p:sp>
        <p:nvSpPr>
          <p:cNvPr id="35" name="Text 32"/>
          <p:cNvSpPr txBox="1"/>
          <p:nvPr/>
        </p:nvSpPr>
        <p:spPr>
          <a:xfrm>
            <a:off x="6492240" y="1946197"/>
            <a:ext cx="384048" cy="273376"/>
          </a:xfrm>
          <a:prstGeom prst="rect">
            <a:avLst/>
          </a:prstGeom>
          <a:noFill/>
          <a:ln/>
        </p:spPr>
        <p:txBody>
          <a:bodyPr wrap="square" lIns="0" tIns="0" rIns="0" bIns="0" rtlCol="0" anchor="ctr"/>
          <a:lstStyle/>
          <a:p>
            <a:pPr algn="ctr" indent="0" marL="0">
              <a:buNone/>
            </a:pPr>
            <a:r>
              <a:rPr lang="en-US" sz="950" b="1" dirty="0">
                <a:solidFill>
                  <a:srgbClr val="2563EB"/>
                </a:solidFill>
                <a:latin typeface="Malgun Gothic" pitchFamily="34" charset="0"/>
                <a:ea typeface="Malgun Gothic" pitchFamily="34" charset="-122"/>
                <a:cs typeface="Malgun Gothic" pitchFamily="34" charset="-120"/>
              </a:rPr>
              <a:t>03</a:t>
            </a:r>
            <a:endParaRPr lang="en-US" sz="950" dirty="0"/>
          </a:p>
        </p:txBody>
      </p:sp>
      <p:sp>
        <p:nvSpPr>
          <p:cNvPr id="36" name="Text 33"/>
          <p:cNvSpPr txBox="1"/>
          <p:nvPr/>
        </p:nvSpPr>
        <p:spPr>
          <a:xfrm>
            <a:off x="6492240" y="2297681"/>
            <a:ext cx="2286000" cy="331957"/>
          </a:xfrm>
          <a:prstGeom prst="rect">
            <a:avLst/>
          </a:prstGeom>
          <a:noFill/>
          <a:ln/>
        </p:spPr>
        <p:txBody>
          <a:bodyPr wrap="square" lIns="0" tIns="0" rIns="0" bIns="0" rtlCol="0" anchor="ctr"/>
          <a:lstStyle/>
          <a:p>
            <a:pPr indent="0" marL="0">
              <a:buNone/>
            </a:pPr>
            <a:r>
              <a:rPr lang="en-US" sz="1250" b="1" dirty="0">
                <a:solidFill>
                  <a:srgbClr val="15203A"/>
                </a:solidFill>
                <a:latin typeface="Malgun Gothic" pitchFamily="34" charset="0"/>
                <a:ea typeface="Malgun Gothic" pitchFamily="34" charset="-122"/>
                <a:cs typeface="Malgun Gothic" pitchFamily="34" charset="-120"/>
              </a:rPr>
              <a:t>정량적 품질 평가</a:t>
            </a:r>
            <a:endParaRPr lang="en-US" sz="1250" dirty="0"/>
          </a:p>
        </p:txBody>
      </p:sp>
      <p:sp>
        <p:nvSpPr>
          <p:cNvPr id="37" name="Text 34"/>
          <p:cNvSpPr txBox="1"/>
          <p:nvPr/>
        </p:nvSpPr>
        <p:spPr>
          <a:xfrm>
            <a:off x="6492240" y="2668691"/>
            <a:ext cx="457200" cy="214796"/>
          </a:xfrm>
          <a:prstGeom prst="rect">
            <a:avLst/>
          </a:prstGeom>
          <a:noFill/>
          <a:ln/>
        </p:spPr>
        <p:txBody>
          <a:bodyPr wrap="square" lIns="0" tIns="0" rIns="0" bIns="0" rtlCol="0" anchor="ctr"/>
          <a:lstStyle/>
          <a:p>
            <a:pPr indent="0" marL="0">
              <a:buNone/>
            </a:pPr>
            <a:r>
              <a:rPr lang="en-US" sz="900" b="1" dirty="0">
                <a:solidFill>
                  <a:srgbClr val="8A3A12"/>
                </a:solidFill>
                <a:latin typeface="Malgun Gothic" pitchFamily="34" charset="0"/>
                <a:ea typeface="Malgun Gothic" pitchFamily="34" charset="-122"/>
                <a:cs typeface="Malgun Gothic" pitchFamily="34" charset="-120"/>
              </a:rPr>
              <a:t>현재</a:t>
            </a:r>
            <a:endParaRPr lang="en-US" sz="900" dirty="0"/>
          </a:p>
        </p:txBody>
      </p:sp>
      <p:sp>
        <p:nvSpPr>
          <p:cNvPr id="38" name="Text 35"/>
          <p:cNvSpPr txBox="1"/>
          <p:nvPr/>
        </p:nvSpPr>
        <p:spPr>
          <a:xfrm>
            <a:off x="6492240" y="2863960"/>
            <a:ext cx="2286000" cy="449118"/>
          </a:xfrm>
          <a:prstGeom prst="rect">
            <a:avLst/>
          </a:prstGeom>
          <a:noFill/>
          <a:ln/>
        </p:spPr>
        <p:txBody>
          <a:bodyPr wrap="square" lIns="0" tIns="0" rIns="0" bIns="0" rtlCol="0" anchor="ctr"/>
          <a:lstStyle/>
          <a:p>
            <a:pPr indent="0" marL="0">
              <a:lnSpc>
                <a:spcPts val="1300"/>
              </a:lnSpc>
              <a:buNone/>
            </a:pPr>
            <a:r>
              <a:rPr lang="en-US" sz="950" dirty="0">
                <a:solidFill>
                  <a:srgbClr val="5C6780"/>
                </a:solidFill>
                <a:latin typeface="Malgun Gothic" pitchFamily="34" charset="0"/>
                <a:ea typeface="Malgun Gothic" pitchFamily="34" charset="-122"/>
                <a:cs typeface="Malgun Gothic" pitchFamily="34" charset="-120"/>
              </a:rPr>
              <a:t>Before / After 육안 비교 중심</a:t>
            </a:r>
            <a:endParaRPr lang="en-US" sz="950" dirty="0"/>
          </a:p>
        </p:txBody>
      </p:sp>
      <p:sp>
        <p:nvSpPr>
          <p:cNvPr id="39" name="Text 36"/>
          <p:cNvSpPr txBox="1"/>
          <p:nvPr/>
        </p:nvSpPr>
        <p:spPr>
          <a:xfrm>
            <a:off x="6492240" y="3371658"/>
            <a:ext cx="457200" cy="214796"/>
          </a:xfrm>
          <a:prstGeom prst="rect">
            <a:avLst/>
          </a:prstGeom>
          <a:noFill/>
          <a:ln/>
        </p:spPr>
        <p:txBody>
          <a:bodyPr wrap="square" lIns="0" tIns="0" rIns="0" bIns="0" rtlCol="0" anchor="ctr"/>
          <a:lstStyle/>
          <a:p>
            <a:pPr indent="0" marL="0">
              <a:buNone/>
            </a:pPr>
            <a:r>
              <a:rPr lang="en-US" sz="900" b="1" dirty="0">
                <a:solidFill>
                  <a:srgbClr val="2563EB"/>
                </a:solidFill>
                <a:latin typeface="Malgun Gothic" pitchFamily="34" charset="0"/>
                <a:ea typeface="Malgun Gothic" pitchFamily="34" charset="-122"/>
                <a:cs typeface="Malgun Gothic" pitchFamily="34" charset="-120"/>
              </a:rPr>
              <a:t>개선</a:t>
            </a:r>
            <a:endParaRPr lang="en-US" sz="900" dirty="0"/>
          </a:p>
        </p:txBody>
      </p:sp>
      <p:sp>
        <p:nvSpPr>
          <p:cNvPr id="40" name="Shape 37"/>
          <p:cNvSpPr/>
          <p:nvPr/>
        </p:nvSpPr>
        <p:spPr>
          <a:xfrm>
            <a:off x="6510528" y="3654798"/>
            <a:ext cx="82296" cy="87871"/>
          </a:xfrm>
          <a:prstGeom prst="ellipse">
            <a:avLst/>
          </a:prstGeom>
          <a:solidFill>
            <a:srgbClr val="2563EB"/>
          </a:solidFill>
          <a:ln w="12700">
            <a:solidFill>
              <a:srgbClr val="2563EB"/>
            </a:solidFill>
            <a:prstDash val="solid"/>
          </a:ln>
        </p:spPr>
      </p:sp>
      <p:sp>
        <p:nvSpPr>
          <p:cNvPr id="41" name="Text 38"/>
          <p:cNvSpPr txBox="1"/>
          <p:nvPr/>
        </p:nvSpPr>
        <p:spPr>
          <a:xfrm>
            <a:off x="6675120" y="3586454"/>
            <a:ext cx="2103120" cy="292903"/>
          </a:xfrm>
          <a:prstGeom prst="rect">
            <a:avLst/>
          </a:prstGeom>
          <a:noFill/>
          <a:ln/>
        </p:spPr>
        <p:txBody>
          <a:bodyPr wrap="square" lIns="0" tIns="0" rIns="0" bIns="0" rtlCol="0" anchor="ctr"/>
          <a:lstStyle/>
          <a:p>
            <a:pPr indent="0" marL="0">
              <a:lnSpc>
                <a:spcPts val="1200"/>
              </a:lnSpc>
              <a:buNone/>
            </a:pPr>
            <a:r>
              <a:rPr lang="en-US" sz="950" dirty="0">
                <a:solidFill>
                  <a:srgbClr val="45516D"/>
                </a:solidFill>
                <a:latin typeface="Malgun Gothic" pitchFamily="34" charset="0"/>
                <a:ea typeface="Malgun Gothic" pitchFamily="34" charset="-122"/>
                <a:cs typeface="Malgun Gothic" pitchFamily="34" charset="-120"/>
              </a:rPr>
              <a:t>질문 3개 생성률 · 질문 길이</a:t>
            </a:r>
            <a:endParaRPr lang="en-US" sz="950" dirty="0"/>
          </a:p>
        </p:txBody>
      </p:sp>
      <p:sp>
        <p:nvSpPr>
          <p:cNvPr id="42" name="Shape 39"/>
          <p:cNvSpPr/>
          <p:nvPr/>
        </p:nvSpPr>
        <p:spPr>
          <a:xfrm>
            <a:off x="6510528" y="3967228"/>
            <a:ext cx="82296" cy="87871"/>
          </a:xfrm>
          <a:prstGeom prst="ellipse">
            <a:avLst/>
          </a:prstGeom>
          <a:solidFill>
            <a:srgbClr val="2563EB"/>
          </a:solidFill>
          <a:ln w="12700">
            <a:solidFill>
              <a:srgbClr val="2563EB"/>
            </a:solidFill>
            <a:prstDash val="solid"/>
          </a:ln>
        </p:spPr>
      </p:sp>
      <p:sp>
        <p:nvSpPr>
          <p:cNvPr id="43" name="Text 40"/>
          <p:cNvSpPr txBox="1"/>
          <p:nvPr/>
        </p:nvSpPr>
        <p:spPr>
          <a:xfrm>
            <a:off x="6675120" y="3898884"/>
            <a:ext cx="2103120" cy="292903"/>
          </a:xfrm>
          <a:prstGeom prst="rect">
            <a:avLst/>
          </a:prstGeom>
          <a:noFill/>
          <a:ln/>
        </p:spPr>
        <p:txBody>
          <a:bodyPr wrap="square" lIns="0" tIns="0" rIns="0" bIns="0" rtlCol="0" anchor="ctr"/>
          <a:lstStyle/>
          <a:p>
            <a:pPr indent="0" marL="0">
              <a:lnSpc>
                <a:spcPts val="1200"/>
              </a:lnSpc>
              <a:buNone/>
            </a:pPr>
            <a:r>
              <a:rPr lang="en-US" sz="950" dirty="0">
                <a:solidFill>
                  <a:srgbClr val="45516D"/>
                </a:solidFill>
                <a:latin typeface="Malgun Gothic" pitchFamily="34" charset="0"/>
                <a:ea typeface="Malgun Gothic" pitchFamily="34" charset="-122"/>
                <a:cs typeface="Malgun Gothic" pitchFamily="34" charset="-120"/>
              </a:rPr>
              <a:t>Experience Keyword Coverage</a:t>
            </a:r>
            <a:endParaRPr lang="en-US" sz="950" dirty="0"/>
          </a:p>
        </p:txBody>
      </p:sp>
      <p:sp>
        <p:nvSpPr>
          <p:cNvPr id="44" name="Shape 41"/>
          <p:cNvSpPr/>
          <p:nvPr/>
        </p:nvSpPr>
        <p:spPr>
          <a:xfrm>
            <a:off x="6510528" y="4279657"/>
            <a:ext cx="82296" cy="87871"/>
          </a:xfrm>
          <a:prstGeom prst="ellipse">
            <a:avLst/>
          </a:prstGeom>
          <a:solidFill>
            <a:srgbClr val="2563EB"/>
          </a:solidFill>
          <a:ln w="12700">
            <a:solidFill>
              <a:srgbClr val="2563EB"/>
            </a:solidFill>
            <a:prstDash val="solid"/>
          </a:ln>
        </p:spPr>
      </p:sp>
      <p:sp>
        <p:nvSpPr>
          <p:cNvPr id="45" name="Text 42"/>
          <p:cNvSpPr txBox="1"/>
          <p:nvPr/>
        </p:nvSpPr>
        <p:spPr>
          <a:xfrm>
            <a:off x="6675120" y="4211313"/>
            <a:ext cx="2103120" cy="292903"/>
          </a:xfrm>
          <a:prstGeom prst="rect">
            <a:avLst/>
          </a:prstGeom>
          <a:noFill/>
          <a:ln/>
        </p:spPr>
        <p:txBody>
          <a:bodyPr wrap="square" lIns="0" tIns="0" rIns="0" bIns="0" rtlCol="0" anchor="ctr"/>
          <a:lstStyle/>
          <a:p>
            <a:pPr indent="0" marL="0">
              <a:lnSpc>
                <a:spcPts val="1200"/>
              </a:lnSpc>
              <a:buNone/>
            </a:pPr>
            <a:r>
              <a:rPr lang="en-US" sz="950" dirty="0">
                <a:solidFill>
                  <a:srgbClr val="45516D"/>
                </a:solidFill>
                <a:latin typeface="Malgun Gothic" pitchFamily="34" charset="0"/>
                <a:ea typeface="Malgun Gothic" pitchFamily="34" charset="-122"/>
                <a:cs typeface="Malgun Gothic" pitchFamily="34" charset="-120"/>
              </a:rPr>
              <a:t>Hallucinated Technology 비율 · 중복률</a:t>
            </a:r>
            <a:endParaRPr lang="en-US" sz="950" dirty="0"/>
          </a:p>
        </p:txBody>
      </p:sp>
      <p:sp>
        <p:nvSpPr>
          <p:cNvPr id="46" name="Shape 43"/>
          <p:cNvSpPr/>
          <p:nvPr/>
        </p:nvSpPr>
        <p:spPr>
          <a:xfrm>
            <a:off x="6510528" y="4592087"/>
            <a:ext cx="82296" cy="87871"/>
          </a:xfrm>
          <a:prstGeom prst="ellipse">
            <a:avLst/>
          </a:prstGeom>
          <a:solidFill>
            <a:srgbClr val="2563EB"/>
          </a:solidFill>
          <a:ln w="12700">
            <a:solidFill>
              <a:srgbClr val="2563EB"/>
            </a:solidFill>
            <a:prstDash val="solid"/>
          </a:ln>
        </p:spPr>
      </p:sp>
      <p:sp>
        <p:nvSpPr>
          <p:cNvPr id="47" name="Text 44"/>
          <p:cNvSpPr txBox="1"/>
          <p:nvPr/>
        </p:nvSpPr>
        <p:spPr>
          <a:xfrm>
            <a:off x="6675120" y="4523743"/>
            <a:ext cx="2103120" cy="292903"/>
          </a:xfrm>
          <a:prstGeom prst="rect">
            <a:avLst/>
          </a:prstGeom>
          <a:noFill/>
          <a:ln/>
        </p:spPr>
        <p:txBody>
          <a:bodyPr wrap="square" lIns="0" tIns="0" rIns="0" bIns="0" rtlCol="0" anchor="ctr"/>
          <a:lstStyle/>
          <a:p>
            <a:pPr indent="0" marL="0">
              <a:lnSpc>
                <a:spcPts val="1200"/>
              </a:lnSpc>
              <a:buNone/>
            </a:pPr>
            <a:r>
              <a:rPr lang="en-US" sz="950" dirty="0">
                <a:solidFill>
                  <a:srgbClr val="45516D"/>
                </a:solidFill>
                <a:latin typeface="Malgun Gothic" pitchFamily="34" charset="0"/>
                <a:ea typeface="Malgun Gothic" pitchFamily="34" charset="-122"/>
                <a:cs typeface="Malgun Gothic" pitchFamily="34" charset="-120"/>
              </a:rPr>
              <a:t>LLM-as-a-Judge 또는 전문가 평가 병행</a:t>
            </a:r>
            <a:endParaRPr lang="en-US" sz="950" dirty="0"/>
          </a:p>
        </p:txBody>
      </p:sp>
      <p:sp>
        <p:nvSpPr>
          <p:cNvPr id="48" name="Shape 45"/>
          <p:cNvSpPr/>
          <p:nvPr/>
        </p:nvSpPr>
        <p:spPr>
          <a:xfrm>
            <a:off x="9180576" y="1789982"/>
            <a:ext cx="2651760" cy="3104771"/>
          </a:xfrm>
          <a:prstGeom prst="roundRect">
            <a:avLst>
              <a:gd name="adj" fmla="val 2069"/>
            </a:avLst>
          </a:prstGeom>
          <a:solidFill>
            <a:srgbClr val="FAFBFD"/>
          </a:solidFill>
          <a:ln w="12700">
            <a:solidFill>
              <a:srgbClr val="D8E0EC"/>
            </a:solidFill>
            <a:prstDash val="solid"/>
          </a:ln>
        </p:spPr>
      </p:sp>
      <p:sp>
        <p:nvSpPr>
          <p:cNvPr id="49" name="Shape 46"/>
          <p:cNvSpPr/>
          <p:nvPr/>
        </p:nvSpPr>
        <p:spPr>
          <a:xfrm>
            <a:off x="9363456" y="1946197"/>
            <a:ext cx="384048" cy="273376"/>
          </a:xfrm>
          <a:prstGeom prst="roundRect">
            <a:avLst>
              <a:gd name="adj" fmla="val 43483"/>
            </a:avLst>
          </a:prstGeom>
          <a:solidFill>
            <a:srgbClr val="E4EDFE"/>
          </a:solidFill>
          <a:ln w="12700">
            <a:solidFill>
              <a:srgbClr val="E4EDFE"/>
            </a:solidFill>
            <a:prstDash val="solid"/>
          </a:ln>
        </p:spPr>
      </p:sp>
      <p:sp>
        <p:nvSpPr>
          <p:cNvPr id="50" name="Text 47"/>
          <p:cNvSpPr txBox="1"/>
          <p:nvPr/>
        </p:nvSpPr>
        <p:spPr>
          <a:xfrm>
            <a:off x="9363456" y="1946197"/>
            <a:ext cx="384048" cy="273376"/>
          </a:xfrm>
          <a:prstGeom prst="rect">
            <a:avLst/>
          </a:prstGeom>
          <a:noFill/>
          <a:ln/>
        </p:spPr>
        <p:txBody>
          <a:bodyPr wrap="square" lIns="0" tIns="0" rIns="0" bIns="0" rtlCol="0" anchor="ctr"/>
          <a:lstStyle/>
          <a:p>
            <a:pPr algn="ctr" indent="0" marL="0">
              <a:buNone/>
            </a:pPr>
            <a:r>
              <a:rPr lang="en-US" sz="950" b="1" dirty="0">
                <a:solidFill>
                  <a:srgbClr val="2563EB"/>
                </a:solidFill>
                <a:latin typeface="Malgun Gothic" pitchFamily="34" charset="0"/>
                <a:ea typeface="Malgun Gothic" pitchFamily="34" charset="-122"/>
                <a:cs typeface="Malgun Gothic" pitchFamily="34" charset="-120"/>
              </a:rPr>
              <a:t>04</a:t>
            </a:r>
            <a:endParaRPr lang="en-US" sz="950" dirty="0"/>
          </a:p>
        </p:txBody>
      </p:sp>
      <p:sp>
        <p:nvSpPr>
          <p:cNvPr id="51" name="Text 48"/>
          <p:cNvSpPr txBox="1"/>
          <p:nvPr/>
        </p:nvSpPr>
        <p:spPr>
          <a:xfrm>
            <a:off x="9363456" y="2297681"/>
            <a:ext cx="2286000" cy="331957"/>
          </a:xfrm>
          <a:prstGeom prst="rect">
            <a:avLst/>
          </a:prstGeom>
          <a:noFill/>
          <a:ln/>
        </p:spPr>
        <p:txBody>
          <a:bodyPr wrap="square" lIns="0" tIns="0" rIns="0" bIns="0" rtlCol="0" anchor="ctr"/>
          <a:lstStyle/>
          <a:p>
            <a:pPr indent="0" marL="0">
              <a:buNone/>
            </a:pPr>
            <a:r>
              <a:rPr lang="en-US" sz="1250" b="1" dirty="0">
                <a:solidFill>
                  <a:srgbClr val="15203A"/>
                </a:solidFill>
                <a:latin typeface="Malgun Gothic" pitchFamily="34" charset="0"/>
                <a:ea typeface="Malgun Gothic" pitchFamily="34" charset="-122"/>
                <a:cs typeface="Malgun Gothic" pitchFamily="34" charset="-120"/>
              </a:rPr>
              <a:t>Hyperparameter 실험</a:t>
            </a:r>
            <a:endParaRPr lang="en-US" sz="1250" dirty="0"/>
          </a:p>
        </p:txBody>
      </p:sp>
      <p:sp>
        <p:nvSpPr>
          <p:cNvPr id="52" name="Text 49"/>
          <p:cNvSpPr txBox="1"/>
          <p:nvPr/>
        </p:nvSpPr>
        <p:spPr>
          <a:xfrm>
            <a:off x="9363456" y="2668691"/>
            <a:ext cx="457200" cy="214796"/>
          </a:xfrm>
          <a:prstGeom prst="rect">
            <a:avLst/>
          </a:prstGeom>
          <a:noFill/>
          <a:ln/>
        </p:spPr>
        <p:txBody>
          <a:bodyPr wrap="square" lIns="0" tIns="0" rIns="0" bIns="0" rtlCol="0" anchor="ctr"/>
          <a:lstStyle/>
          <a:p>
            <a:pPr indent="0" marL="0">
              <a:buNone/>
            </a:pPr>
            <a:r>
              <a:rPr lang="en-US" sz="900" b="1" dirty="0">
                <a:solidFill>
                  <a:srgbClr val="8A3A12"/>
                </a:solidFill>
                <a:latin typeface="Malgun Gothic" pitchFamily="34" charset="0"/>
                <a:ea typeface="Malgun Gothic" pitchFamily="34" charset="-122"/>
                <a:cs typeface="Malgun Gothic" pitchFamily="34" charset="-120"/>
              </a:rPr>
              <a:t>현재</a:t>
            </a:r>
            <a:endParaRPr lang="en-US" sz="900" dirty="0"/>
          </a:p>
        </p:txBody>
      </p:sp>
      <p:sp>
        <p:nvSpPr>
          <p:cNvPr id="53" name="Text 50"/>
          <p:cNvSpPr txBox="1"/>
          <p:nvPr/>
        </p:nvSpPr>
        <p:spPr>
          <a:xfrm>
            <a:off x="9363456" y="2863960"/>
            <a:ext cx="2286000" cy="449118"/>
          </a:xfrm>
          <a:prstGeom prst="rect">
            <a:avLst/>
          </a:prstGeom>
          <a:noFill/>
          <a:ln/>
        </p:spPr>
        <p:txBody>
          <a:bodyPr wrap="square" lIns="0" tIns="0" rIns="0" bIns="0" rtlCol="0" anchor="ctr"/>
          <a:lstStyle/>
          <a:p>
            <a:pPr indent="0" marL="0">
              <a:lnSpc>
                <a:spcPts val="1300"/>
              </a:lnSpc>
              <a:buNone/>
            </a:pPr>
            <a:r>
              <a:rPr lang="en-US" sz="950" dirty="0">
                <a:solidFill>
                  <a:srgbClr val="5C6780"/>
                </a:solidFill>
                <a:latin typeface="Malgun Gothic" pitchFamily="34" charset="0"/>
                <a:ea typeface="Malgun Gothic" pitchFamily="34" charset="-122"/>
                <a:cs typeface="Malgun Gothic" pitchFamily="34" charset="-120"/>
              </a:rPr>
              <a:t>r=16 단일 조건만 측정</a:t>
            </a:r>
            <a:endParaRPr lang="en-US" sz="950" dirty="0"/>
          </a:p>
        </p:txBody>
      </p:sp>
      <p:sp>
        <p:nvSpPr>
          <p:cNvPr id="54" name="Text 51"/>
          <p:cNvSpPr txBox="1"/>
          <p:nvPr/>
        </p:nvSpPr>
        <p:spPr>
          <a:xfrm>
            <a:off x="9363456" y="3371658"/>
            <a:ext cx="457200" cy="214796"/>
          </a:xfrm>
          <a:prstGeom prst="rect">
            <a:avLst/>
          </a:prstGeom>
          <a:noFill/>
          <a:ln/>
        </p:spPr>
        <p:txBody>
          <a:bodyPr wrap="square" lIns="0" tIns="0" rIns="0" bIns="0" rtlCol="0" anchor="ctr"/>
          <a:lstStyle/>
          <a:p>
            <a:pPr indent="0" marL="0">
              <a:buNone/>
            </a:pPr>
            <a:r>
              <a:rPr lang="en-US" sz="900" b="1" dirty="0">
                <a:solidFill>
                  <a:srgbClr val="2563EB"/>
                </a:solidFill>
                <a:latin typeface="Malgun Gothic" pitchFamily="34" charset="0"/>
                <a:ea typeface="Malgun Gothic" pitchFamily="34" charset="-122"/>
                <a:cs typeface="Malgun Gothic" pitchFamily="34" charset="-120"/>
              </a:rPr>
              <a:t>개선</a:t>
            </a:r>
            <a:endParaRPr lang="en-US" sz="900" dirty="0"/>
          </a:p>
        </p:txBody>
      </p:sp>
      <p:sp>
        <p:nvSpPr>
          <p:cNvPr id="55" name="Shape 52"/>
          <p:cNvSpPr/>
          <p:nvPr/>
        </p:nvSpPr>
        <p:spPr>
          <a:xfrm>
            <a:off x="9381744" y="3654798"/>
            <a:ext cx="82296" cy="87871"/>
          </a:xfrm>
          <a:prstGeom prst="ellipse">
            <a:avLst/>
          </a:prstGeom>
          <a:solidFill>
            <a:srgbClr val="2563EB"/>
          </a:solidFill>
          <a:ln w="12700">
            <a:solidFill>
              <a:srgbClr val="2563EB"/>
            </a:solidFill>
            <a:prstDash val="solid"/>
          </a:ln>
        </p:spPr>
      </p:sp>
      <p:sp>
        <p:nvSpPr>
          <p:cNvPr id="56" name="Text 53"/>
          <p:cNvSpPr txBox="1"/>
          <p:nvPr/>
        </p:nvSpPr>
        <p:spPr>
          <a:xfrm>
            <a:off x="9546336" y="3586454"/>
            <a:ext cx="2103120" cy="292903"/>
          </a:xfrm>
          <a:prstGeom prst="rect">
            <a:avLst/>
          </a:prstGeom>
          <a:noFill/>
          <a:ln/>
        </p:spPr>
        <p:txBody>
          <a:bodyPr wrap="square" lIns="0" tIns="0" rIns="0" bIns="0" rtlCol="0" anchor="ctr"/>
          <a:lstStyle/>
          <a:p>
            <a:pPr indent="0" marL="0">
              <a:lnSpc>
                <a:spcPts val="1200"/>
              </a:lnSpc>
              <a:buNone/>
            </a:pPr>
            <a:r>
              <a:rPr lang="en-US" sz="950" dirty="0">
                <a:solidFill>
                  <a:srgbClr val="45516D"/>
                </a:solidFill>
                <a:latin typeface="Malgun Gothic" pitchFamily="34" charset="0"/>
                <a:ea typeface="Malgun Gothic" pitchFamily="34" charset="-122"/>
                <a:cs typeface="Malgun Gothic" pitchFamily="34" charset="-120"/>
              </a:rPr>
              <a:t>LoRA rank 4 / 8 / 16 / 32 비교</a:t>
            </a:r>
            <a:endParaRPr lang="en-US" sz="950" dirty="0"/>
          </a:p>
        </p:txBody>
      </p:sp>
      <p:sp>
        <p:nvSpPr>
          <p:cNvPr id="57" name="Shape 54"/>
          <p:cNvSpPr/>
          <p:nvPr/>
        </p:nvSpPr>
        <p:spPr>
          <a:xfrm>
            <a:off x="9381744" y="3967228"/>
            <a:ext cx="82296" cy="87871"/>
          </a:xfrm>
          <a:prstGeom prst="ellipse">
            <a:avLst/>
          </a:prstGeom>
          <a:solidFill>
            <a:srgbClr val="2563EB"/>
          </a:solidFill>
          <a:ln w="12700">
            <a:solidFill>
              <a:srgbClr val="2563EB"/>
            </a:solidFill>
            <a:prstDash val="solid"/>
          </a:ln>
        </p:spPr>
      </p:sp>
      <p:sp>
        <p:nvSpPr>
          <p:cNvPr id="58" name="Text 55"/>
          <p:cNvSpPr txBox="1"/>
          <p:nvPr/>
        </p:nvSpPr>
        <p:spPr>
          <a:xfrm>
            <a:off x="9546336" y="3898884"/>
            <a:ext cx="2103120" cy="292903"/>
          </a:xfrm>
          <a:prstGeom prst="rect">
            <a:avLst/>
          </a:prstGeom>
          <a:noFill/>
          <a:ln/>
        </p:spPr>
        <p:txBody>
          <a:bodyPr wrap="square" lIns="0" tIns="0" rIns="0" bIns="0" rtlCol="0" anchor="ctr"/>
          <a:lstStyle/>
          <a:p>
            <a:pPr indent="0" marL="0">
              <a:lnSpc>
                <a:spcPts val="1200"/>
              </a:lnSpc>
              <a:buNone/>
            </a:pPr>
            <a:r>
              <a:rPr lang="en-US" sz="950" dirty="0">
                <a:solidFill>
                  <a:srgbClr val="45516D"/>
                </a:solidFill>
                <a:latin typeface="Malgun Gothic" pitchFamily="34" charset="0"/>
                <a:ea typeface="Malgun Gothic" pitchFamily="34" charset="-122"/>
                <a:cs typeface="Malgun Gothic" pitchFamily="34" charset="-120"/>
              </a:rPr>
              <a:t>alpha · target_modules · learning rate</a:t>
            </a:r>
            <a:endParaRPr lang="en-US" sz="950" dirty="0"/>
          </a:p>
        </p:txBody>
      </p:sp>
      <p:sp>
        <p:nvSpPr>
          <p:cNvPr id="59" name="Shape 56"/>
          <p:cNvSpPr/>
          <p:nvPr/>
        </p:nvSpPr>
        <p:spPr>
          <a:xfrm>
            <a:off x="9381744" y="4279657"/>
            <a:ext cx="82296" cy="87871"/>
          </a:xfrm>
          <a:prstGeom prst="ellipse">
            <a:avLst/>
          </a:prstGeom>
          <a:solidFill>
            <a:srgbClr val="2563EB"/>
          </a:solidFill>
          <a:ln w="12700">
            <a:solidFill>
              <a:srgbClr val="2563EB"/>
            </a:solidFill>
            <a:prstDash val="solid"/>
          </a:ln>
        </p:spPr>
      </p:sp>
      <p:sp>
        <p:nvSpPr>
          <p:cNvPr id="60" name="Text 57"/>
          <p:cNvSpPr txBox="1"/>
          <p:nvPr/>
        </p:nvSpPr>
        <p:spPr>
          <a:xfrm>
            <a:off x="9546336" y="4211313"/>
            <a:ext cx="2103120" cy="292903"/>
          </a:xfrm>
          <a:prstGeom prst="rect">
            <a:avLst/>
          </a:prstGeom>
          <a:noFill/>
          <a:ln/>
        </p:spPr>
        <p:txBody>
          <a:bodyPr wrap="square" lIns="0" tIns="0" rIns="0" bIns="0" rtlCol="0" anchor="ctr"/>
          <a:lstStyle/>
          <a:p>
            <a:pPr indent="0" marL="0">
              <a:lnSpc>
                <a:spcPts val="1200"/>
              </a:lnSpc>
              <a:buNone/>
            </a:pPr>
            <a:r>
              <a:rPr lang="en-US" sz="950" dirty="0">
                <a:solidFill>
                  <a:srgbClr val="45516D"/>
                </a:solidFill>
                <a:latin typeface="Malgun Gothic" pitchFamily="34" charset="0"/>
                <a:ea typeface="Malgun Gothic" pitchFamily="34" charset="-122"/>
                <a:cs typeface="Malgun Gothic" pitchFamily="34" charset="-120"/>
              </a:rPr>
              <a:t>max_steps에 따른 과적합 지점 탐색</a:t>
            </a:r>
            <a:endParaRPr lang="en-US" sz="950" dirty="0"/>
          </a:p>
        </p:txBody>
      </p:sp>
      <p:sp>
        <p:nvSpPr>
          <p:cNvPr id="61" name="Text 58"/>
          <p:cNvSpPr txBox="1"/>
          <p:nvPr/>
        </p:nvSpPr>
        <p:spPr>
          <a:xfrm>
            <a:off x="566928" y="5070495"/>
            <a:ext cx="5486400" cy="292903"/>
          </a:xfrm>
          <a:prstGeom prst="rect">
            <a:avLst/>
          </a:prstGeom>
          <a:noFill/>
          <a:ln/>
        </p:spPr>
        <p:txBody>
          <a:bodyPr wrap="square" lIns="0" tIns="0" rIns="0" bIns="0" rtlCol="0" anchor="ctr"/>
          <a:lstStyle/>
          <a:p>
            <a:pPr indent="0" marL="0">
              <a:buNone/>
            </a:pPr>
            <a:r>
              <a:rPr lang="en-US" sz="1300" b="1" dirty="0">
                <a:solidFill>
                  <a:srgbClr val="15203A"/>
                </a:solidFill>
                <a:latin typeface="Malgun Gothic" pitchFamily="34" charset="0"/>
                <a:ea typeface="Malgun Gothic" pitchFamily="34" charset="-122"/>
                <a:cs typeface="Malgun Gothic" pitchFamily="34" charset="-120"/>
              </a:rPr>
              <a:t>05   실사용 확장 — Interactive AI Interviewer</a:t>
            </a:r>
            <a:endParaRPr lang="en-US" sz="1300" dirty="0"/>
          </a:p>
        </p:txBody>
      </p:sp>
      <p:sp>
        <p:nvSpPr>
          <p:cNvPr id="62" name="Shape 59"/>
          <p:cNvSpPr/>
          <p:nvPr/>
        </p:nvSpPr>
        <p:spPr>
          <a:xfrm>
            <a:off x="566928" y="5421979"/>
            <a:ext cx="1609344" cy="605333"/>
          </a:xfrm>
          <a:prstGeom prst="roundRect">
            <a:avLst>
              <a:gd name="adj" fmla="val 9063"/>
            </a:avLst>
          </a:prstGeom>
          <a:solidFill>
            <a:srgbClr val="F2F5FA"/>
          </a:solidFill>
          <a:ln w="12700">
            <a:solidFill>
              <a:srgbClr val="F2F5FA"/>
            </a:solidFill>
            <a:prstDash val="solid"/>
          </a:ln>
        </p:spPr>
      </p:sp>
      <p:sp>
        <p:nvSpPr>
          <p:cNvPr id="63" name="Text 60"/>
          <p:cNvSpPr txBox="1"/>
          <p:nvPr/>
        </p:nvSpPr>
        <p:spPr>
          <a:xfrm>
            <a:off x="621792" y="5421979"/>
            <a:ext cx="1499616" cy="605333"/>
          </a:xfrm>
          <a:prstGeom prst="rect">
            <a:avLst/>
          </a:prstGeom>
          <a:noFill/>
          <a:ln/>
        </p:spPr>
        <p:txBody>
          <a:bodyPr wrap="square" lIns="0" tIns="0" rIns="0" bIns="0" rtlCol="0" anchor="ctr"/>
          <a:lstStyle/>
          <a:p>
            <a:pPr algn="ctr" indent="0" marL="0">
              <a:buNone/>
            </a:pPr>
            <a:r>
              <a:rPr lang="en-US" sz="950" dirty="0">
                <a:solidFill>
                  <a:srgbClr val="45516D"/>
                </a:solidFill>
                <a:latin typeface="Malgun Gothic" pitchFamily="34" charset="0"/>
                <a:ea typeface="Malgun Gothic" pitchFamily="34" charset="-122"/>
                <a:cs typeface="Malgun Gothic" pitchFamily="34" charset="-120"/>
              </a:rPr>
              <a:t>Resume / Portfolio</a:t>
            </a:r>
            <a:endParaRPr lang="en-US" sz="950" dirty="0"/>
          </a:p>
        </p:txBody>
      </p:sp>
      <p:sp>
        <p:nvSpPr>
          <p:cNvPr id="64" name="Text 61"/>
          <p:cNvSpPr txBox="1"/>
          <p:nvPr/>
        </p:nvSpPr>
        <p:spPr>
          <a:xfrm>
            <a:off x="2176272" y="5421979"/>
            <a:ext cx="274320" cy="605333"/>
          </a:xfrm>
          <a:prstGeom prst="rect">
            <a:avLst/>
          </a:prstGeom>
          <a:noFill/>
          <a:ln/>
        </p:spPr>
        <p:txBody>
          <a:bodyPr wrap="square" lIns="0" tIns="0" rIns="0" bIns="0" rtlCol="0" anchor="ctr"/>
          <a:lstStyle/>
          <a:p>
            <a:pPr algn="ctr" indent="0" marL="0">
              <a:buNone/>
            </a:pPr>
            <a:r>
              <a:rPr lang="en-US" sz="1300" dirty="0">
                <a:solidFill>
                  <a:srgbClr val="9FB0CC"/>
                </a:solidFill>
                <a:latin typeface="Malgun Gothic" pitchFamily="34" charset="0"/>
                <a:ea typeface="Malgun Gothic" pitchFamily="34" charset="-122"/>
                <a:cs typeface="Malgun Gothic" pitchFamily="34" charset="-120"/>
              </a:rPr>
              <a:t>→</a:t>
            </a:r>
            <a:endParaRPr lang="en-US" sz="1300" dirty="0"/>
          </a:p>
        </p:txBody>
      </p:sp>
      <p:sp>
        <p:nvSpPr>
          <p:cNvPr id="65" name="Shape 62"/>
          <p:cNvSpPr/>
          <p:nvPr/>
        </p:nvSpPr>
        <p:spPr>
          <a:xfrm>
            <a:off x="2452421" y="5421979"/>
            <a:ext cx="1609344" cy="605333"/>
          </a:xfrm>
          <a:prstGeom prst="roundRect">
            <a:avLst>
              <a:gd name="adj" fmla="val 9063"/>
            </a:avLst>
          </a:prstGeom>
          <a:solidFill>
            <a:srgbClr val="F2F5FA"/>
          </a:solidFill>
          <a:ln w="12700">
            <a:solidFill>
              <a:srgbClr val="F2F5FA"/>
            </a:solidFill>
            <a:prstDash val="solid"/>
          </a:ln>
        </p:spPr>
      </p:sp>
      <p:sp>
        <p:nvSpPr>
          <p:cNvPr id="66" name="Text 63"/>
          <p:cNvSpPr txBox="1"/>
          <p:nvPr/>
        </p:nvSpPr>
        <p:spPr>
          <a:xfrm>
            <a:off x="2507285" y="5421979"/>
            <a:ext cx="1499616" cy="605333"/>
          </a:xfrm>
          <a:prstGeom prst="rect">
            <a:avLst/>
          </a:prstGeom>
          <a:noFill/>
          <a:ln/>
        </p:spPr>
        <p:txBody>
          <a:bodyPr wrap="square" lIns="0" tIns="0" rIns="0" bIns="0" rtlCol="0" anchor="ctr"/>
          <a:lstStyle/>
          <a:p>
            <a:pPr algn="ctr" indent="0" marL="0">
              <a:buNone/>
            </a:pPr>
            <a:r>
              <a:rPr lang="en-US" sz="950" dirty="0">
                <a:solidFill>
                  <a:srgbClr val="45516D"/>
                </a:solidFill>
                <a:latin typeface="Malgun Gothic" pitchFamily="34" charset="0"/>
                <a:ea typeface="Malgun Gothic" pitchFamily="34" charset="-122"/>
                <a:cs typeface="Malgun Gothic" pitchFamily="34" charset="-120"/>
              </a:rPr>
              <a:t>경험 · 기술 Stack 추출</a:t>
            </a:r>
            <a:endParaRPr lang="en-US" sz="950" dirty="0"/>
          </a:p>
        </p:txBody>
      </p:sp>
      <p:sp>
        <p:nvSpPr>
          <p:cNvPr id="67" name="Text 64"/>
          <p:cNvSpPr txBox="1"/>
          <p:nvPr/>
        </p:nvSpPr>
        <p:spPr>
          <a:xfrm>
            <a:off x="4061765" y="5421979"/>
            <a:ext cx="274320" cy="605333"/>
          </a:xfrm>
          <a:prstGeom prst="rect">
            <a:avLst/>
          </a:prstGeom>
          <a:noFill/>
          <a:ln/>
        </p:spPr>
        <p:txBody>
          <a:bodyPr wrap="square" lIns="0" tIns="0" rIns="0" bIns="0" rtlCol="0" anchor="ctr"/>
          <a:lstStyle/>
          <a:p>
            <a:pPr algn="ctr" indent="0" marL="0">
              <a:buNone/>
            </a:pPr>
            <a:r>
              <a:rPr lang="en-US" sz="1300" dirty="0">
                <a:solidFill>
                  <a:srgbClr val="9FB0CC"/>
                </a:solidFill>
                <a:latin typeface="Malgun Gothic" pitchFamily="34" charset="0"/>
                <a:ea typeface="Malgun Gothic" pitchFamily="34" charset="-122"/>
                <a:cs typeface="Malgun Gothic" pitchFamily="34" charset="-120"/>
              </a:rPr>
              <a:t>→</a:t>
            </a:r>
            <a:endParaRPr lang="en-US" sz="1300" dirty="0"/>
          </a:p>
        </p:txBody>
      </p:sp>
      <p:sp>
        <p:nvSpPr>
          <p:cNvPr id="68" name="Shape 65"/>
          <p:cNvSpPr/>
          <p:nvPr/>
        </p:nvSpPr>
        <p:spPr>
          <a:xfrm>
            <a:off x="4337914" y="5421979"/>
            <a:ext cx="1609344" cy="605333"/>
          </a:xfrm>
          <a:prstGeom prst="roundRect">
            <a:avLst>
              <a:gd name="adj" fmla="val 9063"/>
            </a:avLst>
          </a:prstGeom>
          <a:solidFill>
            <a:srgbClr val="0E1A33"/>
          </a:solidFill>
          <a:ln w="12700">
            <a:solidFill>
              <a:srgbClr val="0E1A33"/>
            </a:solidFill>
            <a:prstDash val="solid"/>
          </a:ln>
        </p:spPr>
      </p:sp>
      <p:sp>
        <p:nvSpPr>
          <p:cNvPr id="69" name="Text 66"/>
          <p:cNvSpPr txBox="1"/>
          <p:nvPr/>
        </p:nvSpPr>
        <p:spPr>
          <a:xfrm>
            <a:off x="4392778" y="5421979"/>
            <a:ext cx="1499616" cy="605333"/>
          </a:xfrm>
          <a:prstGeom prst="rect">
            <a:avLst/>
          </a:prstGeom>
          <a:noFill/>
          <a:ln/>
        </p:spPr>
        <p:txBody>
          <a:bodyPr wrap="square" lIns="0" tIns="0" rIns="0" bIns="0" rtlCol="0" anchor="ctr"/>
          <a:lstStyle/>
          <a:p>
            <a:pPr algn="ctr" indent="0" marL="0">
              <a:buNone/>
            </a:pPr>
            <a:r>
              <a:rPr lang="en-US" sz="950" b="1" dirty="0">
                <a:solidFill>
                  <a:srgbClr val="FFFFFF"/>
                </a:solidFill>
                <a:latin typeface="Malgun Gothic" pitchFamily="34" charset="0"/>
                <a:ea typeface="Malgun Gothic" pitchFamily="34" charset="-122"/>
                <a:cs typeface="Malgun Gothic" pitchFamily="34" charset="-120"/>
              </a:rPr>
              <a:t>Fine-Tuned AI Interviewer</a:t>
            </a:r>
            <a:endParaRPr lang="en-US" sz="950" dirty="0"/>
          </a:p>
        </p:txBody>
      </p:sp>
      <p:sp>
        <p:nvSpPr>
          <p:cNvPr id="70" name="Text 67"/>
          <p:cNvSpPr txBox="1"/>
          <p:nvPr/>
        </p:nvSpPr>
        <p:spPr>
          <a:xfrm>
            <a:off x="5947258" y="5421979"/>
            <a:ext cx="274320" cy="605333"/>
          </a:xfrm>
          <a:prstGeom prst="rect">
            <a:avLst/>
          </a:prstGeom>
          <a:noFill/>
          <a:ln/>
        </p:spPr>
        <p:txBody>
          <a:bodyPr wrap="square" lIns="0" tIns="0" rIns="0" bIns="0" rtlCol="0" anchor="ctr"/>
          <a:lstStyle/>
          <a:p>
            <a:pPr algn="ctr" indent="0" marL="0">
              <a:buNone/>
            </a:pPr>
            <a:r>
              <a:rPr lang="en-US" sz="1300" dirty="0">
                <a:solidFill>
                  <a:srgbClr val="9FB0CC"/>
                </a:solidFill>
                <a:latin typeface="Malgun Gothic" pitchFamily="34" charset="0"/>
                <a:ea typeface="Malgun Gothic" pitchFamily="34" charset="-122"/>
                <a:cs typeface="Malgun Gothic" pitchFamily="34" charset="-120"/>
              </a:rPr>
              <a:t>→</a:t>
            </a:r>
            <a:endParaRPr lang="en-US" sz="1300" dirty="0"/>
          </a:p>
        </p:txBody>
      </p:sp>
      <p:sp>
        <p:nvSpPr>
          <p:cNvPr id="71" name="Shape 68"/>
          <p:cNvSpPr/>
          <p:nvPr/>
        </p:nvSpPr>
        <p:spPr>
          <a:xfrm>
            <a:off x="6223406" y="5421979"/>
            <a:ext cx="1609344" cy="605333"/>
          </a:xfrm>
          <a:prstGeom prst="roundRect">
            <a:avLst>
              <a:gd name="adj" fmla="val 9063"/>
            </a:avLst>
          </a:prstGeom>
          <a:solidFill>
            <a:srgbClr val="F2F5FA"/>
          </a:solidFill>
          <a:ln w="12700">
            <a:solidFill>
              <a:srgbClr val="F2F5FA"/>
            </a:solidFill>
            <a:prstDash val="solid"/>
          </a:ln>
        </p:spPr>
      </p:sp>
      <p:sp>
        <p:nvSpPr>
          <p:cNvPr id="72" name="Text 69"/>
          <p:cNvSpPr txBox="1"/>
          <p:nvPr/>
        </p:nvSpPr>
        <p:spPr>
          <a:xfrm>
            <a:off x="6278270" y="5421979"/>
            <a:ext cx="1499616" cy="605333"/>
          </a:xfrm>
          <a:prstGeom prst="rect">
            <a:avLst/>
          </a:prstGeom>
          <a:noFill/>
          <a:ln/>
        </p:spPr>
        <p:txBody>
          <a:bodyPr wrap="square" lIns="0" tIns="0" rIns="0" bIns="0" rtlCol="0" anchor="ctr"/>
          <a:lstStyle/>
          <a:p>
            <a:pPr algn="ctr" indent="0" marL="0">
              <a:buNone/>
            </a:pPr>
            <a:r>
              <a:rPr lang="en-US" sz="950" dirty="0">
                <a:solidFill>
                  <a:srgbClr val="45516D"/>
                </a:solidFill>
                <a:latin typeface="Malgun Gothic" pitchFamily="34" charset="0"/>
                <a:ea typeface="Malgun Gothic" pitchFamily="34" charset="-122"/>
                <a:cs typeface="Malgun Gothic" pitchFamily="34" charset="-120"/>
              </a:rPr>
              <a:t>맞춤 기술면접 질문</a:t>
            </a:r>
            <a:endParaRPr lang="en-US" sz="950" dirty="0"/>
          </a:p>
        </p:txBody>
      </p:sp>
      <p:sp>
        <p:nvSpPr>
          <p:cNvPr id="73" name="Text 70"/>
          <p:cNvSpPr txBox="1"/>
          <p:nvPr/>
        </p:nvSpPr>
        <p:spPr>
          <a:xfrm>
            <a:off x="7832750" y="5421979"/>
            <a:ext cx="274320" cy="605333"/>
          </a:xfrm>
          <a:prstGeom prst="rect">
            <a:avLst/>
          </a:prstGeom>
          <a:noFill/>
          <a:ln/>
        </p:spPr>
        <p:txBody>
          <a:bodyPr wrap="square" lIns="0" tIns="0" rIns="0" bIns="0" rtlCol="0" anchor="ctr"/>
          <a:lstStyle/>
          <a:p>
            <a:pPr algn="ctr" indent="0" marL="0">
              <a:buNone/>
            </a:pPr>
            <a:r>
              <a:rPr lang="en-US" sz="1300" dirty="0">
                <a:solidFill>
                  <a:srgbClr val="9FB0CC"/>
                </a:solidFill>
                <a:latin typeface="Malgun Gothic" pitchFamily="34" charset="0"/>
                <a:ea typeface="Malgun Gothic" pitchFamily="34" charset="-122"/>
                <a:cs typeface="Malgun Gothic" pitchFamily="34" charset="-120"/>
              </a:rPr>
              <a:t>→</a:t>
            </a:r>
            <a:endParaRPr lang="en-US" sz="1300" dirty="0"/>
          </a:p>
        </p:txBody>
      </p:sp>
      <p:sp>
        <p:nvSpPr>
          <p:cNvPr id="74" name="Shape 71"/>
          <p:cNvSpPr/>
          <p:nvPr/>
        </p:nvSpPr>
        <p:spPr>
          <a:xfrm>
            <a:off x="8108899" y="5421979"/>
            <a:ext cx="1609344" cy="605333"/>
          </a:xfrm>
          <a:prstGeom prst="roundRect">
            <a:avLst>
              <a:gd name="adj" fmla="val 9063"/>
            </a:avLst>
          </a:prstGeom>
          <a:solidFill>
            <a:srgbClr val="F2F5FA"/>
          </a:solidFill>
          <a:ln w="12700">
            <a:solidFill>
              <a:srgbClr val="F2F5FA"/>
            </a:solidFill>
            <a:prstDash val="solid"/>
          </a:ln>
        </p:spPr>
      </p:sp>
      <p:sp>
        <p:nvSpPr>
          <p:cNvPr id="75" name="Text 72"/>
          <p:cNvSpPr txBox="1"/>
          <p:nvPr/>
        </p:nvSpPr>
        <p:spPr>
          <a:xfrm>
            <a:off x="8163763" y="5421979"/>
            <a:ext cx="1499616" cy="605333"/>
          </a:xfrm>
          <a:prstGeom prst="rect">
            <a:avLst/>
          </a:prstGeom>
          <a:noFill/>
          <a:ln/>
        </p:spPr>
        <p:txBody>
          <a:bodyPr wrap="square" lIns="0" tIns="0" rIns="0" bIns="0" rtlCol="0" anchor="ctr"/>
          <a:lstStyle/>
          <a:p>
            <a:pPr algn="ctr" indent="0" marL="0">
              <a:buNone/>
            </a:pPr>
            <a:r>
              <a:rPr lang="en-US" sz="950" dirty="0">
                <a:solidFill>
                  <a:srgbClr val="45516D"/>
                </a:solidFill>
                <a:latin typeface="Malgun Gothic" pitchFamily="34" charset="0"/>
                <a:ea typeface="Malgun Gothic" pitchFamily="34" charset="-122"/>
                <a:cs typeface="Malgun Gothic" pitchFamily="34" charset="-120"/>
              </a:rPr>
              <a:t>지원자 답변 입력</a:t>
            </a:r>
            <a:endParaRPr lang="en-US" sz="950" dirty="0"/>
          </a:p>
        </p:txBody>
      </p:sp>
      <p:sp>
        <p:nvSpPr>
          <p:cNvPr id="76" name="Text 73"/>
          <p:cNvSpPr txBox="1"/>
          <p:nvPr/>
        </p:nvSpPr>
        <p:spPr>
          <a:xfrm>
            <a:off x="9718243" y="5421979"/>
            <a:ext cx="274320" cy="605333"/>
          </a:xfrm>
          <a:prstGeom prst="rect">
            <a:avLst/>
          </a:prstGeom>
          <a:noFill/>
          <a:ln/>
        </p:spPr>
        <p:txBody>
          <a:bodyPr wrap="square" lIns="0" tIns="0" rIns="0" bIns="0" rtlCol="0" anchor="ctr"/>
          <a:lstStyle/>
          <a:p>
            <a:pPr algn="ctr" indent="0" marL="0">
              <a:buNone/>
            </a:pPr>
            <a:r>
              <a:rPr lang="en-US" sz="1300" dirty="0">
                <a:solidFill>
                  <a:srgbClr val="9FB0CC"/>
                </a:solidFill>
                <a:latin typeface="Malgun Gothic" pitchFamily="34" charset="0"/>
                <a:ea typeface="Malgun Gothic" pitchFamily="34" charset="-122"/>
                <a:cs typeface="Malgun Gothic" pitchFamily="34" charset="-120"/>
              </a:rPr>
              <a:t>→</a:t>
            </a:r>
            <a:endParaRPr lang="en-US" sz="1300" dirty="0"/>
          </a:p>
        </p:txBody>
      </p:sp>
      <p:sp>
        <p:nvSpPr>
          <p:cNvPr id="77" name="Shape 74"/>
          <p:cNvSpPr/>
          <p:nvPr/>
        </p:nvSpPr>
        <p:spPr>
          <a:xfrm>
            <a:off x="9994392" y="5421979"/>
            <a:ext cx="1609344" cy="605333"/>
          </a:xfrm>
          <a:prstGeom prst="roundRect">
            <a:avLst>
              <a:gd name="adj" fmla="val 9063"/>
            </a:avLst>
          </a:prstGeom>
          <a:solidFill>
            <a:srgbClr val="F2F5FA"/>
          </a:solidFill>
          <a:ln w="12700">
            <a:solidFill>
              <a:srgbClr val="F2F5FA"/>
            </a:solidFill>
            <a:prstDash val="solid"/>
          </a:ln>
        </p:spPr>
      </p:sp>
      <p:sp>
        <p:nvSpPr>
          <p:cNvPr id="78" name="Text 75"/>
          <p:cNvSpPr txBox="1"/>
          <p:nvPr/>
        </p:nvSpPr>
        <p:spPr>
          <a:xfrm>
            <a:off x="10049256" y="5421979"/>
            <a:ext cx="1499616" cy="605333"/>
          </a:xfrm>
          <a:prstGeom prst="rect">
            <a:avLst/>
          </a:prstGeom>
          <a:noFill/>
          <a:ln/>
        </p:spPr>
        <p:txBody>
          <a:bodyPr wrap="square" lIns="0" tIns="0" rIns="0" bIns="0" rtlCol="0" anchor="ctr"/>
          <a:lstStyle/>
          <a:p>
            <a:pPr algn="ctr" indent="0" marL="0">
              <a:buNone/>
            </a:pPr>
            <a:r>
              <a:rPr lang="en-US" sz="950" dirty="0">
                <a:solidFill>
                  <a:srgbClr val="45516D"/>
                </a:solidFill>
                <a:latin typeface="Malgun Gothic" pitchFamily="34" charset="0"/>
                <a:ea typeface="Malgun Gothic" pitchFamily="34" charset="-122"/>
                <a:cs typeface="Malgun Gothic" pitchFamily="34" charset="-120"/>
              </a:rPr>
              <a:t>후속 질문 생성 및 평가</a:t>
            </a:r>
            <a:endParaRPr lang="en-US" sz="950" dirty="0"/>
          </a:p>
        </p:txBody>
      </p:sp>
      <p:sp>
        <p:nvSpPr>
          <p:cNvPr id="79" name="Text 76"/>
          <p:cNvSpPr txBox="1"/>
          <p:nvPr/>
        </p:nvSpPr>
        <p:spPr>
          <a:xfrm>
            <a:off x="566928" y="6144473"/>
            <a:ext cx="11045952" cy="292903"/>
          </a:xfrm>
          <a:prstGeom prst="rect">
            <a:avLst/>
          </a:prstGeom>
          <a:noFill/>
          <a:ln/>
        </p:spPr>
        <p:txBody>
          <a:bodyPr wrap="square" lIns="0" tIns="0" rIns="0" bIns="0" rtlCol="0" anchor="ctr"/>
          <a:lstStyle/>
          <a:p>
            <a:pPr indent="0" marL="0">
              <a:buNone/>
            </a:pPr>
            <a:r>
              <a:rPr lang="en-US" sz="1050" dirty="0">
                <a:solidFill>
                  <a:srgbClr val="64748B"/>
                </a:solidFill>
                <a:latin typeface="Malgun Gothic" pitchFamily="34" charset="0"/>
                <a:ea typeface="Malgun Gothic" pitchFamily="34" charset="-122"/>
                <a:cs typeface="Malgun Gothic" pitchFamily="34" charset="-120"/>
              </a:rPr>
              <a:t>단순 질문 생성기를 넘어, 지원자의 답변을 받아 후속 질문을 이어가는 대화형 면접관으로 확장할 수 있다.</a:t>
            </a:r>
            <a:endParaRPr lang="en-US" sz="1050" dirty="0"/>
          </a:p>
        </p:txBody>
      </p:sp>
      <p:sp>
        <p:nvSpPr>
          <p:cNvPr id="80" name="Text 77"/>
          <p:cNvSpPr txBox="1"/>
          <p:nvPr/>
        </p:nvSpPr>
        <p:spPr>
          <a:xfrm>
            <a:off x="11277295" y="6355080"/>
            <a:ext cx="457200" cy="274320"/>
          </a:xfrm>
          <a:prstGeom prst="rect">
            <a:avLst/>
          </a:prstGeom>
          <a:noFill/>
          <a:ln/>
        </p:spPr>
        <p:txBody>
          <a:bodyPr wrap="square" lIns="0" tIns="0" rIns="0" bIns="0" rtlCol="0" anchor="ctr"/>
          <a:lstStyle/>
          <a:p>
            <a:pPr algn="r" indent="0" marL="0">
              <a:buNone/>
            </a:pPr>
            <a:r>
              <a:rPr lang="en-US" sz="1000" dirty="0">
                <a:solidFill>
                  <a:srgbClr val="9AA6BC"/>
                </a:solidFill>
                <a:latin typeface="Malgun Gothic" pitchFamily="34" charset="0"/>
                <a:ea typeface="Malgun Gothic" pitchFamily="34" charset="-122"/>
                <a:cs typeface="Malgun Gothic"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1A33"/>
        </a:solidFill>
      </p:bgPr>
    </p:bg>
    <p:spTree>
      <p:nvGrpSpPr>
        <p:cNvPr id="1" name=""/>
        <p:cNvGrpSpPr/>
        <p:nvPr/>
      </p:nvGrpSpPr>
      <p:grpSpPr>
        <a:xfrm>
          <a:off x="0" y="0"/>
          <a:ext cx="0" cy="0"/>
          <a:chOff x="0" y="0"/>
          <a:chExt cx="0" cy="0"/>
        </a:xfrm>
      </p:grpSpPr>
      <p:sp>
        <p:nvSpPr>
          <p:cNvPr id="3" name="Text 0"/>
          <p:cNvSpPr txBox="1"/>
          <p:nvPr/>
        </p:nvSpPr>
        <p:spPr>
          <a:xfrm>
            <a:off x="566928" y="682732"/>
            <a:ext cx="5486400" cy="298684"/>
          </a:xfrm>
          <a:prstGeom prst="rect">
            <a:avLst/>
          </a:prstGeom>
          <a:noFill/>
          <a:ln/>
        </p:spPr>
        <p:txBody>
          <a:bodyPr wrap="square" lIns="0" tIns="0" rIns="0" bIns="0" rtlCol="0" anchor="ctr"/>
          <a:lstStyle/>
          <a:p>
            <a:pPr indent="0" marL="0">
              <a:buNone/>
            </a:pPr>
            <a:r>
              <a:rPr lang="en-US" sz="1200" b="1" spc="200" kern="0" dirty="0">
                <a:solidFill>
                  <a:srgbClr val="6FA8FF"/>
                </a:solidFill>
                <a:latin typeface="Malgun Gothic" pitchFamily="34" charset="0"/>
                <a:ea typeface="Malgun Gothic" pitchFamily="34" charset="-122"/>
                <a:cs typeface="Malgun Gothic" pitchFamily="34" charset="-120"/>
              </a:rPr>
              <a:t>CONCLUSION</a:t>
            </a:r>
            <a:endParaRPr lang="en-US" sz="1200" dirty="0"/>
          </a:p>
        </p:txBody>
      </p:sp>
      <p:sp>
        <p:nvSpPr>
          <p:cNvPr id="4" name="Text 1"/>
          <p:cNvSpPr txBox="1"/>
          <p:nvPr/>
        </p:nvSpPr>
        <p:spPr>
          <a:xfrm>
            <a:off x="566928" y="1041153"/>
            <a:ext cx="8229600" cy="557543"/>
          </a:xfrm>
          <a:prstGeom prst="rect">
            <a:avLst/>
          </a:prstGeom>
          <a:noFill/>
          <a:ln/>
        </p:spPr>
        <p:txBody>
          <a:bodyPr wrap="square" lIns="0" tIns="0" rIns="0" bIns="0" rtlCol="0" anchor="ctr"/>
          <a:lstStyle/>
          <a:p>
            <a:pPr indent="0" marL="0">
              <a:buNone/>
            </a:pPr>
            <a:r>
              <a:rPr lang="en-US" sz="3000" b="1" dirty="0">
                <a:solidFill>
                  <a:srgbClr val="FFFFFF"/>
                </a:solidFill>
                <a:latin typeface="Malgun Gothic" pitchFamily="34" charset="0"/>
                <a:ea typeface="Malgun Gothic" pitchFamily="34" charset="-122"/>
                <a:cs typeface="Malgun Gothic" pitchFamily="34" charset="-120"/>
              </a:rPr>
              <a:t>제한된 GPU에서 무엇을 선택할 것인가</a:t>
            </a:r>
            <a:endParaRPr lang="en-US" sz="3000" dirty="0"/>
          </a:p>
        </p:txBody>
      </p:sp>
      <p:sp>
        <p:nvSpPr>
          <p:cNvPr id="5" name="Shape 2"/>
          <p:cNvSpPr/>
          <p:nvPr/>
        </p:nvSpPr>
        <p:spPr>
          <a:xfrm>
            <a:off x="566928" y="1897380"/>
            <a:ext cx="7461504" cy="1095174"/>
          </a:xfrm>
          <a:prstGeom prst="roundRect">
            <a:avLst>
              <a:gd name="adj" fmla="val 5010"/>
            </a:avLst>
          </a:prstGeom>
          <a:solidFill>
            <a:srgbClr val="16233F"/>
          </a:solidFill>
          <a:ln w="12700">
            <a:solidFill>
              <a:srgbClr val="24355C"/>
            </a:solidFill>
            <a:prstDash val="solid"/>
          </a:ln>
        </p:spPr>
      </p:sp>
      <p:sp>
        <p:nvSpPr>
          <p:cNvPr id="6" name="Text 3"/>
          <p:cNvSpPr txBox="1"/>
          <p:nvPr/>
        </p:nvSpPr>
        <p:spPr>
          <a:xfrm>
            <a:off x="786384" y="2036766"/>
            <a:ext cx="457200" cy="298684"/>
          </a:xfrm>
          <a:prstGeom prst="rect">
            <a:avLst/>
          </a:prstGeom>
          <a:noFill/>
          <a:ln/>
        </p:spPr>
        <p:txBody>
          <a:bodyPr wrap="square" lIns="0" tIns="0" rIns="0" bIns="0" rtlCol="0" anchor="ctr"/>
          <a:lstStyle/>
          <a:p>
            <a:pPr indent="0" marL="0">
              <a:buNone/>
            </a:pPr>
            <a:r>
              <a:rPr lang="en-US" sz="1200" b="1" dirty="0">
                <a:solidFill>
                  <a:srgbClr val="6FA8FF"/>
                </a:solidFill>
                <a:latin typeface="Courier New" pitchFamily="34" charset="0"/>
                <a:ea typeface="Courier New" pitchFamily="34" charset="-122"/>
                <a:cs typeface="Courier New" pitchFamily="34" charset="-120"/>
              </a:rPr>
              <a:t>01</a:t>
            </a:r>
            <a:endParaRPr lang="en-US" sz="1200" dirty="0"/>
          </a:p>
        </p:txBody>
      </p:sp>
      <p:sp>
        <p:nvSpPr>
          <p:cNvPr id="7" name="Text 4"/>
          <p:cNvSpPr txBox="1"/>
          <p:nvPr/>
        </p:nvSpPr>
        <p:spPr>
          <a:xfrm>
            <a:off x="1316736" y="2016854"/>
            <a:ext cx="4023360" cy="318596"/>
          </a:xfrm>
          <a:prstGeom prst="rect">
            <a:avLst/>
          </a:prstGeom>
          <a:noFill/>
          <a:ln/>
        </p:spPr>
        <p:txBody>
          <a:bodyPr wrap="square" lIns="0" tIns="0" rIns="0" bIns="0" rtlCol="0" anchor="ct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Parameter-Efficient Fine-Tuning</a:t>
            </a:r>
            <a:endParaRPr lang="en-US" sz="1400" dirty="0"/>
          </a:p>
        </p:txBody>
      </p:sp>
      <p:sp>
        <p:nvSpPr>
          <p:cNvPr id="8" name="Text 5"/>
          <p:cNvSpPr txBox="1"/>
          <p:nvPr/>
        </p:nvSpPr>
        <p:spPr>
          <a:xfrm>
            <a:off x="5413248" y="2016854"/>
            <a:ext cx="2395728" cy="318596"/>
          </a:xfrm>
          <a:prstGeom prst="rect">
            <a:avLst/>
          </a:prstGeom>
          <a:noFill/>
          <a:ln/>
        </p:spPr>
        <p:txBody>
          <a:bodyPr wrap="square" lIns="0" tIns="0" rIns="0" bIns="0" rtlCol="0" anchor="ctr"/>
          <a:lstStyle/>
          <a:p>
            <a:pPr algn="r" indent="0" marL="0">
              <a:buNone/>
            </a:pPr>
            <a:r>
              <a:rPr lang="en-US" sz="1400" b="1" dirty="0">
                <a:solidFill>
                  <a:srgbClr val="9FC3FF"/>
                </a:solidFill>
                <a:latin typeface="Courier New" pitchFamily="34" charset="0"/>
                <a:ea typeface="Courier New" pitchFamily="34" charset="-122"/>
                <a:cs typeface="Courier New" pitchFamily="34" charset="-120"/>
              </a:rPr>
              <a:t>17,432,576</a:t>
            </a:r>
            <a:endParaRPr lang="en-US" sz="1400" dirty="0"/>
          </a:p>
        </p:txBody>
      </p:sp>
      <p:sp>
        <p:nvSpPr>
          <p:cNvPr id="9" name="Text 6"/>
          <p:cNvSpPr txBox="1"/>
          <p:nvPr/>
        </p:nvSpPr>
        <p:spPr>
          <a:xfrm>
            <a:off x="1316736" y="2375274"/>
            <a:ext cx="6492240" cy="517719"/>
          </a:xfrm>
          <a:prstGeom prst="rect">
            <a:avLst/>
          </a:prstGeom>
          <a:noFill/>
          <a:ln/>
        </p:spPr>
        <p:txBody>
          <a:bodyPr wrap="square" lIns="0" tIns="0" rIns="0" bIns="0" rtlCol="0" anchor="ctr"/>
          <a:lstStyle/>
          <a:p>
            <a:pPr indent="0" marL="0">
              <a:lnSpc>
                <a:spcPts val="1500"/>
              </a:lnSpc>
              <a:buNone/>
            </a:pPr>
            <a:r>
              <a:rPr lang="en-US" sz="1050" dirty="0">
                <a:solidFill>
                  <a:srgbClr val="A9B7D0"/>
                </a:solidFill>
                <a:latin typeface="Malgun Gothic" pitchFamily="34" charset="0"/>
                <a:ea typeface="Malgun Gothic" pitchFamily="34" charset="-122"/>
                <a:cs typeface="Malgun Gothic" pitchFamily="34" charset="-120"/>
              </a:rPr>
              <a:t>Qwen3-1.7B 전체 Weight를 업데이트하지 않고 약 17.4M개의 Adapter Parameter만 학습해, 31개 데이터로도 출력 형식과 간결성을 교정할 수 있었다.</a:t>
            </a:r>
            <a:endParaRPr lang="en-US" sz="1050" dirty="0"/>
          </a:p>
        </p:txBody>
      </p:sp>
      <p:sp>
        <p:nvSpPr>
          <p:cNvPr id="10" name="Shape 7"/>
          <p:cNvSpPr/>
          <p:nvPr/>
        </p:nvSpPr>
        <p:spPr>
          <a:xfrm>
            <a:off x="566928" y="3131940"/>
            <a:ext cx="7461504" cy="1095174"/>
          </a:xfrm>
          <a:prstGeom prst="roundRect">
            <a:avLst>
              <a:gd name="adj" fmla="val 5010"/>
            </a:avLst>
          </a:prstGeom>
          <a:solidFill>
            <a:srgbClr val="16233F"/>
          </a:solidFill>
          <a:ln w="12700">
            <a:solidFill>
              <a:srgbClr val="24355C"/>
            </a:solidFill>
            <a:prstDash val="solid"/>
          </a:ln>
        </p:spPr>
      </p:sp>
      <p:sp>
        <p:nvSpPr>
          <p:cNvPr id="11" name="Text 8"/>
          <p:cNvSpPr txBox="1"/>
          <p:nvPr/>
        </p:nvSpPr>
        <p:spPr>
          <a:xfrm>
            <a:off x="786384" y="3271326"/>
            <a:ext cx="457200" cy="298684"/>
          </a:xfrm>
          <a:prstGeom prst="rect">
            <a:avLst/>
          </a:prstGeom>
          <a:noFill/>
          <a:ln/>
        </p:spPr>
        <p:txBody>
          <a:bodyPr wrap="square" lIns="0" tIns="0" rIns="0" bIns="0" rtlCol="0" anchor="ctr"/>
          <a:lstStyle/>
          <a:p>
            <a:pPr indent="0" marL="0">
              <a:buNone/>
            </a:pPr>
            <a:r>
              <a:rPr lang="en-US" sz="1200" b="1" dirty="0">
                <a:solidFill>
                  <a:srgbClr val="6FA8FF"/>
                </a:solidFill>
                <a:latin typeface="Courier New" pitchFamily="34" charset="0"/>
                <a:ea typeface="Courier New" pitchFamily="34" charset="-122"/>
                <a:cs typeface="Courier New" pitchFamily="34" charset="-120"/>
              </a:rPr>
              <a:t>02</a:t>
            </a:r>
            <a:endParaRPr lang="en-US" sz="1200" dirty="0"/>
          </a:p>
        </p:txBody>
      </p:sp>
      <p:sp>
        <p:nvSpPr>
          <p:cNvPr id="12" name="Text 9"/>
          <p:cNvSpPr txBox="1"/>
          <p:nvPr/>
        </p:nvSpPr>
        <p:spPr>
          <a:xfrm>
            <a:off x="1316736" y="3251414"/>
            <a:ext cx="4023360" cy="318596"/>
          </a:xfrm>
          <a:prstGeom prst="rect">
            <a:avLst/>
          </a:prstGeom>
          <a:noFill/>
          <a:ln/>
        </p:spPr>
        <p:txBody>
          <a:bodyPr wrap="square" lIns="0" tIns="0" rIns="0" bIns="0" rtlCol="0" anchor="ct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QLoRA의 Memory Efficiency</a:t>
            </a:r>
            <a:endParaRPr lang="en-US" sz="1400" dirty="0"/>
          </a:p>
        </p:txBody>
      </p:sp>
      <p:sp>
        <p:nvSpPr>
          <p:cNvPr id="13" name="Text 10"/>
          <p:cNvSpPr txBox="1"/>
          <p:nvPr/>
        </p:nvSpPr>
        <p:spPr>
          <a:xfrm>
            <a:off x="5413248" y="3251414"/>
            <a:ext cx="2395728" cy="318596"/>
          </a:xfrm>
          <a:prstGeom prst="rect">
            <a:avLst/>
          </a:prstGeom>
          <a:noFill/>
          <a:ln/>
        </p:spPr>
        <p:txBody>
          <a:bodyPr wrap="square" lIns="0" tIns="0" rIns="0" bIns="0" rtlCol="0" anchor="ctr"/>
          <a:lstStyle/>
          <a:p>
            <a:pPr algn="r" indent="0" marL="0">
              <a:buNone/>
            </a:pPr>
            <a:r>
              <a:rPr lang="en-US" sz="1400" b="1" dirty="0">
                <a:solidFill>
                  <a:srgbClr val="9FC3FF"/>
                </a:solidFill>
                <a:latin typeface="Courier New" pitchFamily="34" charset="0"/>
                <a:ea typeface="Courier New" pitchFamily="34" charset="-122"/>
                <a:cs typeface="Courier New" pitchFamily="34" charset="-120"/>
              </a:rPr>
              <a:t>3.83GB → 1.91GB</a:t>
            </a:r>
            <a:endParaRPr lang="en-US" sz="1400" dirty="0"/>
          </a:p>
        </p:txBody>
      </p:sp>
      <p:sp>
        <p:nvSpPr>
          <p:cNvPr id="14" name="Text 11"/>
          <p:cNvSpPr txBox="1"/>
          <p:nvPr/>
        </p:nvSpPr>
        <p:spPr>
          <a:xfrm>
            <a:off x="1316736" y="3609835"/>
            <a:ext cx="6492240" cy="517719"/>
          </a:xfrm>
          <a:prstGeom prst="rect">
            <a:avLst/>
          </a:prstGeom>
          <a:noFill/>
          <a:ln/>
        </p:spPr>
        <p:txBody>
          <a:bodyPr wrap="square" lIns="0" tIns="0" rIns="0" bIns="0" rtlCol="0" anchor="ctr"/>
          <a:lstStyle/>
          <a:p>
            <a:pPr indent="0" marL="0">
              <a:lnSpc>
                <a:spcPts val="1500"/>
              </a:lnSpc>
              <a:buNone/>
            </a:pPr>
            <a:r>
              <a:rPr lang="en-US" sz="1050" dirty="0">
                <a:solidFill>
                  <a:srgbClr val="A9B7D0"/>
                </a:solidFill>
                <a:latin typeface="Malgun Gothic" pitchFamily="34" charset="0"/>
                <a:ea typeface="Malgun Gothic" pitchFamily="34" charset="-122"/>
                <a:cs typeface="Malgun Gothic" pitchFamily="34" charset="-120"/>
              </a:rPr>
              <a:t>Base Model을 NF4 4bit로 양자화해 Peak Allocated VRAM을 3.83GB에서 1.91GB 수준으로 줄였다. Model Load VRAM 기준으로는 약 61% 감소했다.</a:t>
            </a:r>
            <a:endParaRPr lang="en-US" sz="1050" dirty="0"/>
          </a:p>
        </p:txBody>
      </p:sp>
      <p:sp>
        <p:nvSpPr>
          <p:cNvPr id="15" name="Shape 12"/>
          <p:cNvSpPr/>
          <p:nvPr/>
        </p:nvSpPr>
        <p:spPr>
          <a:xfrm>
            <a:off x="566928" y="4366501"/>
            <a:ext cx="7461504" cy="1095174"/>
          </a:xfrm>
          <a:prstGeom prst="roundRect">
            <a:avLst>
              <a:gd name="adj" fmla="val 5010"/>
            </a:avLst>
          </a:prstGeom>
          <a:solidFill>
            <a:srgbClr val="16233F"/>
          </a:solidFill>
          <a:ln w="12700">
            <a:solidFill>
              <a:srgbClr val="24355C"/>
            </a:solidFill>
            <a:prstDash val="solid"/>
          </a:ln>
        </p:spPr>
      </p:sp>
      <p:sp>
        <p:nvSpPr>
          <p:cNvPr id="16" name="Text 13"/>
          <p:cNvSpPr txBox="1"/>
          <p:nvPr/>
        </p:nvSpPr>
        <p:spPr>
          <a:xfrm>
            <a:off x="786384" y="4505886"/>
            <a:ext cx="457200" cy="298684"/>
          </a:xfrm>
          <a:prstGeom prst="rect">
            <a:avLst/>
          </a:prstGeom>
          <a:noFill/>
          <a:ln/>
        </p:spPr>
        <p:txBody>
          <a:bodyPr wrap="square" lIns="0" tIns="0" rIns="0" bIns="0" rtlCol="0" anchor="ctr"/>
          <a:lstStyle/>
          <a:p>
            <a:pPr indent="0" marL="0">
              <a:buNone/>
            </a:pPr>
            <a:r>
              <a:rPr lang="en-US" sz="1200" b="1" dirty="0">
                <a:solidFill>
                  <a:srgbClr val="6FA8FF"/>
                </a:solidFill>
                <a:latin typeface="Courier New" pitchFamily="34" charset="0"/>
                <a:ea typeface="Courier New" pitchFamily="34" charset="-122"/>
                <a:cs typeface="Courier New" pitchFamily="34" charset="-120"/>
              </a:rPr>
              <a:t>03</a:t>
            </a:r>
            <a:endParaRPr lang="en-US" sz="1200" dirty="0"/>
          </a:p>
        </p:txBody>
      </p:sp>
      <p:sp>
        <p:nvSpPr>
          <p:cNvPr id="17" name="Text 14"/>
          <p:cNvSpPr txBox="1"/>
          <p:nvPr/>
        </p:nvSpPr>
        <p:spPr>
          <a:xfrm>
            <a:off x="1316736" y="4485974"/>
            <a:ext cx="4023360" cy="318596"/>
          </a:xfrm>
          <a:prstGeom prst="rect">
            <a:avLst/>
          </a:prstGeom>
          <a:noFill/>
          <a:ln/>
        </p:spPr>
        <p:txBody>
          <a:bodyPr wrap="square" lIns="0" tIns="0" rIns="0" bIns="0" rtlCol="0" anchor="ct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Trade-off</a:t>
            </a:r>
            <a:endParaRPr lang="en-US" sz="1400" dirty="0"/>
          </a:p>
        </p:txBody>
      </p:sp>
      <p:sp>
        <p:nvSpPr>
          <p:cNvPr id="18" name="Text 15"/>
          <p:cNvSpPr txBox="1"/>
          <p:nvPr/>
        </p:nvSpPr>
        <p:spPr>
          <a:xfrm>
            <a:off x="5413248" y="4485974"/>
            <a:ext cx="2395728" cy="318596"/>
          </a:xfrm>
          <a:prstGeom prst="rect">
            <a:avLst/>
          </a:prstGeom>
          <a:noFill/>
          <a:ln/>
        </p:spPr>
        <p:txBody>
          <a:bodyPr wrap="square" lIns="0" tIns="0" rIns="0" bIns="0" rtlCol="0" anchor="ctr"/>
          <a:lstStyle/>
          <a:p>
            <a:pPr algn="r" indent="0" marL="0">
              <a:buNone/>
            </a:pPr>
            <a:r>
              <a:rPr lang="en-US" sz="1400" b="1" dirty="0">
                <a:solidFill>
                  <a:srgbClr val="F0B96A"/>
                </a:solidFill>
                <a:latin typeface="Courier New" pitchFamily="34" charset="0"/>
                <a:ea typeface="Courier New" pitchFamily="34" charset="-122"/>
                <a:cs typeface="Courier New" pitchFamily="34" charset="-120"/>
              </a:rPr>
              <a:t>약 34% 증가</a:t>
            </a:r>
            <a:endParaRPr lang="en-US" sz="1400" dirty="0"/>
          </a:p>
        </p:txBody>
      </p:sp>
      <p:sp>
        <p:nvSpPr>
          <p:cNvPr id="19" name="Text 16"/>
          <p:cNvSpPr txBox="1"/>
          <p:nvPr/>
        </p:nvSpPr>
        <p:spPr>
          <a:xfrm>
            <a:off x="1316736" y="4844395"/>
            <a:ext cx="6492240" cy="517719"/>
          </a:xfrm>
          <a:prstGeom prst="rect">
            <a:avLst/>
          </a:prstGeom>
          <a:noFill/>
          <a:ln/>
        </p:spPr>
        <p:txBody>
          <a:bodyPr wrap="square" lIns="0" tIns="0" rIns="0" bIns="0" rtlCol="0" anchor="ctr"/>
          <a:lstStyle/>
          <a:p>
            <a:pPr indent="0" marL="0">
              <a:lnSpc>
                <a:spcPts val="1500"/>
              </a:lnSpc>
              <a:buNone/>
            </a:pPr>
            <a:r>
              <a:rPr lang="en-US" sz="1050" dirty="0">
                <a:solidFill>
                  <a:srgbClr val="A9B7D0"/>
                </a:solidFill>
                <a:latin typeface="Malgun Gothic" pitchFamily="34" charset="0"/>
                <a:ea typeface="Malgun Gothic" pitchFamily="34" charset="-122"/>
                <a:cs typeface="Malgun Gothic" pitchFamily="34" charset="-120"/>
              </a:rPr>
              <a:t>같은 환경에서 실측 학습 시간은 242.6초에서 325.6초로 약 34% 증가했다. Memory와 연산 비용은 함께 개선되지 않았다.</a:t>
            </a:r>
            <a:endParaRPr lang="en-US" sz="1050" dirty="0"/>
          </a:p>
        </p:txBody>
      </p:sp>
      <p:sp>
        <p:nvSpPr>
          <p:cNvPr id="20" name="Shape 17"/>
          <p:cNvSpPr/>
          <p:nvPr/>
        </p:nvSpPr>
        <p:spPr>
          <a:xfrm>
            <a:off x="8357616" y="1897380"/>
            <a:ext cx="3255264" cy="3404997"/>
          </a:xfrm>
          <a:prstGeom prst="roundRect">
            <a:avLst>
              <a:gd name="adj" fmla="val 1685"/>
            </a:avLst>
          </a:prstGeom>
          <a:solidFill>
            <a:srgbClr val="1D2E52"/>
          </a:solidFill>
          <a:ln w="12700">
            <a:solidFill>
              <a:srgbClr val="2C4270"/>
            </a:solidFill>
            <a:prstDash val="solid"/>
          </a:ln>
        </p:spPr>
      </p:sp>
      <p:sp>
        <p:nvSpPr>
          <p:cNvPr id="21" name="Text 18"/>
          <p:cNvSpPr txBox="1"/>
          <p:nvPr/>
        </p:nvSpPr>
        <p:spPr>
          <a:xfrm>
            <a:off x="8577072" y="2076590"/>
            <a:ext cx="2834640" cy="278772"/>
          </a:xfrm>
          <a:prstGeom prst="rect">
            <a:avLst/>
          </a:prstGeom>
          <a:noFill/>
          <a:ln/>
        </p:spPr>
        <p:txBody>
          <a:bodyPr wrap="square" lIns="0" tIns="0" rIns="0" bIns="0" rtlCol="0" anchor="ctr"/>
          <a:lstStyle/>
          <a:p>
            <a:pPr indent="0" marL="0">
              <a:buNone/>
            </a:pPr>
            <a:r>
              <a:rPr lang="en-US" sz="1050" b="1" spc="100" kern="0" dirty="0">
                <a:solidFill>
                  <a:srgbClr val="6FA8FF"/>
                </a:solidFill>
                <a:latin typeface="Malgun Gothic" pitchFamily="34" charset="0"/>
                <a:ea typeface="Malgun Gothic" pitchFamily="34" charset="-122"/>
                <a:cs typeface="Malgun Gothic" pitchFamily="34" charset="-120"/>
              </a:rPr>
              <a:t>최종 메시지</a:t>
            </a:r>
            <a:endParaRPr lang="en-US" sz="1050" dirty="0"/>
          </a:p>
        </p:txBody>
      </p:sp>
      <p:sp>
        <p:nvSpPr>
          <p:cNvPr id="22" name="Text 19"/>
          <p:cNvSpPr txBox="1"/>
          <p:nvPr/>
        </p:nvSpPr>
        <p:spPr>
          <a:xfrm>
            <a:off x="8577072" y="2435011"/>
            <a:ext cx="2852928" cy="1413771"/>
          </a:xfrm>
          <a:prstGeom prst="rect">
            <a:avLst/>
          </a:prstGeom>
          <a:noFill/>
          <a:ln/>
        </p:spPr>
        <p:txBody>
          <a:bodyPr wrap="square" lIns="0" tIns="0" rIns="0" bIns="0" rtlCol="0" anchor="ctr"/>
          <a:lstStyle/>
          <a:p>
            <a:pPr indent="0" marL="0">
              <a:lnSpc>
                <a:spcPts val="2100"/>
              </a:lnSpc>
              <a:buNone/>
            </a:pPr>
            <a:r>
              <a:rPr lang="en-US" sz="1300" b="1" dirty="0">
                <a:solidFill>
                  <a:srgbClr val="FFFFFF"/>
                </a:solidFill>
                <a:latin typeface="Malgun Gothic" pitchFamily="34" charset="0"/>
                <a:ea typeface="Malgun Gothic" pitchFamily="34" charset="-122"/>
                <a:cs typeface="Malgun Gothic" pitchFamily="34" charset="-120"/>
              </a:rPr>
              <a:t>LoRA와 QLoRA는 동일한 Adapter Fine-Tuning 구조를 사용하지만, Base Model Quantization 여부에 따라 GPU Memory와 연산 비용의 trade-off가 발생했다.</a:t>
            </a:r>
            <a:endParaRPr lang="en-US" sz="1300" dirty="0"/>
          </a:p>
        </p:txBody>
      </p:sp>
      <p:sp>
        <p:nvSpPr>
          <p:cNvPr id="23" name="Text 20"/>
          <p:cNvSpPr txBox="1"/>
          <p:nvPr/>
        </p:nvSpPr>
        <p:spPr>
          <a:xfrm>
            <a:off x="8577072" y="3928431"/>
            <a:ext cx="2852928" cy="1214648"/>
          </a:xfrm>
          <a:prstGeom prst="rect">
            <a:avLst/>
          </a:prstGeom>
          <a:noFill/>
          <a:ln/>
        </p:spPr>
        <p:txBody>
          <a:bodyPr wrap="square" lIns="0" tIns="0" rIns="0" bIns="0" rtlCol="0" anchor="ctr"/>
          <a:lstStyle/>
          <a:p>
            <a:pPr indent="0" marL="0">
              <a:lnSpc>
                <a:spcPts val="1700"/>
              </a:lnSpc>
              <a:buNone/>
            </a:pPr>
            <a:r>
              <a:rPr lang="en-US" sz="1100" dirty="0">
                <a:solidFill>
                  <a:srgbClr val="A9B7D0"/>
                </a:solidFill>
                <a:latin typeface="Malgun Gothic" pitchFamily="34" charset="0"/>
                <a:ea typeface="Malgun Gothic" pitchFamily="34" charset="-122"/>
                <a:cs typeface="Malgun Gothic" pitchFamily="34" charset="-120"/>
              </a:rPr>
              <a:t>GPU Memory가 충분한 환경에서는 LoRA가 단순하고 빠른 선택이 될 수 있으며, 제한된 VRAM에서 더 큰 모델을 Fine-Tuning해야 할 경우 QLoRA의 장점이 커질 수 있다.</a:t>
            </a:r>
            <a:endParaRPr lang="en-US" sz="1100" dirty="0"/>
          </a:p>
        </p:txBody>
      </p:sp>
      <p:sp>
        <p:nvSpPr>
          <p:cNvPr id="24" name="Shape 21"/>
          <p:cNvSpPr/>
          <p:nvPr/>
        </p:nvSpPr>
        <p:spPr>
          <a:xfrm>
            <a:off x="566928" y="5660798"/>
            <a:ext cx="11045952" cy="776578"/>
          </a:xfrm>
          <a:prstGeom prst="roundRect">
            <a:avLst>
              <a:gd name="adj" fmla="val 7065"/>
            </a:avLst>
          </a:prstGeom>
          <a:solidFill>
            <a:srgbClr val="16233F"/>
          </a:solidFill>
          <a:ln w="12700">
            <a:solidFill>
              <a:srgbClr val="24355C"/>
            </a:solidFill>
            <a:prstDash val="solid"/>
          </a:ln>
        </p:spPr>
      </p:sp>
      <p:sp>
        <p:nvSpPr>
          <p:cNvPr id="25" name="Text 22"/>
          <p:cNvSpPr txBox="1"/>
          <p:nvPr/>
        </p:nvSpPr>
        <p:spPr>
          <a:xfrm>
            <a:off x="804672" y="5660798"/>
            <a:ext cx="1097280" cy="776578"/>
          </a:xfrm>
          <a:prstGeom prst="rect">
            <a:avLst/>
          </a:prstGeom>
          <a:noFill/>
          <a:ln/>
        </p:spPr>
        <p:txBody>
          <a:bodyPr wrap="square" lIns="0" tIns="0" rIns="0" bIns="0" rtlCol="0" anchor="ctr"/>
          <a:lstStyle/>
          <a:p>
            <a:pPr indent="0" marL="0">
              <a:buNone/>
            </a:pPr>
            <a:r>
              <a:rPr lang="en-US" sz="1050" b="1" dirty="0">
                <a:solidFill>
                  <a:srgbClr val="F0B96A"/>
                </a:solidFill>
                <a:latin typeface="Malgun Gothic" pitchFamily="34" charset="0"/>
                <a:ea typeface="Malgun Gothic" pitchFamily="34" charset="-122"/>
                <a:cs typeface="Malgun Gothic" pitchFamily="34" charset="-120"/>
              </a:rPr>
              <a:t>적용 범위</a:t>
            </a:r>
            <a:endParaRPr lang="en-US" sz="1050" dirty="0"/>
          </a:p>
        </p:txBody>
      </p:sp>
      <p:sp>
        <p:nvSpPr>
          <p:cNvPr id="26" name="Text 23"/>
          <p:cNvSpPr txBox="1"/>
          <p:nvPr/>
        </p:nvSpPr>
        <p:spPr>
          <a:xfrm>
            <a:off x="2029968" y="5660798"/>
            <a:ext cx="9418320" cy="776578"/>
          </a:xfrm>
          <a:prstGeom prst="rect">
            <a:avLst/>
          </a:prstGeom>
          <a:noFill/>
          <a:ln/>
        </p:spPr>
        <p:txBody>
          <a:bodyPr wrap="square" lIns="0" tIns="0" rIns="0" bIns="0" rtlCol="0" anchor="ctr"/>
          <a:lstStyle/>
          <a:p>
            <a:pPr indent="0" marL="0">
              <a:lnSpc>
                <a:spcPts val="1500"/>
              </a:lnSpc>
              <a:buNone/>
            </a:pPr>
            <a:r>
              <a:rPr lang="en-US" sz="1050" dirty="0">
                <a:solidFill>
                  <a:srgbClr val="9BADCC"/>
                </a:solidFill>
                <a:latin typeface="Malgun Gothic" pitchFamily="34" charset="0"/>
                <a:ea typeface="Malgun Gothic" pitchFamily="34" charset="-122"/>
                <a:cs typeface="Malgun Gothic" pitchFamily="34" charset="-120"/>
              </a:rPr>
              <a:t>이 결론은 Qwen3-1.7B · 31 samples · 80 steps · RTX 4060 Laptop 8GB라는 단일 조건의 측정 결과다. 모델 규모, 시퀀스 길이, GPU 아키텍처가 달라지면 시간 페널티와 메모리 이득의 비율도 달라지므로, 일반적인 모든 환경에서 어느 한쪽이 우수하다고 단정하지 않는다.</a:t>
            </a:r>
            <a:endParaRPr lang="en-US" sz="1050" dirty="0"/>
          </a:p>
        </p:txBody>
      </p:sp>
      <p:sp>
        <p:nvSpPr>
          <p:cNvPr id="27" name="Text 24"/>
          <p:cNvSpPr txBox="1"/>
          <p:nvPr/>
        </p:nvSpPr>
        <p:spPr>
          <a:xfrm>
            <a:off x="11277295" y="6355080"/>
            <a:ext cx="457200" cy="274320"/>
          </a:xfrm>
          <a:prstGeom prst="rect">
            <a:avLst/>
          </a:prstGeom>
          <a:noFill/>
          <a:ln/>
        </p:spPr>
        <p:txBody>
          <a:bodyPr wrap="square" lIns="0" tIns="0" rIns="0" bIns="0" rtlCol="0" anchor="ctr"/>
          <a:lstStyle/>
          <a:p>
            <a:pPr algn="r" indent="0" marL="0">
              <a:buNone/>
            </a:pPr>
            <a:r>
              <a:rPr lang="en-US" sz="1000" dirty="0">
                <a:solidFill>
                  <a:srgbClr val="4C5D7D"/>
                </a:solidFill>
                <a:latin typeface="Malgun Gothic" pitchFamily="34" charset="0"/>
                <a:ea typeface="Malgun Gothic" pitchFamily="34" charset="-122"/>
                <a:cs typeface="Malgun Gothic" pitchFamily="34" charset="-120"/>
              </a:rPr>
              <a:t>15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LoRA vs QLoRA — AI 기술면접 질문 생성기 Fine-Tuning 비교 실험</dc:title>
  <dc:subject>PptxGenJS Presentation</dc:subject>
  <dc:creator>AI/ML Project</dc:creator>
  <cp:lastModifiedBy>AI/ML Project</cp:lastModifiedBy>
  <cp:revision>1</cp:revision>
  <dcterms:created xsi:type="dcterms:W3CDTF">2026-09-15T06:52:36Z</dcterms:created>
  <dcterms:modified xsi:type="dcterms:W3CDTF">2026-09-15T06:52:36Z</dcterms:modified>
</cp:coreProperties>
</file>